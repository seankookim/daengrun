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E6B5E"/>
                </a:solidFill>
                <a:latin typeface="Noto Sans KR"/>
              </a:defRPr>
            </a:pPr>
            <a:r>
              <a:rPr sz="1100" b="0" i="0" u="none" strike="noStrike">
                <a:solidFill>
                  <a:srgbClr val="6E6B5E"/>
                </a:solidFill>
                <a:latin typeface="Noto Sans KR"/>
              </a:rPr>
              <a:t>국내 반려동물 시장 규모 (조원)</a:t>
            </a:r>
          </a:p>
        </c:rich>
      </c:tx>
      <c:layout/>
      <c:overlay val="0"/>
    </c:title>
    <c:autoTitleDeleted val="0"/>
    <c:plotArea>
      <c:layout/>
      <c:barChart>
        <c:barDir val="col"/>
        <c:grouping val="clustered"/>
        <c:varyColors val="0"/>
        <c:ser>
          <c:idx val="0"/>
          <c:order val="0"/>
          <c:tx>
            <c:strRef>
              <c:f>Sheet1!$B$1</c:f>
              <c:strCache>
                <c:ptCount val="1"/>
                <c:pt idx="0">
                  <c:v>국내 반려동물 시장 규모 (조원)</c:v>
                </c:pt>
              </c:strCache>
            </c:strRef>
          </c:tx>
          <c:spPr>
            <a:solidFill>
              <a:srgbClr val="0F1D13"/>
            </a:solidFill>
            <a:effectLst/>
          </c:spPr>
          <c:invertIfNegative val="0"/>
          <c:dLbls>
            <c:numFmt formatCode="#,##0.0&quot;조&quot;" sourceLinked="0"/>
            <c:txPr>
              <a:bodyPr/>
              <a:lstStyle/>
              <a:p>
                <a:pPr>
                  <a:defRPr b="0" i="0" strike="noStrike" sz="1300" u="none">
                    <a:solidFill>
                      <a:srgbClr val="16211A"/>
                    </a:solidFill>
                    <a:latin typeface="Noto Sans KR"/>
                  </a:defRPr>
                </a:pPr>
              </a:p>
            </c:txPr>
            <c:showLegendKey val="0"/>
            <c:showVal val="1"/>
            <c:showCatName val="0"/>
            <c:showSerName val="0"/>
            <c:showPercent val="0"/>
            <c:showBubbleSize val="0"/>
            <c:showLeaderLines val="0"/>
          </c:dLbls>
          <c:dPt>
            <c:idx val="0"/>
            <c:invertIfNegative val="0"/>
            <c:bubble3D val="0"/>
            <c:spPr>
              <a:solidFill>
                <a:srgbClr val="0F1D13"/>
              </a:solidFill>
              <a:effectLst/>
            </c:spPr>
          </c:dPt>
          <c:dPt>
            <c:idx val="1"/>
            <c:invertIfNegative val="0"/>
            <c:bubble3D val="0"/>
            <c:spPr>
              <a:solidFill>
                <a:srgbClr val="C6F542"/>
              </a:solidFill>
              <a:effectLst/>
            </c:spPr>
          </c:dPt>
          <c:cat>
            <c:multiLvlStrRef>
              <c:f>Sheet1!$A$2:$A$3</c:f>
              <c:multiLvlStrCache>
                <c:ptCount val="2"/>
                <c:lvl>
                  <c:pt idx="0">
                    <c:v>2022</c:v>
                  </c:pt>
                  <c:pt idx="1">
                    <c:v>2032E</c:v>
                  </c:pt>
                </c:lvl>
              </c:multiLvlStrCache>
            </c:multiLvlStrRef>
          </c:cat>
          <c:val>
            <c:numRef>
              <c:f>Sheet1!$B$2:$B$3</c:f>
              <c:numCache>
                <c:formatCode>General</c:formatCode>
                <c:ptCount val="2"/>
                <c:pt idx="0">
                  <c:v>8.5</c:v>
                </c:pt>
                <c:pt idx="1">
                  <c:v>21</c:v>
                </c:pt>
              </c:numCache>
            </c:numRef>
          </c:val>
        </c:ser>
        <c:dLbls>
          <c:numFmt formatCode="#,##0.0&quot;조&quot;" sourceLinked="0"/>
          <c:txPr>
            <a:bodyPr/>
            <a:lstStyle/>
            <a:p>
              <a:pPr>
                <a:defRPr b="0" i="0" strike="noStrike" sz="1300" u="none">
                  <a:solidFill>
                    <a:srgbClr val="16211A"/>
                  </a:solidFill>
                  <a:latin typeface="Noto Sans KR"/>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B5E"/>
                </a:solidFill>
                <a:latin typeface="Noto Sans KR"/>
              </a:defRPr>
            </a:pPr>
            <a:endParaRPr lang="en-US"/>
          </a:p>
        </c:txPr>
        <c:crossAx val="2094734552"/>
        <c:crosses val="autoZero"/>
        <c:auto val="1"/>
        <c:lblAlgn val="ctr"/>
        <c:noMultiLvlLbl val="1"/>
      </c:catAx>
      <c:valAx>
        <c:axId val="2094734552"/>
        <c:scaling>
          <c:orientation val="minMax"/>
          <c:max val="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8F6F0"/>
        </a:solidFill>
        <a:ln>
          <a:noFill/>
        </a:ln>
        <a:effectLst/>
      </c:spPr>
    </c:plotArea>
    <c:plotVisOnly val="1"/>
    <c:dispBlanksAs val="span"/>
  </c:chart>
  <c:spPr>
    <a:solidFill>
      <a:srgbClr val="F8F6F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E6B5E"/>
                </a:solidFill>
                <a:latin typeface="Noto Sans KR"/>
              </a:defRPr>
            </a:pPr>
            <a:r>
              <a:rPr sz="1100" b="0" i="0" u="none" strike="noStrike">
                <a:solidFill>
                  <a:srgbClr val="6E6B5E"/>
                </a:solidFill>
                <a:latin typeface="Noto Sans KR"/>
              </a:rPr>
              <a:t>채널별 LTV : CAC (가설)</a:t>
            </a:r>
          </a:p>
        </c:rich>
      </c:tx>
      <c:layout/>
      <c:overlay val="0"/>
    </c:title>
    <c:autoTitleDeleted val="0"/>
    <c:plotArea>
      <c:layout/>
      <c:barChart>
        <c:barDir val="col"/>
        <c:grouping val="clustered"/>
        <c:varyColors val="0"/>
        <c:ser>
          <c:idx val="0"/>
          <c:order val="0"/>
          <c:tx>
            <c:strRef>
              <c:f>Sheet1!$B$1</c:f>
              <c:strCache>
                <c:ptCount val="1"/>
                <c:pt idx="0">
                  <c:v>LTV : CAC (기본 가정 20%/70%)</c:v>
                </c:pt>
              </c:strCache>
            </c:strRef>
          </c:tx>
          <c:spPr>
            <a:solidFill>
              <a:srgbClr val="0F1D13"/>
            </a:solidFill>
            <a:effectLst/>
          </c:spPr>
          <c:invertIfNegative val="0"/>
          <c:dLbls>
            <c:numFmt formatCode="0.0&quot;×&quot;" sourceLinked="0"/>
            <c:txPr>
              <a:bodyPr/>
              <a:lstStyle/>
              <a:p>
                <a:pPr>
                  <a:defRPr b="0" i="0" strike="noStrike" sz="1100" u="none">
                    <a:solidFill>
                      <a:srgbClr val="16211A"/>
                    </a:solidFill>
                    <a:latin typeface="Noto Sans KR"/>
                  </a:defRPr>
                </a:pPr>
              </a:p>
            </c:txPr>
            <c:dLblPos val="outEnd"/>
            <c:showLegendKey val="0"/>
            <c:showVal val="1"/>
            <c:showCatName val="0"/>
            <c:showSerName val="0"/>
            <c:showPercent val="0"/>
            <c:showBubbleSize val="0"/>
            <c:showLeaderLines val="0"/>
          </c:dLbls>
          <c:cat>
            <c:multiLvlStrRef>
              <c:f>Sheet1!$A$2:$A$5</c:f>
              <c:multiLvlStrCache>
                <c:ptCount val="4"/>
                <c:lvl>
                  <c:pt idx="0">
                    <c:v>한강 토요 이벤트</c:v>
                  </c:pt>
                  <c:pt idx="1">
                    <c:v>멍스타그램 시딩</c:v>
                  </c:pt>
                  <c:pt idx="2">
                    <c:v>리퍼럴 (무료런 2회)</c:v>
                  </c:pt>
                  <c:pt idx="3">
                    <c:v>페이드 인스타그램</c:v>
                  </c:pt>
                </c:lvl>
              </c:multiLvlStrCache>
            </c:multiLvlStrRef>
          </c:cat>
          <c:val>
            <c:numRef>
              <c:f>Sheet1!$B$2:$B$5</c:f>
              <c:numCache>
                <c:formatCode>General</c:formatCode>
                <c:ptCount val="4"/>
                <c:pt idx="0">
                  <c:v>7</c:v>
                </c:pt>
                <c:pt idx="1">
                  <c:v>3.5</c:v>
                </c:pt>
                <c:pt idx="2">
                  <c:v>2.6</c:v>
                </c:pt>
                <c:pt idx="3">
                  <c:v>1.75</c:v>
                </c:pt>
              </c:numCache>
            </c:numRef>
          </c:val>
        </c:ser>
        <c:dLbls>
          <c:numFmt formatCode="0.0&quot;×&quot;" sourceLinked="0"/>
          <c:txPr>
            <a:bodyPr/>
            <a:lstStyle/>
            <a:p>
              <a:pPr>
                <a:defRPr b="0" i="0" strike="noStrike" sz="1100" u="none">
                  <a:solidFill>
                    <a:srgbClr val="16211A"/>
                  </a:solidFill>
                  <a:latin typeface="Noto Sans KR"/>
                </a:defRPr>
              </a:pPr>
            </a:p>
          </c:txPr>
          <c:dLblPos val="outEnd"/>
          <c:showLegendKey val="0"/>
          <c:showVal val="1"/>
          <c:showCatName val="0"/>
          <c:showSerName val="0"/>
          <c:showPercent val="0"/>
          <c:showBubbleSize val="0"/>
          <c:showLeaderLines val="0"/>
        </c:dLbls>
        <c:gapWidth val="90"/>
        <c:overlap val="0"/>
        <c:axId val="2094734554"/>
        <c:axId val="2094734552"/>
        <c:axId val="2094734556"/>
      </c:barChart>
      <c:lineChart>
        <c:varyColors val="0"/>
        <c:ser>
          <c:idx val="1"/>
          <c:order val="1"/>
          <c:tx>
            <c:strRef>
              <c:f>Sheet1!$C$1</c:f>
              <c:strCache>
                <c:ptCount val="1"/>
                <c:pt idx="0">
                  <c:v>스케일 기준선 3.0×</c:v>
                </c:pt>
              </c:strCache>
            </c:strRef>
          </c:tx>
          <c:spPr>
            <a:solidFill>
              <a:srgbClr val="FF5C3D"/>
            </a:solidFill>
            <a:ln w="25400" cap="flat">
              <a:solidFill>
                <a:srgbClr val="FF5C3D"/>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5C3D"/>
              </a:solidFill>
              <a:ln w="9525" cap="flat">
                <a:solidFill>
                  <a:srgbClr val="FF5C3D"/>
                </a:solidFill>
                <a:prstDash val="solid"/>
                <a:round/>
              </a:ln>
              <a:effectLst/>
            </c:spPr>
          </c:marker>
          <c:cat>
            <c:multiLvlStrRef>
              <c:f>Sheet1!$A$2:$A$5</c:f>
              <c:multiLvlStrCache>
                <c:ptCount val="4"/>
                <c:lvl>
                  <c:pt idx="0">
                    <c:v>한강 토요 이벤트</c:v>
                  </c:pt>
                  <c:pt idx="1">
                    <c:v>멍스타그램 시딩</c:v>
                  </c:pt>
                  <c:pt idx="2">
                    <c:v>리퍼럴 (무료런 2회)</c:v>
                  </c:pt>
                  <c:pt idx="3">
                    <c:v>페이드 인스타그램</c:v>
                  </c:pt>
                </c:lvl>
              </c:multiLvlStrCache>
            </c:multiLvlStrRef>
          </c:cat>
          <c:val>
            <c:numRef>
              <c:f>Sheet1!$C$2:$C$5</c:f>
              <c:numCache>
                <c:formatCode>General</c:formatCode>
                <c:ptCount val="4"/>
                <c:pt idx="0">
                  <c:v>3</c:v>
                </c:pt>
                <c:pt idx="1">
                  <c:v>3</c:v>
                </c:pt>
                <c:pt idx="2">
                  <c:v>3</c:v>
                </c:pt>
                <c:pt idx="3">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6B5E"/>
                </a:solidFill>
                <a:latin typeface="Noto Sans KR"/>
              </a:defRPr>
            </a:pPr>
            <a:endParaRPr lang="en-US"/>
          </a:p>
        </c:txPr>
        <c:crossAx val="2094734552"/>
        <c:crosses val="autoZero"/>
        <c:auto val="1"/>
        <c:lblAlgn val="ctr"/>
        <c:noMultiLvlLbl val="1"/>
      </c:catAx>
      <c:valAx>
        <c:axId val="2094734552"/>
        <c:scaling>
          <c:orientation val="minMax"/>
          <c:max val="8"/>
        </c:scaling>
        <c:delete val="0"/>
        <c:axPos val="l"/>
        <c:majorGridlines>
          <c:spPr>
            <a:ln w="6350" cap="flat">
              <a:solidFill>
                <a:srgbClr val="DCD6C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B5E"/>
                </a:solidFill>
                <a:latin typeface="Noto Sans KR"/>
              </a:defRPr>
            </a:pPr>
            <a:endParaRPr lang="en-US"/>
          </a:p>
        </c:txPr>
        <c:crossAx val="2094734554"/>
        <c:crosses val="autoZero"/>
        <c:crossBetween val="between"/>
      </c:valAx>
      <c:spPr>
        <a:solidFill>
          <a:srgbClr val="F8F6F0"/>
        </a:solidFill>
        <a:ln>
          <a:noFill/>
        </a:ln>
        <a:effectLst/>
      </c:spPr>
    </c:plotArea>
    <c:legend>
      <c:legendPos val="b"/>
      <c:overlay val="0"/>
      <c:txPr>
        <a:bodyPr/>
        <a:lstStyle/>
        <a:p>
          <a:pPr>
            <a:defRPr sz="900">
              <a:solidFill>
                <a:srgbClr val="6E6B5E"/>
              </a:solidFill>
              <a:latin typeface="Noto Sans KR"/>
              <a:cs typeface="Noto Sans KR"/>
            </a:defRPr>
          </a:pPr>
          <a:endParaRPr lang="en-US"/>
        </a:p>
      </c:txPr>
    </c:legend>
    <c:plotVisOnly val="1"/>
    <c:dispBlanksAs val="span"/>
  </c:chart>
  <c:spPr>
    <a:solidFill>
      <a:srgbClr val="F8F6F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E6B5E"/>
                </a:solidFill>
                <a:latin typeface="Noto Sans KR"/>
              </a:defRPr>
            </a:pPr>
            <a:r>
              <a:rPr sz="1100" b="0" i="0" u="none" strike="noStrike">
                <a:solidFill>
                  <a:srgbClr val="6E6B5E"/>
                </a:solidFill>
                <a:latin typeface="Noto Sans KR"/>
              </a:rPr>
              <a:t>12개월 자금 배분 (단위: 백만원, 합계 ₩150M)</a:t>
            </a:r>
          </a:p>
        </c:rich>
      </c:tx>
      <c:layout/>
      <c:overlay val="0"/>
    </c:title>
    <c:autoTitleDeleted val="0"/>
    <c:plotArea>
      <c:layout/>
      <c:barChart>
        <c:barDir val="bar"/>
        <c:grouping val="clustered"/>
        <c:varyColors val="0"/>
        <c:ser>
          <c:idx val="0"/>
          <c:order val="0"/>
          <c:tx>
            <c:strRef>
              <c:f>Sheet1!$B$1</c:f>
              <c:strCache>
                <c:ptCount val="1"/>
                <c:pt idx="0">
                  <c:v>12개월 배분 (백만원)</c:v>
                </c:pt>
              </c:strCache>
            </c:strRef>
          </c:tx>
          <c:spPr>
            <a:solidFill>
              <a:srgbClr val="C6F542"/>
            </a:solidFill>
            <a:effectLst/>
          </c:spPr>
          <c:invertIfNegative val="0"/>
          <c:dLbls>
            <c:numFmt formatCode="#,##0" sourceLinked="0"/>
            <c:txPr>
              <a:bodyPr/>
              <a:lstStyle/>
              <a:p>
                <a:pPr>
                  <a:defRPr b="0" i="0" strike="noStrike" sz="1050" u="none">
                    <a:solidFill>
                      <a:srgbClr val="16211A"/>
                    </a:solidFill>
                    <a:latin typeface="Noto Sans KR"/>
                  </a:defRPr>
                </a:pPr>
              </a:p>
            </c:txPr>
            <c:showLegendKey val="0"/>
            <c:showVal val="1"/>
            <c:showCatName val="0"/>
            <c:showSerName val="0"/>
            <c:showPercent val="0"/>
            <c:showBubbleSize val="0"/>
            <c:showLeaderLines val="0"/>
          </c:dLbls>
          <c:cat>
            <c:multiLvlStrRef>
              <c:f>Sheet1!$A$2:$A$9</c:f>
              <c:multiLvlStrCache>
                <c:ptCount val="8"/>
                <c:lvl>
                  <c:pt idx="0">
                    <c:v>예비비 / 버퍼</c:v>
                  </c:pt>
                  <c:pt idx="1">
                    <c:v>마케팅 · 그로스</c:v>
                  </c:pt>
                  <c:pt idx="2">
                    <c:v>창업자 최소 생활비</c:v>
                  </c:pt>
                  <c:pt idx="3">
                    <c:v>제품 · 개발 · 인프라</c:v>
                  </c:pt>
                  <c:pt idx="4">
                    <c:v>보험 · 법률 · 회계</c:v>
                  </c:pt>
                  <c:pt idx="5">
                    <c:v>운영 인력 (파트타임)</c:v>
                  </c:pt>
                  <c:pt idx="6">
                    <c:v>러너 공급 투자</c:v>
                  </c:pt>
                  <c:pt idx="7">
                    <c:v>기타 운영 실비</c:v>
                  </c:pt>
                </c:lvl>
              </c:multiLvlStrCache>
            </c:multiLvlStrRef>
          </c:cat>
          <c:val>
            <c:numRef>
              <c:f>Sheet1!$B$2:$B$9</c:f>
              <c:numCache>
                <c:formatCode>General</c:formatCode>
                <c:ptCount val="8"/>
                <c:pt idx="0">
                  <c:v>40</c:v>
                </c:pt>
                <c:pt idx="1">
                  <c:v>30</c:v>
                </c:pt>
                <c:pt idx="2">
                  <c:v>24</c:v>
                </c:pt>
                <c:pt idx="3">
                  <c:v>18</c:v>
                </c:pt>
                <c:pt idx="4">
                  <c:v>12</c:v>
                </c:pt>
                <c:pt idx="5">
                  <c:v>11</c:v>
                </c:pt>
                <c:pt idx="6">
                  <c:v>10</c:v>
                </c:pt>
                <c:pt idx="7">
                  <c:v>5</c:v>
                </c:pt>
              </c:numCache>
            </c:numRef>
          </c:val>
        </c:ser>
        <c:dLbls>
          <c:numFmt formatCode="#,##0" sourceLinked="0"/>
          <c:txPr>
            <a:bodyPr/>
            <a:lstStyle/>
            <a:p>
              <a:pPr>
                <a:defRPr b="0" i="0" strike="noStrike" sz="1050" u="none">
                  <a:solidFill>
                    <a:srgbClr val="16211A"/>
                  </a:solidFill>
                  <a:latin typeface="Noto Sans KR"/>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6211A"/>
                </a:solidFill>
                <a:latin typeface="Noto Sans KR"/>
              </a:defRPr>
            </a:pPr>
            <a:endParaRPr lang="en-US"/>
          </a:p>
        </c:txPr>
        <c:crossAx val="2094734552"/>
        <c:crosses val="autoZero"/>
        <c:auto val="1"/>
        <c:lblAlgn val="ctr"/>
        <c:noMultiLvlLbl val="1"/>
      </c:catAx>
      <c:valAx>
        <c:axId val="2094734552"/>
        <c:scaling>
          <c:orientation val="minMax"/>
          <c:max val="4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8F6F0"/>
        </a:solidFill>
        <a:ln>
          <a:noFill/>
        </a:ln>
        <a:effectLst/>
      </c:spPr>
    </c:plotArea>
    <c:plotVisOnly val="1"/>
    <c:dispBlanksAs val="span"/>
  </c:chart>
  <c:spPr>
    <a:solidFill>
      <a:srgbClr val="F8F6F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도그스하이는 러너스 하이에서 왔습니다. 사람이 뛰면서 느끼는 그 상태를 개에게도 주자는 서비스입니다. 첫 30초에 카테고리를 못 박습니다 — 우리는 산책 대행이 아닙니다. 프리론칭이라는 사실은 슬라이드 6에서 정면으로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인터뷰에서 반복해 들리는 문장이 있습니다 — “우리 애는 산책으론 안 빠져요.” 이건 니즈가 아니라 이미 존재하는 지출 동기입니다. 유치원에 월 50만원을 쓰는 사람들은 이 문제를 이미 돈으로 풀고 있습니다. 41.2%는 1위가 아니라 2위입니다. 1위가 ‘교감’이라는 게 오히려 우리에게 유리합니다 — 우리는 교감을 뺏지 않고 운동만 가져갑니다.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카테고리를 만들면 비교 대상이 사라집니다. 다만 정직하게 말씀드리면, 산책 정가 대비 우리 단건은 2배가 아니라 1.26배입니다. 그래서 우리 이야기는 ‘프리미엄이라 비싸다’가 아니라 ‘산책 1시간과 비슷한 값에 진짜 운동을 판다’입니다. 그리고 비포펫도 구독형을 이미 운영 중이므로, 우리 차별점은 구독 자체가 아니라 러닝이라는 상품과 체력나이 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타이밍 논거의 핵심은 두 번째입니다 — 경쟁사가 우리 대신 소비자를 교육하고 있습니다. 그리고 반드시 짚을 것: 반려견 마릿수는 줄고 있습니다. 우리가 베팅하는 건 마릿수가 아니라 마리당 지출입니다. 러닝 인구 ‘1000만’이라는 업계 통설은 정부 조사(365만)와 3배 차이가 나서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바디캠은 아직 안 만들었습니다. 로드맵에 있습니다. 보험도 계약 전입니다. 배지를 다는 이유는, 안 만든 걸 만든 것처럼 보이게 하는 순간 덱 전체의 신뢰가 죽기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슬라이드를 먼저 보여드리는 이유는, 뒤에 나오는 숫자들이 전부 가설이기 때문입니다. 무엇이 진짜고 무엇이 가정인지 경계를 지금 긋겠습니다. 진짜인 것: 이 앱은 실기기에서 돕니다. 가정인 것: 가격, 리텐션, 전환율 — 전부 다음 90일에 측정합니다.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방어 슬라이드입니다. 엔젤이 펫 마켓플레이스에서 제일 먼저 떠올리는 게 Wag의 실패인데, 그 실패의 원인은 펫이 아니라 저티켓 온디맨드였습니다. 참고로 $69.5M은 전체 누적이 아니라 2022–2024 3개년 누적 순손실입니다 — 정확히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슬라이드로 설득하지 않겠습니다. 21조는 시장의 숫자고 우리 숫자는 아직 없습니다. 가져가실 것 두 가지 — 시장이 커지는 방향이 건강·경험이라는 것, 서울 단독 113만 가구라 단일 도시 밀도 전략이 성립한다는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‘세계 최초’라고는 쓰지 않았습니다. 엔젤이 구글링하면 DogGo Dash Club이 나오기 때문에 먼저 말씀드립니다 — 시도됐지만 아무도 못 만들었습니다. 그리고 커넥팅더닷츠는 정직하게 위협입니다.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마케팅 예산이 아니라 밀도 예산입니다. 한 동네에서 토요일 아침마다 같은 사람들이 모이면 그건 광고로 살 수 없는 로컬 독점감이 됩니다. 이벤트가 우리 CAC 가설의 핵심 채널이고, 90일 안에 그게 맞는지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LTV = 도그-월 순기여 ÷ (1 − 월 리텐션), 이탈을 기하분포로 단순화한 값입니다. 이 표에서 가져가실 메시지는 하나 — 이 사업의 결과를 결정하는 건 마리 수가 아니라 테이크레이트와 리텐션입니다.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표에서 제일 정직한 부분을 먼저 말씀드리면, 리퍼럴은 지금 계산으로 안 됩니다. 그리고 첫 동은 12개월을 돌려도 흑자가 아닙니다. 저희가 사는 건 흑자가 아니라 ‘테이크 25% × 리텐션 80%가 가능한가’라는 질문의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₩150M은 라운드 레인지 ₩1–2억의 중간값 기준입니다. 창업자 생활비를 최저임금 월환산액 미만으로 잡은 것은 상징이 아니라 런웨이 계산입니다.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투자자께 드릴 수 있는 가장 유용한 것은 명확한 실패 조건입니다. 이 세 숫자를 12월까지 못 맞추면 두 번째 동네로 안 갑니다. 그리고 K-스타트업 마감이 8월 31일, 오늘 기준 28일 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단독 창업이 리스크라는 데 동의합니다. 제가 못 하는 영역(수의·보험·규제)은 자문으로 메꿉니다. 이력 항목을 비워둔 것은 실수가 아니라 원칙입니다 — 확인 전에는 안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요청하는 건 성장 자금이 아니라 검증 자금입니다. 1–2억으로 한 동네에서 50마리를 유료로 만들고, 그들이 다시 예약하는지를 봅니다. 법인 설립 트레이드오프는 먼저 꺼내는 게 맞다고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D13"/>
        </a:solidFill>
      </p:bgPr>
    </p:bg>
    <p:spTree>
      <p:nvGrpSpPr>
        <p:cNvPr id="1" name=""/>
        <p:cNvGrpSpPr/>
        <p:nvPr/>
      </p:nvGrpSpPr>
      <p:grpSpPr>
        <a:xfrm>
          <a:off x="0" y="0"/>
          <a:ext cx="0" cy="0"/>
          <a:chOff x="0" y="0"/>
          <a:chExt cx="0" cy="0"/>
        </a:xfrm>
      </p:grpSpPr>
      <p:sp>
        <p:nvSpPr>
          <p:cNvPr id="2" name="Shape 0"/>
          <p:cNvSpPr/>
          <p:nvPr/>
        </p:nvSpPr>
        <p:spPr>
          <a:xfrm>
            <a:off x="8001000" y="0"/>
            <a:ext cx="4190695" cy="6858000"/>
          </a:xfrm>
          <a:prstGeom prst="rect">
            <a:avLst/>
          </a:prstGeom>
          <a:solidFill>
            <a:srgbClr val="C6F542"/>
          </a:solidFill>
          <a:ln/>
        </p:spPr>
        <p:txBody>
          <a:bodyPr/>
          <a:p/>
        </p:txBody>
      </p:sp>
      <p:sp>
        <p:nvSpPr>
          <p:cNvPr id="3" name="Text 1"/>
          <p:cNvSpPr/>
          <p:nvPr/>
        </p:nvSpPr>
        <p:spPr>
          <a:xfrm>
            <a:off x="685800" y="777240"/>
            <a:ext cx="5943600" cy="640080"/>
          </a:xfrm>
          <a:prstGeom prst="rect">
            <a:avLst/>
          </a:prstGeom>
          <a:noFill/>
          <a:ln/>
        </p:spPr>
        <p:txBody>
          <a:bodyPr wrap="square" lIns="0" tIns="0" rIns="0" bIns="0" rtlCol="0" anchor="ctr"/>
          <a:lstStyle/>
          <a:p>
            <a:pPr indent="0" marL="0">
              <a:buNone/>
            </a:pPr>
            <a:r>
              <a:rPr lang="en-US" sz="3200" b="1" spc="-50" kern="0" dirty="0">
                <a:solidFill>
                  <a:srgbClr val="F8F6F0"/>
                </a:solidFill>
                <a:latin typeface="Noto Sans KR" pitchFamily="34" charset="0"/>
                <a:ea typeface="Noto Sans KR" pitchFamily="34" charset="-122"/>
                <a:cs typeface="Noto Sans KR" pitchFamily="34" charset="-120"/>
              </a:rPr>
              <a:t>도그스</a:t>
            </a:r>
            <a:pPr indent="0" marL="0">
              <a:buNone/>
            </a:pPr>
            <a:r>
              <a:rPr lang="en-US" sz="3200" b="1" spc="-50" kern="0" dirty="0">
                <a:solidFill>
                  <a:srgbClr val="C6F542"/>
                </a:solidFill>
                <a:latin typeface="Noto Sans KR" pitchFamily="34" charset="0"/>
                <a:ea typeface="Noto Sans KR" pitchFamily="34" charset="-122"/>
                <a:cs typeface="Noto Sans KR" pitchFamily="34" charset="-120"/>
              </a:rPr>
              <a:t>하이</a:t>
            </a:r>
            <a:endParaRPr lang="en-US" sz="3200" dirty="0"/>
          </a:p>
        </p:txBody>
      </p:sp>
      <p:sp>
        <p:nvSpPr>
          <p:cNvPr id="4" name="Text 2"/>
          <p:cNvSpPr/>
          <p:nvPr/>
        </p:nvSpPr>
        <p:spPr>
          <a:xfrm>
            <a:off x="685800" y="1389888"/>
            <a:ext cx="5943600" cy="274320"/>
          </a:xfrm>
          <a:prstGeom prst="rect">
            <a:avLst/>
          </a:prstGeom>
          <a:noFill/>
          <a:ln/>
        </p:spPr>
        <p:txBody>
          <a:bodyPr wrap="square" lIns="0" tIns="0" rIns="0" bIns="0" rtlCol="0" anchor="ctr"/>
          <a:lstStyle/>
          <a:p>
            <a:pPr indent="0" marL="0">
              <a:buNone/>
            </a:pPr>
            <a:r>
              <a:rPr lang="en-US" sz="1100" b="1" spc="300" kern="0" dirty="0">
                <a:solidFill>
                  <a:srgbClr val="7C8C7E"/>
                </a:solidFill>
                <a:latin typeface="Noto Sans KR" pitchFamily="34" charset="0"/>
                <a:ea typeface="Noto Sans KR" pitchFamily="34" charset="-122"/>
                <a:cs typeface="Noto Sans KR" pitchFamily="34" charset="-120"/>
              </a:rPr>
              <a:t>DOGS HIGH</a:t>
            </a:r>
            <a:endParaRPr lang="en-US" sz="1100" dirty="0"/>
          </a:p>
        </p:txBody>
      </p:sp>
      <p:sp>
        <p:nvSpPr>
          <p:cNvPr id="5" name="Text 3"/>
          <p:cNvSpPr/>
          <p:nvPr/>
        </p:nvSpPr>
        <p:spPr>
          <a:xfrm>
            <a:off x="685800" y="2148840"/>
            <a:ext cx="6858000" cy="1737360"/>
          </a:xfrm>
          <a:prstGeom prst="rect">
            <a:avLst/>
          </a:prstGeom>
          <a:noFill/>
          <a:ln/>
        </p:spPr>
        <p:txBody>
          <a:bodyPr wrap="square" lIns="0" tIns="0" rIns="0" bIns="0" rtlCol="0" anchor="t"/>
          <a:lstStyle/>
          <a:p>
            <a:pPr indent="0" marL="0">
              <a:lnSpc>
                <a:spcPct val="115000"/>
              </a:lnSpc>
              <a:buNone/>
            </a:pPr>
            <a:r>
              <a:rPr lang="en-US" sz="4000" b="1" dirty="0">
                <a:solidFill>
                  <a:srgbClr val="F8F6F0"/>
                </a:solidFill>
                <a:latin typeface="Noto Sans KR" pitchFamily="34" charset="0"/>
                <a:ea typeface="Noto Sans KR" pitchFamily="34" charset="-122"/>
                <a:cs typeface="Noto Sans KR" pitchFamily="34" charset="-120"/>
              </a:rPr>
              <a:t>러너스 하이를,</a:t>
            </a:r>
            <a:endParaRPr lang="en-US" sz="4000" dirty="0"/>
          </a:p>
          <a:p>
            <a:pPr indent="0" marL="0">
              <a:lnSpc>
                <a:spcPct val="115000"/>
              </a:lnSpc>
              <a:buNone/>
            </a:pPr>
            <a:r>
              <a:rPr lang="en-US" sz="4000" b="1" dirty="0">
                <a:solidFill>
                  <a:srgbClr val="F8F6F0"/>
                </a:solidFill>
                <a:latin typeface="Noto Sans KR" pitchFamily="34" charset="0"/>
                <a:ea typeface="Noto Sans KR" pitchFamily="34" charset="-122"/>
                <a:cs typeface="Noto Sans KR" pitchFamily="34" charset="-120"/>
              </a:rPr>
              <a:t>우리 아이에게.</a:t>
            </a:r>
            <a:endParaRPr lang="en-US" sz="4000" dirty="0"/>
          </a:p>
        </p:txBody>
      </p:sp>
      <p:sp>
        <p:nvSpPr>
          <p:cNvPr id="6" name="Text 4"/>
          <p:cNvSpPr/>
          <p:nvPr/>
        </p:nvSpPr>
        <p:spPr>
          <a:xfrm>
            <a:off x="685800" y="4069080"/>
            <a:ext cx="6858000" cy="777240"/>
          </a:xfrm>
          <a:prstGeom prst="rect">
            <a:avLst/>
          </a:prstGeom>
          <a:noFill/>
          <a:ln/>
        </p:spPr>
        <p:txBody>
          <a:bodyPr wrap="square" lIns="0" tIns="0" rIns="0" bIns="0" rtlCol="0" anchor="t"/>
          <a:lstStyle/>
          <a:p>
            <a:pPr indent="0" marL="0">
              <a:lnSpc>
                <a:spcPct val="135000"/>
              </a:lnSpc>
              <a:buNone/>
            </a:pPr>
            <a:r>
              <a:rPr lang="en-US" sz="1300" dirty="0">
                <a:solidFill>
                  <a:srgbClr val="C9D3C6"/>
                </a:solidFill>
                <a:latin typeface="Noto Sans KR" pitchFamily="34" charset="0"/>
                <a:ea typeface="Noto Sans KR" pitchFamily="34" charset="-122"/>
                <a:cs typeface="Noto Sans KR" pitchFamily="34" charset="-120"/>
              </a:rPr>
              <a:t>국내 첫 반려견 러닝 마켓플레이스 — 산책 대행이 아니라 반려견 피트니스.</a:t>
            </a:r>
            <a:endParaRPr lang="en-US" sz="1300" dirty="0"/>
          </a:p>
          <a:p>
            <a:pPr indent="0" marL="0">
              <a:lnSpc>
                <a:spcPct val="135000"/>
              </a:lnSpc>
              <a:buNone/>
            </a:pPr>
            <a:r>
              <a:rPr lang="en-US" sz="1300" dirty="0">
                <a:solidFill>
                  <a:srgbClr val="C9D3C6"/>
                </a:solidFill>
                <a:latin typeface="Noto Sans KR" pitchFamily="34" charset="0"/>
                <a:ea typeface="Noto Sans KR" pitchFamily="34" charset="-122"/>
                <a:cs typeface="Noto Sans KR" pitchFamily="34" charset="-120"/>
              </a:rPr>
              <a:t>인증 러너가 우리 개와 뛴다. 보호자는 GPS로 실시간으로 지켜본다.</a:t>
            </a:r>
            <a:endParaRPr lang="en-US" sz="1300" dirty="0"/>
          </a:p>
        </p:txBody>
      </p:sp>
      <p:sp>
        <p:nvSpPr>
          <p:cNvPr id="7" name="Shape 5"/>
          <p:cNvSpPr/>
          <p:nvPr/>
        </p:nvSpPr>
        <p:spPr>
          <a:xfrm>
            <a:off x="685800" y="5074920"/>
            <a:ext cx="2141891" cy="219456"/>
          </a:xfrm>
          <a:prstGeom prst="roundRect">
            <a:avLst>
              <a:gd name="adj" fmla="val 50000"/>
            </a:avLst>
          </a:prstGeom>
          <a:ln w="12700">
            <a:solidFill>
              <a:srgbClr val="C6F542"/>
            </a:solidFill>
            <a:prstDash val="solid"/>
          </a:ln>
        </p:spPr>
        <p:txBody>
          <a:bodyPr/>
          <a:p/>
        </p:txBody>
      </p:sp>
      <p:sp>
        <p:nvSpPr>
          <p:cNvPr id="8" name="Text 6"/>
          <p:cNvSpPr/>
          <p:nvPr/>
        </p:nvSpPr>
        <p:spPr>
          <a:xfrm>
            <a:off x="685800" y="5074920"/>
            <a:ext cx="2141891" cy="219456"/>
          </a:xfrm>
          <a:prstGeom prst="rect">
            <a:avLst/>
          </a:prstGeom>
          <a:noFill/>
          <a:ln/>
        </p:spPr>
        <p:txBody>
          <a:bodyPr wrap="square" lIns="0" tIns="0" rIns="0" bIns="0" rtlCol="0" anchor="ctr"/>
          <a:lstStyle/>
          <a:p>
            <a:pPr algn="ctr" indent="0" marL="0">
              <a:buNone/>
            </a:pPr>
            <a:r>
              <a:rPr lang="en-US" sz="850" b="1" dirty="0">
                <a:solidFill>
                  <a:srgbClr val="C6F542"/>
                </a:solidFill>
                <a:latin typeface="Noto Sans KR" pitchFamily="34" charset="0"/>
                <a:ea typeface="Noto Sans KR" pitchFamily="34" charset="-122"/>
                <a:cs typeface="Noto Sans KR" pitchFamily="34" charset="-120"/>
              </a:rPr>
              <a:t>PRE-LAUNCH · 유료 고객 0 · 매출 0</a:t>
            </a:r>
            <a:endParaRPr lang="en-US" sz="850" dirty="0"/>
          </a:p>
        </p:txBody>
      </p:sp>
      <p:sp>
        <p:nvSpPr>
          <p:cNvPr id="9" name="Text 7"/>
          <p:cNvSpPr/>
          <p:nvPr/>
        </p:nvSpPr>
        <p:spPr>
          <a:xfrm>
            <a:off x="685800" y="5623560"/>
            <a:ext cx="6858000" cy="731520"/>
          </a:xfrm>
          <a:prstGeom prst="rect">
            <a:avLst/>
          </a:prstGeom>
          <a:noFill/>
          <a:ln/>
        </p:spPr>
        <p:txBody>
          <a:bodyPr wrap="square" lIns="0" tIns="0" rIns="0" bIns="0" rtlCol="0" anchor="t"/>
          <a:lstStyle/>
          <a:p>
            <a:pPr indent="0" marL="0">
              <a:lnSpc>
                <a:spcPct val="135000"/>
              </a:lnSpc>
              <a:buNone/>
            </a:pPr>
            <a:r>
              <a:rPr lang="en-US" sz="1100" dirty="0">
                <a:solidFill>
                  <a:srgbClr val="8FA091"/>
                </a:solidFill>
                <a:latin typeface="Noto Sans KR" pitchFamily="34" charset="0"/>
                <a:ea typeface="Noto Sans KR" pitchFamily="34" charset="-122"/>
                <a:cs typeface="Noto Sans KR" pitchFamily="34" charset="-120"/>
              </a:rPr>
              <a:t>서울 · 2026 · 프리론칭 (파일럿 동네: 반포)</a:t>
            </a:r>
            <a:endParaRPr lang="en-US" sz="1100" dirty="0"/>
          </a:p>
          <a:p>
            <a:pPr indent="0" marL="0">
              <a:lnSpc>
                <a:spcPct val="135000"/>
              </a:lnSpc>
              <a:buNone/>
            </a:pPr>
            <a:r>
              <a:rPr lang="en-US" sz="1100" dirty="0">
                <a:solidFill>
                  <a:srgbClr val="8FA091"/>
                </a:solidFill>
                <a:latin typeface="Noto Sans KR" pitchFamily="34" charset="0"/>
                <a:ea typeface="Noto Sans KR" pitchFamily="34" charset="-122"/>
                <a:cs typeface="Noto Sans KR" pitchFamily="34" charset="-120"/>
              </a:rPr>
              <a:t>Sean Kim, 단독 창업자 · seankookim@uchicago.edu</a:t>
            </a:r>
            <a:endParaRPr lang="en-US" sz="1100" dirty="0"/>
          </a:p>
        </p:txBody>
      </p:sp>
      <p:sp>
        <p:nvSpPr>
          <p:cNvPr id="10" name="Text 8"/>
          <p:cNvSpPr/>
          <p:nvPr/>
        </p:nvSpPr>
        <p:spPr>
          <a:xfrm>
            <a:off x="8549640" y="2286000"/>
            <a:ext cx="3108960" cy="1737360"/>
          </a:xfrm>
          <a:prstGeom prst="rect">
            <a:avLst/>
          </a:prstGeom>
          <a:noFill/>
          <a:ln/>
        </p:spPr>
        <p:txBody>
          <a:bodyPr wrap="square" lIns="0" tIns="0" rIns="0" bIns="0" rtlCol="0" anchor="t"/>
          <a:lstStyle/>
          <a:p>
            <a:pPr indent="0" marL="0">
              <a:lnSpc>
                <a:spcPct val="110000"/>
              </a:lnSpc>
              <a:buNone/>
            </a:pPr>
            <a:r>
              <a:rPr lang="en-US" sz="3800" b="1" dirty="0">
                <a:solidFill>
                  <a:srgbClr val="0F1D13"/>
                </a:solidFill>
                <a:latin typeface="Noto Sans KR" pitchFamily="34" charset="0"/>
                <a:ea typeface="Noto Sans KR" pitchFamily="34" charset="-122"/>
                <a:cs typeface="Noto Sans KR" pitchFamily="34" charset="-120"/>
              </a:rPr>
              <a:t>산책 말고</a:t>
            </a:r>
            <a:endParaRPr lang="en-US" sz="3800" dirty="0"/>
          </a:p>
          <a:p>
            <a:pPr indent="0" marL="0">
              <a:lnSpc>
                <a:spcPct val="110000"/>
              </a:lnSpc>
              <a:buNone/>
            </a:pPr>
            <a:r>
              <a:rPr lang="en-US" sz="3800" b="1" dirty="0">
                <a:solidFill>
                  <a:srgbClr val="0F1D13"/>
                </a:solidFill>
                <a:latin typeface="Noto Sans KR" pitchFamily="34" charset="0"/>
                <a:ea typeface="Noto Sans KR" pitchFamily="34" charset="-122"/>
                <a:cs typeface="Noto Sans KR" pitchFamily="34" charset="-120"/>
              </a:rPr>
              <a:t>러닝.</a:t>
            </a:r>
            <a:endParaRPr lang="en-US" sz="3800" dirty="0"/>
          </a:p>
        </p:txBody>
      </p:sp>
      <p:sp>
        <p:nvSpPr>
          <p:cNvPr id="11" name="Text 9"/>
          <p:cNvSpPr/>
          <p:nvPr/>
        </p:nvSpPr>
        <p:spPr>
          <a:xfrm>
            <a:off x="8549640" y="4160520"/>
            <a:ext cx="3108960" cy="640080"/>
          </a:xfrm>
          <a:prstGeom prst="rect">
            <a:avLst/>
          </a:prstGeom>
          <a:noFill/>
          <a:ln/>
        </p:spPr>
        <p:txBody>
          <a:bodyPr wrap="square" lIns="0" tIns="0" rIns="0" bIns="0" rtlCol="0" anchor="t"/>
          <a:lstStyle/>
          <a:p>
            <a:pPr indent="0" marL="0">
              <a:lnSpc>
                <a:spcPct val="130000"/>
              </a:lnSpc>
              <a:buNone/>
            </a:pPr>
            <a:r>
              <a:rPr lang="en-US" sz="1200" b="1" dirty="0">
                <a:solidFill>
                  <a:srgbClr val="3F5A16"/>
                </a:solidFill>
                <a:latin typeface="Noto Sans KR" pitchFamily="34" charset="0"/>
                <a:ea typeface="Noto Sans KR" pitchFamily="34" charset="-122"/>
                <a:cs typeface="Noto Sans KR" pitchFamily="34" charset="-120"/>
              </a:rPr>
              <a:t>카테고리를 바꾸면</a:t>
            </a:r>
            <a:endParaRPr lang="en-US" sz="1200" dirty="0"/>
          </a:p>
          <a:p>
            <a:pPr indent="0" marL="0">
              <a:lnSpc>
                <a:spcPct val="130000"/>
              </a:lnSpc>
              <a:buNone/>
            </a:pPr>
            <a:r>
              <a:rPr lang="en-US" sz="1200" b="1" dirty="0">
                <a:solidFill>
                  <a:srgbClr val="3F5A16"/>
                </a:solidFill>
                <a:latin typeface="Noto Sans KR" pitchFamily="34" charset="0"/>
                <a:ea typeface="Noto Sans KR" pitchFamily="34" charset="-122"/>
                <a:cs typeface="Noto Sans KR" pitchFamily="34" charset="-120"/>
              </a:rPr>
              <a:t>비교 대상이 사라진다.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문제</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02</a:t>
            </a:r>
            <a:endParaRPr lang="en-US" sz="1000" dirty="0"/>
          </a:p>
        </p:txBody>
      </p:sp>
      <p:sp>
        <p:nvSpPr>
          <p:cNvPr id="4" name="Text 2"/>
          <p:cNvSpPr/>
          <p:nvPr/>
        </p:nvSpPr>
        <p:spPr>
          <a:xfrm>
            <a:off x="685800" y="658368"/>
            <a:ext cx="7680960" cy="1234440"/>
          </a:xfrm>
          <a:prstGeom prst="rect">
            <a:avLst/>
          </a:prstGeom>
          <a:noFill/>
          <a:ln/>
        </p:spPr>
        <p:txBody>
          <a:bodyPr wrap="square" lIns="0" tIns="0" rIns="0" bIns="0" rtlCol="0" anchor="t"/>
          <a:lstStyle/>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오늘도 못 뛰어줬다 —</a:t>
            </a:r>
            <a:endParaRPr lang="en-US" sz="2600" dirty="0"/>
          </a:p>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이건 편의 문제가 아니라 죄책감 문제다.</a:t>
            </a:r>
            <a:endParaRPr lang="en-US" sz="2600" dirty="0"/>
          </a:p>
        </p:txBody>
      </p:sp>
      <p:sp>
        <p:nvSpPr>
          <p:cNvPr id="5" name="Text 3"/>
          <p:cNvSpPr/>
          <p:nvPr/>
        </p:nvSpPr>
        <p:spPr>
          <a:xfrm>
            <a:off x="685800" y="2331720"/>
            <a:ext cx="6309360" cy="2651760"/>
          </a:xfrm>
          <a:prstGeom prst="rect">
            <a:avLst/>
          </a:prstGeom>
          <a:noFill/>
          <a:ln/>
        </p:spPr>
        <p:txBody>
          <a:bodyPr wrap="square" lIns="0" tIns="0" rIns="0" bIns="0" rtlCol="0" anchor="t"/>
          <a:lstStyle/>
          <a:p>
            <a:pPr marL="342900" indent="-342900">
              <a:lnSpc>
                <a:spcPct val="130000"/>
              </a:lnSpc>
              <a:spcAft>
                <a:spcPts val="700"/>
              </a:spcAft>
              <a:buSzPct val="100000"/>
              <a:buChar char="•"/>
            </a:pPr>
            <a:r>
              <a:rPr lang="en-US" sz="1300" dirty="0">
                <a:solidFill>
                  <a:srgbClr val="16211A"/>
                </a:solidFill>
                <a:latin typeface="Noto Sans KR" pitchFamily="34" charset="0"/>
                <a:ea typeface="Noto Sans KR" pitchFamily="34" charset="-122"/>
                <a:cs typeface="Noto Sans KR" pitchFamily="34" charset="-120"/>
              </a:rPr>
              <a:t>고에너지 견종(보더콜리·리트리버·셰퍼드·허스키·진도믹스) + 풀타임 근무 = 구조적으로 못 시킨다</a:t>
            </a:r>
            <a:endParaRPr lang="en-US" sz="1300" dirty="0"/>
          </a:p>
          <a:p>
            <a:pPr marL="342900" indent="-342900">
              <a:lnSpc>
                <a:spcPct val="130000"/>
              </a:lnSpc>
              <a:spcAft>
                <a:spcPts val="700"/>
              </a:spcAft>
              <a:buSzPct val="100000"/>
              <a:buChar char="•"/>
            </a:pPr>
            <a:r>
              <a:rPr lang="en-US" sz="1300" dirty="0">
                <a:solidFill>
                  <a:srgbClr val="16211A"/>
                </a:solidFill>
                <a:latin typeface="Noto Sans KR" pitchFamily="34" charset="0"/>
                <a:ea typeface="Noto Sans KR" pitchFamily="34" charset="-122"/>
                <a:cs typeface="Noto Sans KR" pitchFamily="34" charset="-120"/>
              </a:rPr>
              <a:t>운동 부족은 짖음·파괴·과잉행동의 최대 원인 — 문제는 개가 아니라 소진되지 않은 에너지다</a:t>
            </a:r>
            <a:endParaRPr lang="en-US" sz="1300" dirty="0"/>
          </a:p>
          <a:p>
            <a:pPr marL="342900" indent="-342900">
              <a:lnSpc>
                <a:spcPct val="130000"/>
              </a:lnSpc>
              <a:spcAft>
                <a:spcPts val="700"/>
              </a:spcAft>
              <a:buSzPct val="100000"/>
              <a:buChar char="•"/>
            </a:pPr>
            <a:r>
              <a:rPr lang="en-US" sz="1300" dirty="0">
                <a:solidFill>
                  <a:srgbClr val="16211A"/>
                </a:solidFill>
                <a:latin typeface="Noto Sans KR" pitchFamily="34" charset="0"/>
                <a:ea typeface="Noto Sans KR" pitchFamily="34" charset="-122"/>
                <a:cs typeface="Noto Sans KR" pitchFamily="34" charset="-120"/>
              </a:rPr>
              <a:t>기존 해법은 어긋나 있다: 30분 산책 대행은 운동이 아니고, 강아지 유치원은 월 50–90만원에 하루를 통째로 맡겨야 한다</a:t>
            </a:r>
            <a:endParaRPr lang="en-US" sz="1300" dirty="0"/>
          </a:p>
          <a:p>
            <a:pPr marL="342900" indent="-342900">
              <a:lnSpc>
                <a:spcPct val="130000"/>
              </a:lnSpc>
              <a:spcAft>
                <a:spcPts val="700"/>
              </a:spcAft>
              <a:buSzPct val="100000"/>
              <a:buChar char="•"/>
            </a:pPr>
            <a:r>
              <a:rPr lang="en-US" sz="1300" dirty="0">
                <a:solidFill>
                  <a:srgbClr val="16211A"/>
                </a:solidFill>
                <a:latin typeface="Noto Sans KR" pitchFamily="34" charset="0"/>
                <a:ea typeface="Noto Sans KR" pitchFamily="34" charset="-122"/>
                <a:cs typeface="Noto Sans KR" pitchFamily="34" charset="-120"/>
              </a:rPr>
              <a:t>보호자가 사는 것은 서비스가 아니라 증거다 — “내가 못 해준 걸 누가 대신 해줬다”</a:t>
            </a:r>
            <a:endParaRPr lang="en-US" sz="1300" dirty="0"/>
          </a:p>
        </p:txBody>
      </p:sp>
      <p:sp>
        <p:nvSpPr>
          <p:cNvPr id="6" name="Shape 4"/>
          <p:cNvSpPr/>
          <p:nvPr/>
        </p:nvSpPr>
        <p:spPr>
          <a:xfrm>
            <a:off x="685800" y="4800600"/>
            <a:ext cx="3635106" cy="219456"/>
          </a:xfrm>
          <a:prstGeom prst="roundRect">
            <a:avLst>
              <a:gd name="adj" fmla="val 50000"/>
            </a:avLst>
          </a:prstGeom>
          <a:ln w="12700">
            <a:solidFill>
              <a:srgbClr val="C6F542"/>
            </a:solidFill>
            <a:prstDash val="solid"/>
          </a:ln>
        </p:spPr>
        <p:txBody>
          <a:bodyPr/>
          <a:p/>
        </p:txBody>
      </p:sp>
      <p:sp>
        <p:nvSpPr>
          <p:cNvPr id="7" name="Text 5"/>
          <p:cNvSpPr/>
          <p:nvPr/>
        </p:nvSpPr>
        <p:spPr>
          <a:xfrm>
            <a:off x="685800" y="4800600"/>
            <a:ext cx="3635106" cy="219456"/>
          </a:xfrm>
          <a:prstGeom prst="rect">
            <a:avLst/>
          </a:prstGeom>
          <a:noFill/>
          <a:ln/>
        </p:spPr>
        <p:txBody>
          <a:bodyPr wrap="square" lIns="0" tIns="0" rIns="0" bIns="0" rtlCol="0" anchor="ctr"/>
          <a:lstStyle/>
          <a:p>
            <a:pPr algn="ctr" indent="0" marL="0">
              <a:buNone/>
            </a:pPr>
            <a:r>
              <a:rPr lang="en-US" sz="850" b="1" dirty="0">
                <a:solidFill>
                  <a:srgbClr val="3F5A16"/>
                </a:solidFill>
                <a:latin typeface="Noto Sans KR" pitchFamily="34" charset="0"/>
                <a:ea typeface="Noto Sans KR" pitchFamily="34" charset="-122"/>
                <a:cs typeface="Noto Sans KR" pitchFamily="34" charset="-120"/>
              </a:rPr>
              <a:t>가설 · 자체 수요 인터뷰 15–20건은 진행 예정 — 결과 아직 없음</a:t>
            </a:r>
            <a:endParaRPr lang="en-US" sz="850" dirty="0"/>
          </a:p>
        </p:txBody>
      </p:sp>
      <p:sp>
        <p:nvSpPr>
          <p:cNvPr id="8" name="Shape 6"/>
          <p:cNvSpPr/>
          <p:nvPr/>
        </p:nvSpPr>
        <p:spPr>
          <a:xfrm>
            <a:off x="7360920" y="2011680"/>
            <a:ext cx="4142232" cy="3977640"/>
          </a:xfrm>
          <a:prstGeom prst="rect">
            <a:avLst/>
          </a:prstGeom>
          <a:solidFill>
            <a:srgbClr val="0F1D13"/>
          </a:solidFill>
          <a:ln/>
        </p:spPr>
        <p:txBody>
          <a:bodyPr/>
          <a:p/>
        </p:txBody>
      </p:sp>
      <p:sp>
        <p:nvSpPr>
          <p:cNvPr id="9" name="Text 7"/>
          <p:cNvSpPr/>
          <p:nvPr/>
        </p:nvSpPr>
        <p:spPr>
          <a:xfrm>
            <a:off x="7772400" y="2286000"/>
            <a:ext cx="3383280" cy="1005840"/>
          </a:xfrm>
          <a:prstGeom prst="rect">
            <a:avLst/>
          </a:prstGeom>
          <a:noFill/>
          <a:ln/>
        </p:spPr>
        <p:txBody>
          <a:bodyPr wrap="square" lIns="0" tIns="0" rIns="0" bIns="0" rtlCol="0" anchor="ctr"/>
          <a:lstStyle/>
          <a:p>
            <a:pPr indent="0" marL="0">
              <a:buNone/>
            </a:pPr>
            <a:r>
              <a:rPr lang="en-US" sz="5400" b="1" dirty="0">
                <a:solidFill>
                  <a:srgbClr val="C6F542"/>
                </a:solidFill>
                <a:latin typeface="Noto Sans KR" pitchFamily="34" charset="0"/>
                <a:ea typeface="Noto Sans KR" pitchFamily="34" charset="-122"/>
                <a:cs typeface="Noto Sans KR" pitchFamily="34" charset="-120"/>
              </a:rPr>
              <a:t>41.2%</a:t>
            </a:r>
            <a:endParaRPr lang="en-US" sz="5400" dirty="0"/>
          </a:p>
        </p:txBody>
      </p:sp>
      <p:sp>
        <p:nvSpPr>
          <p:cNvPr id="10" name="Text 8"/>
          <p:cNvSpPr/>
          <p:nvPr/>
        </p:nvSpPr>
        <p:spPr>
          <a:xfrm>
            <a:off x="7772400" y="3337560"/>
            <a:ext cx="3383280" cy="777240"/>
          </a:xfrm>
          <a:prstGeom prst="rect">
            <a:avLst/>
          </a:prstGeom>
          <a:noFill/>
          <a:ln/>
        </p:spPr>
        <p:txBody>
          <a:bodyPr wrap="square" lIns="0" tIns="0" rIns="0" bIns="0" rtlCol="0" anchor="t"/>
          <a:lstStyle/>
          <a:p>
            <a:pPr indent="0" marL="0">
              <a:lnSpc>
                <a:spcPct val="130000"/>
              </a:lnSpc>
              <a:buNone/>
            </a:pPr>
            <a:r>
              <a:rPr lang="en-US" sz="1100" dirty="0">
                <a:solidFill>
                  <a:srgbClr val="F8F6F0"/>
                </a:solidFill>
                <a:latin typeface="Noto Sans KR" pitchFamily="34" charset="0"/>
                <a:ea typeface="Noto Sans KR" pitchFamily="34" charset="-122"/>
                <a:cs typeface="Noto Sans KR" pitchFamily="34" charset="-120"/>
              </a:rPr>
              <a:t>반려인이 ‘반려동물 생활 웰니스’에서 중요하다고 꼽은 요소 중 ‘운동·놀이’ (다중응답 2위)</a:t>
            </a:r>
            <a:endParaRPr lang="en-US" sz="1100" dirty="0"/>
          </a:p>
        </p:txBody>
      </p:sp>
      <p:sp>
        <p:nvSpPr>
          <p:cNvPr id="11" name="Text 9"/>
          <p:cNvSpPr/>
          <p:nvPr/>
        </p:nvSpPr>
        <p:spPr>
          <a:xfrm>
            <a:off x="7772400" y="4160520"/>
            <a:ext cx="3383280" cy="548640"/>
          </a:xfrm>
          <a:prstGeom prst="rect">
            <a:avLst/>
          </a:prstGeom>
          <a:noFill/>
          <a:ln/>
        </p:spPr>
        <p:txBody>
          <a:bodyPr wrap="square" lIns="0" tIns="0" rIns="0" bIns="0" rtlCol="0" anchor="t"/>
          <a:lstStyle/>
          <a:p>
            <a:pPr indent="0" marL="0">
              <a:lnSpc>
                <a:spcPct val="130000"/>
              </a:lnSpc>
              <a:buNone/>
            </a:pPr>
            <a:r>
              <a:rPr lang="en-US" sz="1000" dirty="0">
                <a:solidFill>
                  <a:srgbClr val="9FAE9C"/>
                </a:solidFill>
                <a:latin typeface="Noto Sans KR" pitchFamily="34" charset="0"/>
                <a:ea typeface="Noto Sans KR" pitchFamily="34" charset="-122"/>
                <a:cs typeface="Noto Sans KR" pitchFamily="34" charset="-120"/>
              </a:rPr>
              <a:t>1위 보호자와의 시간·교감 59.8%</a:t>
            </a:r>
            <a:endParaRPr lang="en-US" sz="1000" dirty="0"/>
          </a:p>
          <a:p>
            <a:pPr indent="0" marL="0">
              <a:lnSpc>
                <a:spcPct val="130000"/>
              </a:lnSpc>
              <a:buNone/>
            </a:pPr>
            <a:r>
              <a:rPr lang="en-US" sz="1000" dirty="0">
                <a:solidFill>
                  <a:srgbClr val="9FAE9C"/>
                </a:solidFill>
                <a:latin typeface="Noto Sans KR" pitchFamily="34" charset="0"/>
                <a:ea typeface="Noto Sans KR" pitchFamily="34" charset="-122"/>
                <a:cs typeface="Noto Sans KR" pitchFamily="34" charset="-120"/>
              </a:rPr>
              <a:t>3위 정서 관리 40.3%</a:t>
            </a:r>
            <a:endParaRPr lang="en-US" sz="1000" dirty="0"/>
          </a:p>
        </p:txBody>
      </p:sp>
      <p:sp>
        <p:nvSpPr>
          <p:cNvPr id="12" name="Text 10"/>
          <p:cNvSpPr/>
          <p:nvPr/>
        </p:nvSpPr>
        <p:spPr>
          <a:xfrm>
            <a:off x="7772400" y="4892040"/>
            <a:ext cx="3383280" cy="685800"/>
          </a:xfrm>
          <a:prstGeom prst="rect">
            <a:avLst/>
          </a:prstGeom>
          <a:noFill/>
          <a:ln/>
        </p:spPr>
        <p:txBody>
          <a:bodyPr wrap="square" lIns="0" tIns="0" rIns="0" bIns="0" rtlCol="0" anchor="t"/>
          <a:lstStyle/>
          <a:p>
            <a:pPr indent="0" marL="0">
              <a:lnSpc>
                <a:spcPct val="130000"/>
              </a:lnSpc>
              <a:buNone/>
            </a:pPr>
            <a:r>
              <a:rPr lang="en-US" sz="1200" b="1" dirty="0">
                <a:solidFill>
                  <a:srgbClr val="C6F542"/>
                </a:solidFill>
                <a:latin typeface="Noto Sans KR" pitchFamily="34" charset="0"/>
                <a:ea typeface="Noto Sans KR" pitchFamily="34" charset="-122"/>
                <a:cs typeface="Noto Sans KR" pitchFamily="34" charset="-120"/>
              </a:rPr>
              <a:t>→ 러너는 교감을 대체하지 않는다.</a:t>
            </a:r>
            <a:endParaRPr lang="en-US" sz="1200" dirty="0"/>
          </a:p>
          <a:p>
            <a:pPr indent="0" marL="0">
              <a:lnSpc>
                <a:spcPct val="130000"/>
              </a:lnSpc>
              <a:buNone/>
            </a:pPr>
            <a:r>
              <a:rPr lang="en-US" sz="1200" b="1" dirty="0">
                <a:solidFill>
                  <a:srgbClr val="C6F542"/>
                </a:solidFill>
                <a:latin typeface="Noto Sans KR" pitchFamily="34" charset="0"/>
                <a:ea typeface="Noto Sans KR" pitchFamily="34" charset="-122"/>
                <a:cs typeface="Noto Sans KR" pitchFamily="34" charset="-120"/>
              </a:rPr>
              <a:t>운동만 아웃소싱한다.</a:t>
            </a:r>
            <a:endParaRPr lang="en-US" sz="1200" dirty="0"/>
          </a:p>
        </p:txBody>
      </p:sp>
      <p:sp>
        <p:nvSpPr>
          <p:cNvPr id="13" name="Text 11"/>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KB금융지주 경영연구소, 「2025 한국 반려동물보고서」 (다중응답 문항).</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카테고리 창조</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03</a:t>
            </a:r>
            <a:endParaRPr lang="en-US" sz="1000" dirty="0"/>
          </a:p>
        </p:txBody>
      </p:sp>
      <p:sp>
        <p:nvSpPr>
          <p:cNvPr id="4" name="Text 2"/>
          <p:cNvSpPr/>
          <p:nvPr/>
        </p:nvSpPr>
        <p:spPr>
          <a:xfrm>
            <a:off x="685800" y="658368"/>
            <a:ext cx="10820095" cy="548640"/>
          </a:xfrm>
          <a:prstGeom prst="rect">
            <a:avLst/>
          </a:prstGeom>
          <a:noFill/>
          <a:ln/>
        </p:spPr>
        <p:txBody>
          <a:bodyPr wrap="square" lIns="0" tIns="0" rIns="0" bIns="0" rtlCol="0" anchor="t"/>
          <a:lstStyle/>
          <a:p>
            <a:pPr indent="0" marL="0">
              <a:lnSpc>
                <a:spcPct val="118000"/>
              </a:lnSpc>
              <a:buNone/>
            </a:pPr>
            <a:r>
              <a:rPr lang="en-US" sz="3200" b="1" dirty="0">
                <a:solidFill>
                  <a:srgbClr val="16211A"/>
                </a:solidFill>
                <a:latin typeface="Noto Sans KR" pitchFamily="34" charset="0"/>
                <a:ea typeface="Noto Sans KR" pitchFamily="34" charset="-122"/>
                <a:cs typeface="Noto Sans KR" pitchFamily="34" charset="-120"/>
              </a:rPr>
              <a:t>산책 말고, 러닝.</a:t>
            </a:r>
            <a:endParaRPr lang="en-US" sz="3200" dirty="0"/>
          </a:p>
        </p:txBody>
      </p:sp>
      <p:sp>
        <p:nvSpPr>
          <p:cNvPr id="5" name="Text 3"/>
          <p:cNvSpPr/>
          <p:nvPr/>
        </p:nvSpPr>
        <p:spPr>
          <a:xfrm>
            <a:off x="685800" y="1261872"/>
            <a:ext cx="10820095" cy="320040"/>
          </a:xfrm>
          <a:prstGeom prst="rect">
            <a:avLst/>
          </a:prstGeom>
          <a:noFill/>
          <a:ln/>
        </p:spPr>
        <p:txBody>
          <a:bodyPr wrap="square" lIns="0" tIns="0" rIns="0" bIns="0" rtlCol="0" anchor="ctr"/>
          <a:lstStyle/>
          <a:p>
            <a:pPr indent="0" marL="0">
              <a:buNone/>
            </a:pPr>
            <a:r>
              <a:rPr lang="en-US" sz="1300" dirty="0">
                <a:solidFill>
                  <a:srgbClr val="6E6B5E"/>
                </a:solidFill>
                <a:latin typeface="Noto Sans KR" pitchFamily="34" charset="0"/>
                <a:ea typeface="Noto Sans KR" pitchFamily="34" charset="-122"/>
                <a:cs typeface="Noto Sans KR" pitchFamily="34" charset="-120"/>
              </a:rPr>
              <a:t>비포펫에게는 산책을 준다. 우리는 피트니스를 가져간다.</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1965960"/>
          <a:ext cx="6858000" cy="914400"/>
        </p:xfrm>
        <a:graphic>
          <a:graphicData uri="http://schemas.openxmlformats.org/drawingml/2006/table">
            <a:tbl>
              <a:tblPr/>
              <a:tblGrid>
                <a:gridCol w="1234440"/>
                <a:gridCol w="2514600"/>
                <a:gridCol w="3108960"/>
              </a:tblGrid>
              <a:tr h="457200">
                <a:tc>
                  <a:txBody>
                    <a:bodyPr/>
                    <a:lstStyle/>
                    <a:p>
                      <a:pPr indent="0" marL="0">
                        <a:buNone/>
                      </a:pP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F8F6F0"/>
                    </a:solidFill>
                  </a:tcPr>
                </a:tc>
                <a:tc>
                  <a:txBody>
                    <a:bodyPr/>
                    <a:lstStyle/>
                    <a:p>
                      <a:pPr indent="0" marL="0">
                        <a:buNone/>
                      </a:pPr>
                      <a:r>
                        <a:rPr lang="en-US" sz="1100" b="1" dirty="0">
                          <a:solidFill>
                            <a:srgbClr val="6E6B5E"/>
                          </a:solidFill>
                          <a:latin typeface="Noto Sans KR" pitchFamily="34" charset="0"/>
                          <a:ea typeface="Noto Sans KR" pitchFamily="34" charset="-122"/>
                          <a:cs typeface="Noto Sans KR" pitchFamily="34" charset="-120"/>
                        </a:rPr>
                        <a:t>산책 대행</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EDE8DA"/>
                    </a:solidFill>
                  </a:tcPr>
                </a:tc>
                <a:tc>
                  <a:txBody>
                    <a:bodyPr/>
                    <a:lstStyle/>
                    <a:p>
                      <a:pPr indent="0" marL="0">
                        <a:buNone/>
                      </a:pPr>
                      <a:r>
                        <a:rPr lang="en-US" sz="1100" b="1" dirty="0">
                          <a:solidFill>
                            <a:srgbClr val="C6F542"/>
                          </a:solidFill>
                          <a:latin typeface="Noto Sans KR" pitchFamily="34" charset="0"/>
                          <a:ea typeface="Noto Sans KR" pitchFamily="34" charset="-122"/>
                          <a:cs typeface="Noto Sans KR" pitchFamily="34" charset="-120"/>
                        </a:rPr>
                        <a:t>반려견 러닝 (도그스하이)</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r>
              <a:tr h="457200">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파는 것</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30–60분의 시간</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b="1" dirty="0">
                          <a:solidFill>
                            <a:srgbClr val="16211A"/>
                          </a:solidFill>
                          <a:latin typeface="Noto Sans KR" pitchFamily="34" charset="0"/>
                          <a:ea typeface="Noto Sans KR" pitchFamily="34" charset="-122"/>
                          <a:cs typeface="Noto Sans KR" pitchFamily="34" charset="-120"/>
                        </a:rPr>
                        <a:t>운동 결과 — 지친 개, 좋아진 체력나이</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457200">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고객 감정</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위탁의 불안</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b="1" dirty="0">
                          <a:solidFill>
                            <a:srgbClr val="16211A"/>
                          </a:solidFill>
                          <a:latin typeface="Noto Sans KR" pitchFamily="34" charset="0"/>
                          <a:ea typeface="Noto Sans KR" pitchFamily="34" charset="-122"/>
                          <a:cs typeface="Noto Sans KR" pitchFamily="34" charset="-120"/>
                        </a:rPr>
                        <a:t>성취의 증거</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457200">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가격 앵커</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30분 13,200원 / 60분 19,800원</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b="1" dirty="0">
                          <a:solidFill>
                            <a:srgbClr val="16211A"/>
                          </a:solidFill>
                          <a:latin typeface="Noto Sans KR" pitchFamily="34" charset="0"/>
                          <a:ea typeface="Noto Sans KR" pitchFamily="34" charset="-122"/>
                          <a:cs typeface="Noto Sans KR" pitchFamily="34" charset="-120"/>
                        </a:rPr>
                        <a:t>강아지 유치원 월 50–90만원</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457200">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공급자</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펫시터 · 긱워커</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b="1" dirty="0">
                          <a:solidFill>
                            <a:srgbClr val="16211A"/>
                          </a:solidFill>
                          <a:latin typeface="Noto Sans KR" pitchFamily="34" charset="0"/>
                          <a:ea typeface="Noto Sans KR" pitchFamily="34" charset="-122"/>
                          <a:cs typeface="Noto Sans KR" pitchFamily="34" charset="-120"/>
                        </a:rPr>
                        <a:t>인증 러너 (러닝크루)</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457200">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기록</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산책 리포트</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b="1" dirty="0">
                          <a:solidFill>
                            <a:srgbClr val="16211A"/>
                          </a:solidFill>
                          <a:latin typeface="Noto Sans KR" pitchFamily="34" charset="0"/>
                          <a:ea typeface="Noto Sans KR" pitchFamily="34" charset="-122"/>
                          <a:cs typeface="Noto Sans KR" pitchFamily="34" charset="-120"/>
                        </a:rPr>
                        <a:t>페이스 · 거리 · 체력나이</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457200">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정체성</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dirty="0">
                          <a:solidFill>
                            <a:srgbClr val="16211A"/>
                          </a:solidFill>
                          <a:latin typeface="Noto Sans KR" pitchFamily="34" charset="0"/>
                          <a:ea typeface="Noto Sans KR" pitchFamily="34" charset="-122"/>
                          <a:cs typeface="Noto Sans KR" pitchFamily="34" charset="-120"/>
                        </a:rPr>
                        <a:t>돌봄</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1100" b="1" dirty="0">
                          <a:solidFill>
                            <a:srgbClr val="16211A"/>
                          </a:solidFill>
                          <a:latin typeface="Noto Sans KR" pitchFamily="34" charset="0"/>
                          <a:ea typeface="Noto Sans KR" pitchFamily="34" charset="-122"/>
                          <a:cs typeface="Noto Sans KR" pitchFamily="34" charset="-120"/>
                        </a:rPr>
                        <a:t>피트니스</a:t>
                      </a:r>
                      <a:endParaRPr lang="en-US" sz="11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bl>
          </a:graphicData>
        </a:graphic>
      </p:graphicFrame>
      <p:sp>
        <p:nvSpPr>
          <p:cNvPr id="7" name="Shape 4"/>
          <p:cNvSpPr/>
          <p:nvPr/>
        </p:nvSpPr>
        <p:spPr>
          <a:xfrm>
            <a:off x="7818120" y="1965960"/>
            <a:ext cx="3685032" cy="1371600"/>
          </a:xfrm>
          <a:prstGeom prst="rect">
            <a:avLst/>
          </a:prstGeom>
          <a:solidFill>
            <a:srgbClr val="C6F542"/>
          </a:solidFill>
          <a:ln/>
        </p:spPr>
        <p:txBody>
          <a:bodyPr/>
          <a:p/>
        </p:txBody>
      </p:sp>
      <p:sp>
        <p:nvSpPr>
          <p:cNvPr id="8" name="Text 5"/>
          <p:cNvSpPr/>
          <p:nvPr/>
        </p:nvSpPr>
        <p:spPr>
          <a:xfrm>
            <a:off x="7818120" y="1965960"/>
            <a:ext cx="3685032" cy="1371600"/>
          </a:xfrm>
          <a:prstGeom prst="rect">
            <a:avLst/>
          </a:prstGeom>
          <a:noFill/>
          <a:ln/>
        </p:spPr>
        <p:txBody>
          <a:bodyPr wrap="square" lIns="0" tIns="0" rIns="0" bIns="0" rtlCol="0" anchor="ctr"/>
          <a:lstStyle/>
          <a:p>
            <a:pPr algn="ctr" indent="0" marL="0">
              <a:buNone/>
            </a:pPr>
            <a:r>
              <a:rPr lang="en-US" sz="3000" b="1" dirty="0">
                <a:solidFill>
                  <a:srgbClr val="0F1D13"/>
                </a:solidFill>
                <a:latin typeface="Noto Sans KR" pitchFamily="34" charset="0"/>
                <a:ea typeface="Noto Sans KR" pitchFamily="34" charset="-122"/>
                <a:cs typeface="Noto Sans KR" pitchFamily="34" charset="-120"/>
              </a:rPr>
              <a:t>산책 ≠ 운동</a:t>
            </a:r>
            <a:endParaRPr lang="en-US" sz="3000" dirty="0"/>
          </a:p>
        </p:txBody>
      </p:sp>
      <p:sp>
        <p:nvSpPr>
          <p:cNvPr id="9" name="Text 6"/>
          <p:cNvSpPr/>
          <p:nvPr/>
        </p:nvSpPr>
        <p:spPr>
          <a:xfrm>
            <a:off x="7818120" y="3611880"/>
            <a:ext cx="3685032" cy="256032"/>
          </a:xfrm>
          <a:prstGeom prst="rect">
            <a:avLst/>
          </a:prstGeom>
          <a:noFill/>
          <a:ln/>
        </p:spPr>
        <p:txBody>
          <a:bodyPr wrap="square" lIns="0" tIns="0" rIns="0" bIns="0" rtlCol="0" anchor="ctr"/>
          <a:lstStyle/>
          <a:p>
            <a:pPr indent="0" marL="0">
              <a:buNone/>
            </a:pPr>
            <a:r>
              <a:rPr lang="en-US" sz="1000" b="1" spc="100" kern="0" dirty="0">
                <a:solidFill>
                  <a:srgbClr val="6E6B5E"/>
                </a:solidFill>
                <a:latin typeface="Noto Sans KR" pitchFamily="34" charset="0"/>
                <a:ea typeface="Noto Sans KR" pitchFamily="34" charset="-122"/>
                <a:cs typeface="Noto Sans KR" pitchFamily="34" charset="-120"/>
              </a:rPr>
              <a:t>가격 대화의 정답 한 줄</a:t>
            </a:r>
            <a:endParaRPr lang="en-US" sz="1000" dirty="0"/>
          </a:p>
        </p:txBody>
      </p:sp>
      <p:sp>
        <p:nvSpPr>
          <p:cNvPr id="10" name="Text 7"/>
          <p:cNvSpPr/>
          <p:nvPr/>
        </p:nvSpPr>
        <p:spPr>
          <a:xfrm>
            <a:off x="7818120" y="3931920"/>
            <a:ext cx="3685032" cy="1051560"/>
          </a:xfrm>
          <a:prstGeom prst="rect">
            <a:avLst/>
          </a:prstGeom>
          <a:noFill/>
          <a:ln/>
        </p:spPr>
        <p:txBody>
          <a:bodyPr wrap="square" lIns="0" tIns="0" rIns="0" bIns="0" rtlCol="0" anchor="t"/>
          <a:lstStyle/>
          <a:p>
            <a:pPr indent="0" marL="0">
              <a:lnSpc>
                <a:spcPct val="135000"/>
              </a:lnSpc>
              <a:buNone/>
            </a:pPr>
            <a:r>
              <a:rPr lang="en-US" sz="1200" b="1" dirty="0">
                <a:solidFill>
                  <a:srgbClr val="16211A"/>
                </a:solidFill>
                <a:latin typeface="Noto Sans KR" pitchFamily="34" charset="0"/>
                <a:ea typeface="Noto Sans KR" pitchFamily="34" charset="-122"/>
                <a:cs typeface="Noto Sans KR" pitchFamily="34" charset="-120"/>
              </a:rPr>
              <a:t>“산책 대행이랑 비교하면 조금 비쌉니다.</a:t>
            </a:r>
            <a:endParaRPr lang="en-US" sz="1200" dirty="0"/>
          </a:p>
          <a:p>
            <a:pPr indent="0" marL="0">
              <a:lnSpc>
                <a:spcPct val="135000"/>
              </a:lnSpc>
              <a:buNone/>
            </a:pPr>
            <a:r>
              <a:rPr lang="en-US" sz="1200" b="1" dirty="0">
                <a:solidFill>
                  <a:srgbClr val="16211A"/>
                </a:solidFill>
                <a:latin typeface="Noto Sans KR" pitchFamily="34" charset="0"/>
                <a:ea typeface="Noto Sans KR" pitchFamily="34" charset="-122"/>
                <a:cs typeface="Noto Sans KR" pitchFamily="34" charset="-120"/>
              </a:rPr>
              <a:t>5km 러닝 24,900원 — 산책 정가의 1.26배.</a:t>
            </a:r>
            <a:endParaRPr lang="en-US" sz="1200" dirty="0"/>
          </a:p>
          <a:p>
            <a:pPr indent="0" marL="0">
              <a:lnSpc>
                <a:spcPct val="135000"/>
              </a:lnSpc>
              <a:buNone/>
            </a:pPr>
            <a:r>
              <a:rPr lang="en-US" sz="1200" b="1" dirty="0">
                <a:solidFill>
                  <a:srgbClr val="16211A"/>
                </a:solidFill>
                <a:latin typeface="Noto Sans KR" pitchFamily="34" charset="0"/>
                <a:ea typeface="Noto Sans KR" pitchFamily="34" charset="-122"/>
                <a:cs typeface="Noto Sans KR" pitchFamily="34" charset="-120"/>
              </a:rPr>
              <a:t>강아지 유치원이랑 비교하면 훨씬 쌉니다.”</a:t>
            </a:r>
            <a:endParaRPr lang="en-US" sz="1200" dirty="0"/>
          </a:p>
        </p:txBody>
      </p:sp>
      <p:sp>
        <p:nvSpPr>
          <p:cNvPr id="11" name="Text 8"/>
          <p:cNvSpPr/>
          <p:nvPr/>
        </p:nvSpPr>
        <p:spPr>
          <a:xfrm>
            <a:off x="7818120" y="5138928"/>
            <a:ext cx="3685032" cy="685800"/>
          </a:xfrm>
          <a:prstGeom prst="rect">
            <a:avLst/>
          </a:prstGeom>
          <a:noFill/>
          <a:ln/>
        </p:spPr>
        <p:txBody>
          <a:bodyPr wrap="square" lIns="0" tIns="0" rIns="0" bIns="0" rtlCol="0" anchor="t"/>
          <a:lstStyle/>
          <a:p>
            <a:pPr indent="0" marL="0">
              <a:lnSpc>
                <a:spcPct val="135000"/>
              </a:lnSpc>
              <a:buNone/>
            </a:pPr>
            <a:r>
              <a:rPr lang="en-US" sz="1100" dirty="0">
                <a:solidFill>
                  <a:srgbClr val="6E6B5E"/>
                </a:solidFill>
                <a:latin typeface="Noto Sans KR" pitchFamily="34" charset="0"/>
                <a:ea typeface="Noto Sans KR" pitchFamily="34" charset="-122"/>
                <a:cs typeface="Noto Sans KR" pitchFamily="34" charset="-120"/>
              </a:rPr>
              <a:t>쓰는 말 — 러닝 · 페이스 · 기록 · 체력 · 크루</a:t>
            </a:r>
            <a:endParaRPr lang="en-US" sz="1100" dirty="0"/>
          </a:p>
          <a:p>
            <a:pPr indent="0" marL="0">
              <a:lnSpc>
                <a:spcPct val="135000"/>
              </a:lnSpc>
              <a:buNone/>
            </a:pPr>
            <a:r>
              <a:rPr lang="en-US" sz="1100" dirty="0">
                <a:solidFill>
                  <a:srgbClr val="6E6B5E"/>
                </a:solidFill>
                <a:latin typeface="Noto Sans KR" pitchFamily="34" charset="0"/>
                <a:ea typeface="Noto Sans KR" pitchFamily="34" charset="-122"/>
                <a:cs typeface="Noto Sans KR" pitchFamily="34" charset="-120"/>
              </a:rPr>
              <a:t>안 쓰는 말 — 산책 · 대행 · 돌봄 · 시터</a:t>
            </a:r>
            <a:endParaRPr lang="en-US" sz="1100" dirty="0"/>
          </a:p>
        </p:txBody>
      </p:sp>
      <p:sp>
        <p:nvSpPr>
          <p:cNvPr id="12" name="Text 9"/>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비포펫(beforpet.com)·와요(wayopet.com) 공식 웹사이트 직접 확인 2026-08-03. 비포펫이 광고하는 9,900원은 첫 이용 60분 반값 프로모션가이며, 정가는 30분 13,200원 / 60분 19,800원.</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왜 지금인가</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04</a:t>
            </a:r>
            <a:endParaRPr lang="en-US" sz="1000" dirty="0"/>
          </a:p>
        </p:txBody>
      </p:sp>
      <p:sp>
        <p:nvSpPr>
          <p:cNvPr id="4" name="Text 2"/>
          <p:cNvSpPr/>
          <p:nvPr/>
        </p:nvSpPr>
        <p:spPr>
          <a:xfrm>
            <a:off x="685800" y="658368"/>
            <a:ext cx="10820095" cy="594360"/>
          </a:xfrm>
          <a:prstGeom prst="rect">
            <a:avLst/>
          </a:prstGeom>
          <a:noFill/>
          <a:ln/>
        </p:spPr>
        <p:txBody>
          <a:bodyPr wrap="square" lIns="0" tIns="0" rIns="0" bIns="0" rtlCol="0" anchor="t"/>
          <a:lstStyle/>
          <a:p>
            <a:pPr indent="0" marL="0">
              <a:lnSpc>
                <a:spcPct val="118000"/>
              </a:lnSpc>
              <a:buNone/>
            </a:pPr>
            <a:r>
              <a:rPr lang="en-US" sz="2800" b="1" dirty="0">
                <a:solidFill>
                  <a:srgbClr val="16211A"/>
                </a:solidFill>
                <a:latin typeface="Noto Sans KR" pitchFamily="34" charset="0"/>
                <a:ea typeface="Noto Sans KR" pitchFamily="34" charset="-122"/>
                <a:cs typeface="Noto Sans KR" pitchFamily="34" charset="-120"/>
              </a:rPr>
              <a:t>네 개의 곡선이 2026년에 교차한다.</a:t>
            </a:r>
            <a:endParaRPr lang="en-US" sz="2800" dirty="0"/>
          </a:p>
        </p:txBody>
      </p:sp>
      <p:sp>
        <p:nvSpPr>
          <p:cNvPr id="5" name="Shape 3"/>
          <p:cNvSpPr/>
          <p:nvPr/>
        </p:nvSpPr>
        <p:spPr>
          <a:xfrm>
            <a:off x="685800" y="1783080"/>
            <a:ext cx="2551176" cy="4160520"/>
          </a:xfrm>
          <a:prstGeom prst="rect">
            <a:avLst/>
          </a:prstGeom>
          <a:solidFill>
            <a:srgbClr val="0F1D13"/>
          </a:solidFill>
          <a:ln/>
        </p:spPr>
        <p:txBody>
          <a:bodyPr/>
          <a:p/>
        </p:txBody>
      </p:sp>
      <p:sp>
        <p:nvSpPr>
          <p:cNvPr id="6" name="Text 4"/>
          <p:cNvSpPr/>
          <p:nvPr/>
        </p:nvSpPr>
        <p:spPr>
          <a:xfrm>
            <a:off x="941832" y="2039112"/>
            <a:ext cx="2011680" cy="237744"/>
          </a:xfrm>
          <a:prstGeom prst="rect">
            <a:avLst/>
          </a:prstGeom>
          <a:noFill/>
          <a:ln/>
        </p:spPr>
        <p:txBody>
          <a:bodyPr wrap="square" lIns="0" tIns="0" rIns="0" bIns="0" rtlCol="0" anchor="ctr"/>
          <a:lstStyle/>
          <a:p>
            <a:pPr indent="0" marL="0">
              <a:buNone/>
            </a:pPr>
            <a:r>
              <a:rPr lang="en-US" sz="1000" b="1" spc="150" kern="0" dirty="0">
                <a:solidFill>
                  <a:srgbClr val="C6F542"/>
                </a:solidFill>
                <a:latin typeface="Noto Sans KR" pitchFamily="34" charset="0"/>
                <a:ea typeface="Noto Sans KR" pitchFamily="34" charset="-122"/>
                <a:cs typeface="Noto Sans KR" pitchFamily="34" charset="-120"/>
              </a:rPr>
              <a:t>공급</a:t>
            </a:r>
            <a:endParaRPr lang="en-US" sz="1000" dirty="0"/>
          </a:p>
        </p:txBody>
      </p:sp>
      <p:sp>
        <p:nvSpPr>
          <p:cNvPr id="7" name="Text 5"/>
          <p:cNvSpPr/>
          <p:nvPr/>
        </p:nvSpPr>
        <p:spPr>
          <a:xfrm>
            <a:off x="941832" y="2350008"/>
            <a:ext cx="2057400" cy="777240"/>
          </a:xfrm>
          <a:prstGeom prst="rect">
            <a:avLst/>
          </a:prstGeom>
          <a:noFill/>
          <a:ln/>
        </p:spPr>
        <p:txBody>
          <a:bodyPr wrap="square" lIns="0" tIns="0" rIns="0" bIns="0" rtlCol="0" anchor="ctr"/>
          <a:lstStyle/>
          <a:p>
            <a:pPr indent="0" marL="0">
              <a:buNone/>
            </a:pPr>
            <a:r>
              <a:rPr lang="en-US" sz="3800" b="1" dirty="0">
                <a:solidFill>
                  <a:srgbClr val="C6F542"/>
                </a:solidFill>
                <a:latin typeface="Noto Sans KR" pitchFamily="34" charset="0"/>
                <a:ea typeface="Noto Sans KR" pitchFamily="34" charset="-122"/>
                <a:cs typeface="Noto Sans KR" pitchFamily="34" charset="-120"/>
              </a:rPr>
              <a:t>365만</a:t>
            </a:r>
            <a:endParaRPr lang="en-US" sz="3800" dirty="0"/>
          </a:p>
        </p:txBody>
      </p:sp>
      <p:sp>
        <p:nvSpPr>
          <p:cNvPr id="8" name="Text 6"/>
          <p:cNvSpPr/>
          <p:nvPr/>
        </p:nvSpPr>
        <p:spPr>
          <a:xfrm>
            <a:off x="941832" y="3200400"/>
            <a:ext cx="2057400" cy="2514600"/>
          </a:xfrm>
          <a:prstGeom prst="rect">
            <a:avLst/>
          </a:prstGeom>
          <a:noFill/>
          <a:ln/>
        </p:spPr>
        <p:txBody>
          <a:bodyPr wrap="square" lIns="0" tIns="0" rIns="0" bIns="0" rtlCol="0" anchor="t"/>
          <a:lstStyle/>
          <a:p>
            <a:pPr indent="0" marL="0">
              <a:lnSpc>
                <a:spcPct val="130000"/>
              </a:lnSpc>
              <a:buNone/>
            </a:pPr>
            <a:r>
              <a:rPr lang="en-US" sz="1050" dirty="0">
                <a:solidFill>
                  <a:srgbClr val="F8F6F0"/>
                </a:solidFill>
                <a:latin typeface="Noto Sans KR" pitchFamily="34" charset="0"/>
                <a:ea typeface="Noto Sans KR" pitchFamily="34" charset="-122"/>
                <a:cs typeface="Noto Sans KR" pitchFamily="34" charset="-120"/>
              </a:rPr>
              <a:t>문체부 2025 국민생활체육조사 — 10세 이상 러닝 참여율 7.5%(약 365만 명).</a:t>
            </a:r>
            <a:endParaRPr lang="en-US" sz="1050" dirty="0"/>
          </a:p>
          <a:p>
            <a:pPr indent="0" marL="0">
              <a:lnSpc>
                <a:spcPct val="130000"/>
              </a:lnSpc>
              <a:buNone/>
            </a:pPr>
            <a:endParaRPr lang="en-US" sz="1050" dirty="0"/>
          </a:p>
          <a:p>
            <a:pPr indent="0" marL="0">
              <a:lnSpc>
                <a:spcPct val="130000"/>
              </a:lnSpc>
              <a:buNone/>
            </a:pPr>
            <a:r>
              <a:rPr lang="en-US" sz="1050" dirty="0">
                <a:solidFill>
                  <a:srgbClr val="F8F6F0"/>
                </a:solidFill>
                <a:latin typeface="Noto Sans KR" pitchFamily="34" charset="0"/>
                <a:ea typeface="Noto Sans KR" pitchFamily="34" charset="-122"/>
                <a:cs typeface="Noto Sans KR" pitchFamily="34" charset="-120"/>
              </a:rPr>
              <a:t>2024년 국내 마라톤 254개 대회에 연 100만 명 이상 참가. 러닝화 시장은 2024년 단독 1조 원 돌파.</a:t>
            </a:r>
            <a:endParaRPr lang="en-US" sz="1050" dirty="0"/>
          </a:p>
          <a:p>
            <a:pPr indent="0" marL="0">
              <a:lnSpc>
                <a:spcPct val="130000"/>
              </a:lnSpc>
              <a:buNone/>
            </a:pPr>
            <a:endParaRPr lang="en-US" sz="1050" dirty="0"/>
          </a:p>
          <a:p>
            <a:pPr indent="0" marL="0">
              <a:lnSpc>
                <a:spcPct val="130000"/>
              </a:lnSpc>
              <a:buNone/>
            </a:pPr>
            <a:r>
              <a:rPr lang="en-US" sz="1050" dirty="0">
                <a:solidFill>
                  <a:srgbClr val="F8F6F0"/>
                </a:solidFill>
                <a:latin typeface="Noto Sans KR" pitchFamily="34" charset="0"/>
                <a:ea typeface="Noto Sans KR" pitchFamily="34" charset="-122"/>
                <a:cs typeface="Noto Sans KR" pitchFamily="34" charset="-120"/>
              </a:rPr>
              <a:t>“어차피 뛸 러닝에 페이가 붙는다” — 러너 공급 풀이 역대 최대다.</a:t>
            </a:r>
            <a:endParaRPr lang="en-US" sz="1050" dirty="0"/>
          </a:p>
        </p:txBody>
      </p:sp>
      <p:sp>
        <p:nvSpPr>
          <p:cNvPr id="9" name="Shape 7"/>
          <p:cNvSpPr/>
          <p:nvPr/>
        </p:nvSpPr>
        <p:spPr>
          <a:xfrm>
            <a:off x="3465576" y="1783080"/>
            <a:ext cx="2551176" cy="4160520"/>
          </a:xfrm>
          <a:prstGeom prst="rect">
            <a:avLst/>
          </a:prstGeom>
          <a:solidFill>
            <a:srgbClr val="EDE8DA"/>
          </a:solidFill>
          <a:ln/>
        </p:spPr>
        <p:txBody>
          <a:bodyPr/>
          <a:p/>
        </p:txBody>
      </p:sp>
      <p:sp>
        <p:nvSpPr>
          <p:cNvPr id="10" name="Text 8"/>
          <p:cNvSpPr/>
          <p:nvPr/>
        </p:nvSpPr>
        <p:spPr>
          <a:xfrm>
            <a:off x="3721608" y="2039112"/>
            <a:ext cx="2011680"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신뢰</a:t>
            </a:r>
            <a:endParaRPr lang="en-US" sz="1000" dirty="0"/>
          </a:p>
        </p:txBody>
      </p:sp>
      <p:sp>
        <p:nvSpPr>
          <p:cNvPr id="11" name="Text 9"/>
          <p:cNvSpPr/>
          <p:nvPr/>
        </p:nvSpPr>
        <p:spPr>
          <a:xfrm>
            <a:off x="3721608" y="2350008"/>
            <a:ext cx="2057400" cy="777240"/>
          </a:xfrm>
          <a:prstGeom prst="rect">
            <a:avLst/>
          </a:prstGeom>
          <a:noFill/>
          <a:ln/>
        </p:spPr>
        <p:txBody>
          <a:bodyPr wrap="square" lIns="0" tIns="0" rIns="0" bIns="0" rtlCol="0" anchor="ctr"/>
          <a:lstStyle/>
          <a:p>
            <a:pPr indent="0" marL="0">
              <a:buNone/>
            </a:pPr>
            <a:r>
              <a:rPr lang="en-US" sz="3800" b="1" dirty="0">
                <a:solidFill>
                  <a:srgbClr val="16211A"/>
                </a:solidFill>
                <a:latin typeface="Noto Sans KR" pitchFamily="34" charset="0"/>
                <a:ea typeface="Noto Sans KR" pitchFamily="34" charset="-122"/>
                <a:cs typeface="Noto Sans KR" pitchFamily="34" charset="-120"/>
              </a:rPr>
              <a:t>대납</a:t>
            </a:r>
            <a:endParaRPr lang="en-US" sz="3800" dirty="0"/>
          </a:p>
        </p:txBody>
      </p:sp>
      <p:sp>
        <p:nvSpPr>
          <p:cNvPr id="12" name="Text 10"/>
          <p:cNvSpPr/>
          <p:nvPr/>
        </p:nvSpPr>
        <p:spPr>
          <a:xfrm>
            <a:off x="3721608" y="3200400"/>
            <a:ext cx="2057400" cy="2514600"/>
          </a:xfrm>
          <a:prstGeom prst="rect">
            <a:avLst/>
          </a:prstGeom>
          <a:noFill/>
          <a:ln/>
        </p:spPr>
        <p:txBody>
          <a:bodyPr wrap="square" lIns="0" tIns="0" rIns="0" bIns="0" rtlCol="0" anchor="t"/>
          <a:lstStyle/>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비포펫·와요가 “앱으로 낯선 사람에게 개를 맡긴다”는 행동을 시장에 학습시키는 중.</a:t>
            </a:r>
            <a:endParaRPr lang="en-US" sz="1050" dirty="0"/>
          </a:p>
          <a:p>
            <a:pPr indent="0" marL="0">
              <a:lnSpc>
                <a:spcPct val="130000"/>
              </a:lnSpc>
              <a:buNone/>
            </a:pPr>
            <a:endParaRPr lang="en-US" sz="1050" dirty="0"/>
          </a:p>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시장 교육비를 경쟁사가 대신 내고 있다. 우리는 그 위에 프리미엄 층을 얹는다.</a:t>
            </a:r>
            <a:endParaRPr lang="en-US" sz="1050" dirty="0"/>
          </a:p>
          <a:p>
            <a:pPr indent="0" marL="0">
              <a:lnSpc>
                <a:spcPct val="130000"/>
              </a:lnSpc>
              <a:buNone/>
            </a:pPr>
            <a:endParaRPr lang="en-US" sz="1050" dirty="0"/>
          </a:p>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이 창은 자본이 들어오면 닫힌다.</a:t>
            </a:r>
            <a:endParaRPr lang="en-US" sz="1050" dirty="0"/>
          </a:p>
        </p:txBody>
      </p:sp>
      <p:sp>
        <p:nvSpPr>
          <p:cNvPr id="13" name="Shape 11"/>
          <p:cNvSpPr/>
          <p:nvPr/>
        </p:nvSpPr>
        <p:spPr>
          <a:xfrm>
            <a:off x="6245352" y="1783080"/>
            <a:ext cx="2551176" cy="4160520"/>
          </a:xfrm>
          <a:prstGeom prst="rect">
            <a:avLst/>
          </a:prstGeom>
          <a:solidFill>
            <a:srgbClr val="EDE8DA"/>
          </a:solidFill>
          <a:ln/>
        </p:spPr>
        <p:txBody>
          <a:bodyPr/>
          <a:p/>
        </p:txBody>
      </p:sp>
      <p:sp>
        <p:nvSpPr>
          <p:cNvPr id="14" name="Text 12"/>
          <p:cNvSpPr/>
          <p:nvPr/>
        </p:nvSpPr>
        <p:spPr>
          <a:xfrm>
            <a:off x="6501384" y="2039112"/>
            <a:ext cx="2011680"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수요</a:t>
            </a:r>
            <a:endParaRPr lang="en-US" sz="1000" dirty="0"/>
          </a:p>
        </p:txBody>
      </p:sp>
      <p:sp>
        <p:nvSpPr>
          <p:cNvPr id="15" name="Text 13"/>
          <p:cNvSpPr/>
          <p:nvPr/>
        </p:nvSpPr>
        <p:spPr>
          <a:xfrm>
            <a:off x="6501384" y="2350008"/>
            <a:ext cx="2057400" cy="777240"/>
          </a:xfrm>
          <a:prstGeom prst="rect">
            <a:avLst/>
          </a:prstGeom>
          <a:noFill/>
          <a:ln/>
        </p:spPr>
        <p:txBody>
          <a:bodyPr wrap="square" lIns="0" tIns="0" rIns="0" bIns="0" rtlCol="0" anchor="ctr"/>
          <a:lstStyle/>
          <a:p>
            <a:pPr indent="0" marL="0">
              <a:buNone/>
            </a:pPr>
            <a:r>
              <a:rPr lang="en-US" sz="3800" b="1" dirty="0">
                <a:solidFill>
                  <a:srgbClr val="16211A"/>
                </a:solidFill>
                <a:latin typeface="Noto Sans KR" pitchFamily="34" charset="0"/>
                <a:ea typeface="Noto Sans KR" pitchFamily="34" charset="-122"/>
                <a:cs typeface="Noto Sans KR" pitchFamily="34" charset="-120"/>
              </a:rPr>
              <a:t>+86%</a:t>
            </a:r>
            <a:endParaRPr lang="en-US" sz="3800" dirty="0"/>
          </a:p>
        </p:txBody>
      </p:sp>
      <p:sp>
        <p:nvSpPr>
          <p:cNvPr id="16" name="Text 14"/>
          <p:cNvSpPr/>
          <p:nvPr/>
        </p:nvSpPr>
        <p:spPr>
          <a:xfrm>
            <a:off x="6501384" y="3200400"/>
            <a:ext cx="2057400" cy="2514600"/>
          </a:xfrm>
          <a:prstGeom prst="rect">
            <a:avLst/>
          </a:prstGeom>
          <a:noFill/>
          <a:ln/>
        </p:spPr>
        <p:txBody>
          <a:bodyPr wrap="square" lIns="0" tIns="0" rIns="0" bIns="0" rtlCol="0" anchor="t"/>
          <a:lstStyle/>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2년간 치료비 57.7만 → 102.7만 원. 월평균 양육비 19.4만 원(+4만).</a:t>
            </a:r>
            <a:endParaRPr lang="en-US" sz="1050" dirty="0"/>
          </a:p>
          <a:p>
            <a:pPr indent="0" marL="0">
              <a:lnSpc>
                <a:spcPct val="130000"/>
              </a:lnSpc>
              <a:buNone/>
            </a:pPr>
            <a:endParaRPr lang="en-US" sz="1050" dirty="0"/>
          </a:p>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단, 반려견 마릿수는 546만으로 1.7% 감소했다. 성장은 마릿수가 아니라 마리당 지출에서 나온다.</a:t>
            </a:r>
            <a:endParaRPr lang="en-US" sz="1050" dirty="0"/>
          </a:p>
          <a:p>
            <a:pPr indent="0" marL="0">
              <a:lnSpc>
                <a:spcPct val="130000"/>
              </a:lnSpc>
              <a:buNone/>
            </a:pPr>
            <a:endParaRPr lang="en-US" sz="1050" dirty="0"/>
          </a:p>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 프리미엄 멤버십 가설의 진짜 근거.</a:t>
            </a:r>
            <a:endParaRPr lang="en-US" sz="1050" dirty="0"/>
          </a:p>
        </p:txBody>
      </p:sp>
      <p:sp>
        <p:nvSpPr>
          <p:cNvPr id="17" name="Shape 15"/>
          <p:cNvSpPr/>
          <p:nvPr/>
        </p:nvSpPr>
        <p:spPr>
          <a:xfrm>
            <a:off x="9025128" y="1783080"/>
            <a:ext cx="2551176" cy="4160520"/>
          </a:xfrm>
          <a:prstGeom prst="rect">
            <a:avLst/>
          </a:prstGeom>
          <a:solidFill>
            <a:srgbClr val="EDE8DA"/>
          </a:solidFill>
          <a:ln/>
        </p:spPr>
        <p:txBody>
          <a:bodyPr/>
          <a:p/>
        </p:txBody>
      </p:sp>
      <p:sp>
        <p:nvSpPr>
          <p:cNvPr id="18" name="Text 16"/>
          <p:cNvSpPr/>
          <p:nvPr/>
        </p:nvSpPr>
        <p:spPr>
          <a:xfrm>
            <a:off x="9281160" y="2039112"/>
            <a:ext cx="2011680"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자본</a:t>
            </a:r>
            <a:endParaRPr lang="en-US" sz="1000" dirty="0"/>
          </a:p>
        </p:txBody>
      </p:sp>
      <p:sp>
        <p:nvSpPr>
          <p:cNvPr id="19" name="Text 17"/>
          <p:cNvSpPr/>
          <p:nvPr/>
        </p:nvSpPr>
        <p:spPr>
          <a:xfrm>
            <a:off x="9281160" y="2350008"/>
            <a:ext cx="2057400" cy="777240"/>
          </a:xfrm>
          <a:prstGeom prst="rect">
            <a:avLst/>
          </a:prstGeom>
          <a:noFill/>
          <a:ln/>
        </p:spPr>
        <p:txBody>
          <a:bodyPr wrap="square" lIns="0" tIns="0" rIns="0" bIns="0" rtlCol="0" anchor="ctr"/>
          <a:lstStyle/>
          <a:p>
            <a:pPr indent="0" marL="0">
              <a:buNone/>
            </a:pPr>
            <a:r>
              <a:rPr lang="en-US" sz="3800" b="1" dirty="0">
                <a:solidFill>
                  <a:srgbClr val="16211A"/>
                </a:solidFill>
                <a:latin typeface="Noto Sans KR" pitchFamily="34" charset="0"/>
                <a:ea typeface="Noto Sans KR" pitchFamily="34" charset="-122"/>
                <a:cs typeface="Noto Sans KR" pitchFamily="34" charset="-120"/>
              </a:rPr>
              <a:t>900억</a:t>
            </a:r>
            <a:endParaRPr lang="en-US" sz="3800" dirty="0"/>
          </a:p>
        </p:txBody>
      </p:sp>
      <p:sp>
        <p:nvSpPr>
          <p:cNvPr id="20" name="Text 18"/>
          <p:cNvSpPr/>
          <p:nvPr/>
        </p:nvSpPr>
        <p:spPr>
          <a:xfrm>
            <a:off x="9281160" y="3200400"/>
            <a:ext cx="2057400" cy="2514600"/>
          </a:xfrm>
          <a:prstGeom prst="rect">
            <a:avLst/>
          </a:prstGeom>
          <a:noFill/>
          <a:ln/>
        </p:spPr>
        <p:txBody>
          <a:bodyPr wrap="square" lIns="0" tIns="0" rIns="0" bIns="0" rtlCol="0" anchor="t"/>
          <a:lstStyle/>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핏펫 누적 투자 900억(280억 브릿지 포함). 도그메이트는 2025.6 커넥팅더닷츠에 피인수.</a:t>
            </a:r>
            <a:endParaRPr lang="en-US" sz="1050" dirty="0"/>
          </a:p>
          <a:p>
            <a:pPr indent="0" marL="0">
              <a:lnSpc>
                <a:spcPct val="130000"/>
              </a:lnSpc>
              <a:buNone/>
            </a:pPr>
            <a:endParaRPr lang="en-US" sz="1050" dirty="0"/>
          </a:p>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파우치 60억 시리즈A(펫보험 전문 준비법인).</a:t>
            </a:r>
            <a:endParaRPr lang="en-US" sz="1050" dirty="0"/>
          </a:p>
          <a:p>
            <a:pPr indent="0" marL="0">
              <a:lnSpc>
                <a:spcPct val="130000"/>
              </a:lnSpc>
              <a:buNone/>
            </a:pPr>
            <a:endParaRPr lang="en-US" sz="1050" dirty="0"/>
          </a:p>
          <a:p>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산책 마켓플레이스는 소액에서 정체 — 카테고리는 비었는데 인프라와 자본은 준비됐다.</a:t>
            </a:r>
            <a:endParaRPr lang="en-US" sz="1050" dirty="0"/>
          </a:p>
        </p:txBody>
      </p:sp>
      <p:sp>
        <p:nvSpPr>
          <p:cNvPr id="21" name="Text 19"/>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문화체육관광부 「2025 국민생활체육조사」 · 유로모니터(러닝화 시장) · KB금융 「2025 한국 반려동물보고서」 · 벤처스퀘어·플래텀·ZDNet 보도(핏펫·도그메이트·파우치). 페오펫 코스닥 상장은 2024년 ‘추진 발표’만 확인되어 본 자료에서 제외함.</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제품 · 신뢰 스택</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05</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낯선 사람에게 개를 맡기는 공포는, 증거로만 풀린다.</a:t>
            </a:r>
            <a:endParaRPr lang="en-US" sz="2600" dirty="0"/>
          </a:p>
        </p:txBody>
      </p:sp>
      <p:sp>
        <p:nvSpPr>
          <p:cNvPr id="5" name="Text 3"/>
          <p:cNvSpPr/>
          <p:nvPr/>
        </p:nvSpPr>
        <p:spPr>
          <a:xfrm>
            <a:off x="685800" y="1600200"/>
            <a:ext cx="1463040" cy="292608"/>
          </a:xfrm>
          <a:prstGeom prst="rect">
            <a:avLst/>
          </a:prstGeom>
          <a:noFill/>
          <a:ln/>
        </p:spPr>
        <p:txBody>
          <a:bodyPr wrap="square" lIns="0" tIns="0" rIns="0" bIns="0" rtlCol="0" anchor="ctr"/>
          <a:lstStyle/>
          <a:p>
            <a:pPr indent="0" marL="0">
              <a:buNone/>
            </a:pPr>
            <a:r>
              <a:rPr lang="en-US" sz="1300" b="1" dirty="0">
                <a:solidFill>
                  <a:srgbClr val="16211A"/>
                </a:solidFill>
                <a:latin typeface="Noto Sans KR" pitchFamily="34" charset="0"/>
                <a:ea typeface="Noto Sans KR" pitchFamily="34" charset="-122"/>
                <a:cs typeface="Noto Sans KR" pitchFamily="34" charset="-120"/>
              </a:rPr>
              <a:t>GPS 라이브</a:t>
            </a:r>
            <a:endParaRPr lang="en-US" sz="1300" dirty="0"/>
          </a:p>
        </p:txBody>
      </p:sp>
      <p:sp>
        <p:nvSpPr>
          <p:cNvPr id="6" name="Shape 4"/>
          <p:cNvSpPr/>
          <p:nvPr/>
        </p:nvSpPr>
        <p:spPr>
          <a:xfrm>
            <a:off x="2240280" y="1636776"/>
            <a:ext cx="753831" cy="219456"/>
          </a:xfrm>
          <a:prstGeom prst="roundRect">
            <a:avLst>
              <a:gd name="adj" fmla="val 50000"/>
            </a:avLst>
          </a:prstGeom>
          <a:solidFill>
            <a:srgbClr val="C6F542"/>
          </a:solidFill>
          <a:ln w="12700">
            <a:solidFill>
              <a:srgbClr val="C6F542"/>
            </a:solidFill>
            <a:prstDash val="solid"/>
          </a:ln>
        </p:spPr>
        <p:txBody>
          <a:bodyPr/>
          <a:p/>
        </p:txBody>
      </p:sp>
      <p:sp>
        <p:nvSpPr>
          <p:cNvPr id="7" name="Text 5"/>
          <p:cNvSpPr/>
          <p:nvPr/>
        </p:nvSpPr>
        <p:spPr>
          <a:xfrm>
            <a:off x="2240280" y="1636776"/>
            <a:ext cx="753831" cy="219456"/>
          </a:xfrm>
          <a:prstGeom prst="rect">
            <a:avLst/>
          </a:prstGeom>
          <a:noFill/>
          <a:ln/>
        </p:spPr>
        <p:txBody>
          <a:bodyPr wrap="square" lIns="0" tIns="0" rIns="0" bIns="0" rtlCol="0" anchor="ctr"/>
          <a:lstStyle/>
          <a:p>
            <a:pPr algn="ctr" indent="0" marL="0">
              <a:buNone/>
            </a:pPr>
            <a:r>
              <a:rPr lang="en-US" sz="850" b="1" dirty="0">
                <a:solidFill>
                  <a:srgbClr val="0F1D13"/>
                </a:solidFill>
                <a:latin typeface="Noto Sans KR" pitchFamily="34" charset="0"/>
                <a:ea typeface="Noto Sans KR" pitchFamily="34" charset="-122"/>
                <a:cs typeface="Noto Sans KR" pitchFamily="34" charset="-120"/>
              </a:rPr>
              <a:t>구현 완료</a:t>
            </a:r>
            <a:endParaRPr lang="en-US" sz="850" dirty="0"/>
          </a:p>
        </p:txBody>
      </p:sp>
      <p:sp>
        <p:nvSpPr>
          <p:cNvPr id="8" name="Text 6"/>
          <p:cNvSpPr/>
          <p:nvPr/>
        </p:nvSpPr>
        <p:spPr>
          <a:xfrm>
            <a:off x="4389120" y="1600200"/>
            <a:ext cx="7114032" cy="54864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보호자가 실시간으로 경로와 위치를 본다. 사후 리포트가 아니라 라이브 (네이버 지도 기반).</a:t>
            </a:r>
            <a:endParaRPr lang="en-US" sz="1100" dirty="0"/>
          </a:p>
        </p:txBody>
      </p:sp>
      <p:sp>
        <p:nvSpPr>
          <p:cNvPr id="9" name="Text 7"/>
          <p:cNvSpPr/>
          <p:nvPr/>
        </p:nvSpPr>
        <p:spPr>
          <a:xfrm>
            <a:off x="685800" y="2258568"/>
            <a:ext cx="1463040" cy="292608"/>
          </a:xfrm>
          <a:prstGeom prst="rect">
            <a:avLst/>
          </a:prstGeom>
          <a:noFill/>
          <a:ln/>
        </p:spPr>
        <p:txBody>
          <a:bodyPr wrap="square" lIns="0" tIns="0" rIns="0" bIns="0" rtlCol="0" anchor="ctr"/>
          <a:lstStyle/>
          <a:p>
            <a:pPr indent="0" marL="0">
              <a:buNone/>
            </a:pPr>
            <a:r>
              <a:rPr lang="en-US" sz="1300" b="1" dirty="0">
                <a:solidFill>
                  <a:srgbClr val="16211A"/>
                </a:solidFill>
                <a:latin typeface="Noto Sans KR" pitchFamily="34" charset="0"/>
                <a:ea typeface="Noto Sans KR" pitchFamily="34" charset="-122"/>
                <a:cs typeface="Noto Sans KR" pitchFamily="34" charset="-120"/>
              </a:rPr>
              <a:t>인증 러너</a:t>
            </a:r>
            <a:endParaRPr lang="en-US" sz="1300" dirty="0"/>
          </a:p>
        </p:txBody>
      </p:sp>
      <p:sp>
        <p:nvSpPr>
          <p:cNvPr id="10" name="Shape 8"/>
          <p:cNvSpPr/>
          <p:nvPr/>
        </p:nvSpPr>
        <p:spPr>
          <a:xfrm>
            <a:off x="2240280" y="2295144"/>
            <a:ext cx="648675" cy="219456"/>
          </a:xfrm>
          <a:prstGeom prst="roundRect">
            <a:avLst>
              <a:gd name="adj" fmla="val 50000"/>
            </a:avLst>
          </a:prstGeom>
          <a:ln w="12700">
            <a:solidFill>
              <a:srgbClr val="C6F542"/>
            </a:solidFill>
            <a:prstDash val="solid"/>
          </a:ln>
        </p:spPr>
        <p:txBody>
          <a:bodyPr/>
          <a:p/>
        </p:txBody>
      </p:sp>
      <p:sp>
        <p:nvSpPr>
          <p:cNvPr id="11" name="Text 9"/>
          <p:cNvSpPr/>
          <p:nvPr/>
        </p:nvSpPr>
        <p:spPr>
          <a:xfrm>
            <a:off x="2240280" y="2295144"/>
            <a:ext cx="648675" cy="219456"/>
          </a:xfrm>
          <a:prstGeom prst="rect">
            <a:avLst/>
          </a:prstGeom>
          <a:noFill/>
          <a:ln/>
        </p:spPr>
        <p:txBody>
          <a:bodyPr wrap="square" lIns="0" tIns="0" rIns="0" bIns="0" rtlCol="0" anchor="ctr"/>
          <a:lstStyle/>
          <a:p>
            <a:pPr algn="ctr" indent="0" marL="0">
              <a:buNone/>
            </a:pPr>
            <a:r>
              <a:rPr lang="en-US" sz="850" b="1" dirty="0">
                <a:solidFill>
                  <a:srgbClr val="3F5A16"/>
                </a:solidFill>
                <a:latin typeface="Noto Sans KR" pitchFamily="34" charset="0"/>
                <a:ea typeface="Noto Sans KR" pitchFamily="34" charset="-122"/>
                <a:cs typeface="Noto Sans KR" pitchFamily="34" charset="-120"/>
              </a:rPr>
              <a:t>설계 중</a:t>
            </a:r>
            <a:endParaRPr lang="en-US" sz="850" dirty="0"/>
          </a:p>
        </p:txBody>
      </p:sp>
      <p:sp>
        <p:nvSpPr>
          <p:cNvPr id="12" name="Text 10"/>
          <p:cNvSpPr/>
          <p:nvPr/>
        </p:nvSpPr>
        <p:spPr>
          <a:xfrm>
            <a:off x="4389120" y="2258568"/>
            <a:ext cx="7114032" cy="54864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페이스 테스트 + 개 핸들링 온보딩 + 신원인증을 통과해야 뛴다. 합격률을 공개하는 것 자체가 브랜드.</a:t>
            </a:r>
            <a:endParaRPr lang="en-US" sz="1100" dirty="0"/>
          </a:p>
        </p:txBody>
      </p:sp>
      <p:sp>
        <p:nvSpPr>
          <p:cNvPr id="13" name="Text 11"/>
          <p:cNvSpPr/>
          <p:nvPr/>
        </p:nvSpPr>
        <p:spPr>
          <a:xfrm>
            <a:off x="685800" y="2916936"/>
            <a:ext cx="1463040" cy="292608"/>
          </a:xfrm>
          <a:prstGeom prst="rect">
            <a:avLst/>
          </a:prstGeom>
          <a:noFill/>
          <a:ln/>
        </p:spPr>
        <p:txBody>
          <a:bodyPr wrap="square" lIns="0" tIns="0" rIns="0" bIns="0" rtlCol="0" anchor="ctr"/>
          <a:lstStyle/>
          <a:p>
            <a:pPr indent="0" marL="0">
              <a:buNone/>
            </a:pPr>
            <a:r>
              <a:rPr lang="en-US" sz="1300" b="1" dirty="0">
                <a:solidFill>
                  <a:srgbClr val="16211A"/>
                </a:solidFill>
                <a:latin typeface="Noto Sans KR" pitchFamily="34" charset="0"/>
                <a:ea typeface="Noto Sans KR" pitchFamily="34" charset="-122"/>
                <a:cs typeface="Noto Sans KR" pitchFamily="34" charset="-120"/>
              </a:rPr>
              <a:t>체력나이</a:t>
            </a:r>
            <a:endParaRPr lang="en-US" sz="1300" dirty="0"/>
          </a:p>
        </p:txBody>
      </p:sp>
      <p:sp>
        <p:nvSpPr>
          <p:cNvPr id="14" name="Shape 12"/>
          <p:cNvSpPr/>
          <p:nvPr/>
        </p:nvSpPr>
        <p:spPr>
          <a:xfrm>
            <a:off x="2240280" y="2953512"/>
            <a:ext cx="648675" cy="219456"/>
          </a:xfrm>
          <a:prstGeom prst="roundRect">
            <a:avLst>
              <a:gd name="adj" fmla="val 50000"/>
            </a:avLst>
          </a:prstGeom>
          <a:ln w="12700">
            <a:solidFill>
              <a:srgbClr val="C6F542"/>
            </a:solidFill>
            <a:prstDash val="solid"/>
          </a:ln>
        </p:spPr>
        <p:txBody>
          <a:bodyPr/>
          <a:p/>
        </p:txBody>
      </p:sp>
      <p:sp>
        <p:nvSpPr>
          <p:cNvPr id="15" name="Text 13"/>
          <p:cNvSpPr/>
          <p:nvPr/>
        </p:nvSpPr>
        <p:spPr>
          <a:xfrm>
            <a:off x="2240280" y="2953512"/>
            <a:ext cx="648675" cy="219456"/>
          </a:xfrm>
          <a:prstGeom prst="rect">
            <a:avLst/>
          </a:prstGeom>
          <a:noFill/>
          <a:ln/>
        </p:spPr>
        <p:txBody>
          <a:bodyPr wrap="square" lIns="0" tIns="0" rIns="0" bIns="0" rtlCol="0" anchor="ctr"/>
          <a:lstStyle/>
          <a:p>
            <a:pPr algn="ctr" indent="0" marL="0">
              <a:buNone/>
            </a:pPr>
            <a:r>
              <a:rPr lang="en-US" sz="850" b="1" dirty="0">
                <a:solidFill>
                  <a:srgbClr val="3F5A16"/>
                </a:solidFill>
                <a:latin typeface="Noto Sans KR" pitchFamily="34" charset="0"/>
                <a:ea typeface="Noto Sans KR" pitchFamily="34" charset="-122"/>
                <a:cs typeface="Noto Sans KR" pitchFamily="34" charset="-120"/>
              </a:rPr>
              <a:t>설계 중</a:t>
            </a:r>
            <a:endParaRPr lang="en-US" sz="850" dirty="0"/>
          </a:p>
        </p:txBody>
      </p:sp>
      <p:sp>
        <p:nvSpPr>
          <p:cNvPr id="16" name="Text 14"/>
          <p:cNvSpPr/>
          <p:nvPr/>
        </p:nvSpPr>
        <p:spPr>
          <a:xfrm>
            <a:off x="4389120" y="2916936"/>
            <a:ext cx="7114032" cy="54864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누적 거리·페이스·회복 데이터로 산출하는 우리만의 출력값. 공유 카드 자동 생성 → 신뢰 장치이자 바이럴 루프.</a:t>
            </a:r>
            <a:endParaRPr lang="en-US" sz="1100" dirty="0"/>
          </a:p>
        </p:txBody>
      </p:sp>
      <p:sp>
        <p:nvSpPr>
          <p:cNvPr id="17" name="Text 15"/>
          <p:cNvSpPr/>
          <p:nvPr/>
        </p:nvSpPr>
        <p:spPr>
          <a:xfrm>
            <a:off x="685800" y="3575304"/>
            <a:ext cx="1463040" cy="292608"/>
          </a:xfrm>
          <a:prstGeom prst="rect">
            <a:avLst/>
          </a:prstGeom>
          <a:noFill/>
          <a:ln/>
        </p:spPr>
        <p:txBody>
          <a:bodyPr wrap="square" lIns="0" tIns="0" rIns="0" bIns="0" rtlCol="0" anchor="ctr"/>
          <a:lstStyle/>
          <a:p>
            <a:pPr indent="0" marL="0">
              <a:buNone/>
            </a:pPr>
            <a:r>
              <a:rPr lang="en-US" sz="1300" b="1" dirty="0">
                <a:solidFill>
                  <a:srgbClr val="16211A"/>
                </a:solidFill>
                <a:latin typeface="Noto Sans KR" pitchFamily="34" charset="0"/>
                <a:ea typeface="Noto Sans KR" pitchFamily="34" charset="-122"/>
                <a:cs typeface="Noto Sans KR" pitchFamily="34" charset="-120"/>
              </a:rPr>
              <a:t>보험</a:t>
            </a:r>
            <a:endParaRPr lang="en-US" sz="1300" dirty="0"/>
          </a:p>
        </p:txBody>
      </p:sp>
      <p:sp>
        <p:nvSpPr>
          <p:cNvPr id="18" name="Shape 16"/>
          <p:cNvSpPr/>
          <p:nvPr/>
        </p:nvSpPr>
        <p:spPr>
          <a:xfrm>
            <a:off x="2240280" y="3611880"/>
            <a:ext cx="976762" cy="219456"/>
          </a:xfrm>
          <a:prstGeom prst="roundRect">
            <a:avLst>
              <a:gd name="adj" fmla="val 50000"/>
            </a:avLst>
          </a:prstGeom>
          <a:ln w="12700">
            <a:solidFill>
              <a:srgbClr val="FF5C3D"/>
            </a:solidFill>
            <a:prstDash val="solid"/>
          </a:ln>
        </p:spPr>
        <p:txBody>
          <a:bodyPr/>
          <a:p/>
        </p:txBody>
      </p:sp>
      <p:sp>
        <p:nvSpPr>
          <p:cNvPr id="19" name="Text 17"/>
          <p:cNvSpPr/>
          <p:nvPr/>
        </p:nvSpPr>
        <p:spPr>
          <a:xfrm>
            <a:off x="2240280" y="3611880"/>
            <a:ext cx="976762" cy="219456"/>
          </a:xfrm>
          <a:prstGeom prst="rect">
            <a:avLst/>
          </a:prstGeom>
          <a:noFill/>
          <a:ln/>
        </p:spPr>
        <p:txBody>
          <a:bodyPr wrap="square" lIns="0" tIns="0" rIns="0" bIns="0" rtlCol="0" anchor="ctr"/>
          <a:lstStyle/>
          <a:p>
            <a:pPr algn="ctr" indent="0" marL="0">
              <a:buNone/>
            </a:pPr>
            <a:r>
              <a:rPr lang="en-US" sz="850" b="1" dirty="0">
                <a:solidFill>
                  <a:srgbClr val="FF5C3D"/>
                </a:solidFill>
                <a:latin typeface="Noto Sans KR" pitchFamily="34" charset="0"/>
                <a:ea typeface="Noto Sans KR" pitchFamily="34" charset="-122"/>
                <a:cs typeface="Noto Sans KR" pitchFamily="34" charset="-120"/>
              </a:rPr>
              <a:t>가설 · 미계약</a:t>
            </a:r>
            <a:endParaRPr lang="en-US" sz="850" dirty="0"/>
          </a:p>
        </p:txBody>
      </p:sp>
      <p:sp>
        <p:nvSpPr>
          <p:cNvPr id="20" name="Text 18"/>
          <p:cNvSpPr/>
          <p:nvPr/>
        </p:nvSpPr>
        <p:spPr>
          <a:xfrm>
            <a:off x="4389120" y="3575304"/>
            <a:ext cx="7114032" cy="54864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모든 러닝에 사고 보상을 기본 포함하는 구조로 설계 중. 보험사 계약 전이므로 “제공한다”고 쓰지 않는다.</a:t>
            </a:r>
            <a:endParaRPr lang="en-US" sz="1100" dirty="0"/>
          </a:p>
        </p:txBody>
      </p:sp>
      <p:sp>
        <p:nvSpPr>
          <p:cNvPr id="21" name="Text 19"/>
          <p:cNvSpPr/>
          <p:nvPr/>
        </p:nvSpPr>
        <p:spPr>
          <a:xfrm>
            <a:off x="685800" y="4233672"/>
            <a:ext cx="1463040" cy="292608"/>
          </a:xfrm>
          <a:prstGeom prst="rect">
            <a:avLst/>
          </a:prstGeom>
          <a:noFill/>
          <a:ln/>
        </p:spPr>
        <p:txBody>
          <a:bodyPr wrap="square" lIns="0" tIns="0" rIns="0" bIns="0" rtlCol="0" anchor="ctr"/>
          <a:lstStyle/>
          <a:p>
            <a:pPr indent="0" marL="0">
              <a:buNone/>
            </a:pPr>
            <a:r>
              <a:rPr lang="en-US" sz="1300" b="1" dirty="0">
                <a:solidFill>
                  <a:srgbClr val="16211A"/>
                </a:solidFill>
                <a:latin typeface="Noto Sans KR" pitchFamily="34" charset="0"/>
                <a:ea typeface="Noto Sans KR" pitchFamily="34" charset="-122"/>
                <a:cs typeface="Noto Sans KR" pitchFamily="34" charset="-120"/>
              </a:rPr>
              <a:t>바디캠</a:t>
            </a:r>
            <a:endParaRPr lang="en-US" sz="1300" dirty="0"/>
          </a:p>
        </p:txBody>
      </p:sp>
      <p:sp>
        <p:nvSpPr>
          <p:cNvPr id="22" name="Shape 20"/>
          <p:cNvSpPr/>
          <p:nvPr/>
        </p:nvSpPr>
        <p:spPr>
          <a:xfrm>
            <a:off x="2240280" y="4270248"/>
            <a:ext cx="1081918" cy="219456"/>
          </a:xfrm>
          <a:prstGeom prst="roundRect">
            <a:avLst>
              <a:gd name="adj" fmla="val 50000"/>
            </a:avLst>
          </a:prstGeom>
          <a:ln w="12700">
            <a:solidFill>
              <a:srgbClr val="DCD6C4"/>
            </a:solidFill>
            <a:prstDash val="solid"/>
          </a:ln>
        </p:spPr>
        <p:txBody>
          <a:bodyPr/>
          <a:p/>
        </p:txBody>
      </p:sp>
      <p:sp>
        <p:nvSpPr>
          <p:cNvPr id="23" name="Text 21"/>
          <p:cNvSpPr/>
          <p:nvPr/>
        </p:nvSpPr>
        <p:spPr>
          <a:xfrm>
            <a:off x="2240280" y="4270248"/>
            <a:ext cx="1081918" cy="219456"/>
          </a:xfrm>
          <a:prstGeom prst="rect">
            <a:avLst/>
          </a:prstGeom>
          <a:noFill/>
          <a:ln/>
        </p:spPr>
        <p:txBody>
          <a:bodyPr wrap="square" lIns="0" tIns="0" rIns="0" bIns="0" rtlCol="0" anchor="ctr"/>
          <a:lstStyle/>
          <a:p>
            <a:pPr algn="ctr" indent="0" marL="0">
              <a:buNone/>
            </a:pPr>
            <a:r>
              <a:rPr lang="en-US" sz="850" b="1" dirty="0">
                <a:solidFill>
                  <a:srgbClr val="6E6B5E"/>
                </a:solidFill>
                <a:latin typeface="Noto Sans KR" pitchFamily="34" charset="0"/>
                <a:ea typeface="Noto Sans KR" pitchFamily="34" charset="-122"/>
                <a:cs typeface="Noto Sans KR" pitchFamily="34" charset="-120"/>
              </a:rPr>
              <a:t>로드맵 · 미구현</a:t>
            </a:r>
            <a:endParaRPr lang="en-US" sz="850" dirty="0"/>
          </a:p>
        </p:txBody>
      </p:sp>
      <p:sp>
        <p:nvSpPr>
          <p:cNvPr id="24" name="Text 22"/>
          <p:cNvSpPr/>
          <p:nvPr/>
        </p:nvSpPr>
        <p:spPr>
          <a:xfrm>
            <a:off x="4389120" y="4233672"/>
            <a:ext cx="7114032" cy="54864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개 시점 영상. 아직 만들지 않았다. 라이브 트래킹 고도화와 함께 다음 단계.</a:t>
            </a:r>
            <a:endParaRPr lang="en-US" sz="1100" dirty="0"/>
          </a:p>
        </p:txBody>
      </p:sp>
      <p:sp>
        <p:nvSpPr>
          <p:cNvPr id="25" name="Text 23"/>
          <p:cNvSpPr/>
          <p:nvPr/>
        </p:nvSpPr>
        <p:spPr>
          <a:xfrm>
            <a:off x="685800" y="4956048"/>
            <a:ext cx="6263640" cy="960120"/>
          </a:xfrm>
          <a:prstGeom prst="rect">
            <a:avLst/>
          </a:prstGeom>
          <a:noFill/>
          <a:ln/>
        </p:spPr>
        <p:txBody>
          <a:bodyPr wrap="square" lIns="0" tIns="0" rIns="0" bIns="0" rtlCol="0" anchor="t"/>
          <a:lstStyle/>
          <a:p>
            <a:pPr indent="0" marL="0">
              <a:lnSpc>
                <a:spcPct val="130000"/>
              </a:lnSpc>
              <a:buNone/>
            </a:pPr>
            <a:r>
              <a:rPr lang="en-US" sz="1100" dirty="0">
                <a:solidFill>
                  <a:srgbClr val="6E6B5E"/>
                </a:solidFill>
                <a:latin typeface="Noto Sans KR" pitchFamily="34" charset="0"/>
                <a:ea typeface="Noto Sans KR" pitchFamily="34" charset="-122"/>
                <a:cs typeface="Noto Sans KR" pitchFamily="34" charset="-120"/>
              </a:rPr>
              <a:t>GPS와 리포트는 이미 업계 표준이다 — 신뢰 스택은 차별점이 아니라 입장료로 본다. 진짜 차별은 러닝 특화 레이어(견종·연령별 운동 강도 프로토콜, 체감온도 안전 규칙, 회복 리포트)이고, 아직 아무도 만들지 않았다.</a:t>
            </a:r>
            <a:endParaRPr lang="en-US" sz="1100" dirty="0"/>
          </a:p>
        </p:txBody>
      </p:sp>
      <p:sp>
        <p:nvSpPr>
          <p:cNvPr id="26" name="Shape 24"/>
          <p:cNvSpPr/>
          <p:nvPr/>
        </p:nvSpPr>
        <p:spPr>
          <a:xfrm>
            <a:off x="7178040" y="4800600"/>
            <a:ext cx="4325112" cy="1325880"/>
          </a:xfrm>
          <a:prstGeom prst="rect">
            <a:avLst/>
          </a:prstGeom>
          <a:solidFill>
            <a:srgbClr val="0F1D13"/>
          </a:solidFill>
          <a:ln/>
        </p:spPr>
        <p:txBody>
          <a:bodyPr/>
          <a:p/>
        </p:txBody>
      </p:sp>
      <p:sp>
        <p:nvSpPr>
          <p:cNvPr id="27" name="Text 25"/>
          <p:cNvSpPr/>
          <p:nvPr/>
        </p:nvSpPr>
        <p:spPr>
          <a:xfrm>
            <a:off x="7452360" y="4956048"/>
            <a:ext cx="3776472" cy="1005840"/>
          </a:xfrm>
          <a:prstGeom prst="rect">
            <a:avLst/>
          </a:prstGeom>
          <a:noFill/>
          <a:ln/>
        </p:spPr>
        <p:txBody>
          <a:bodyPr wrap="square" lIns="0" tIns="0" rIns="0" bIns="0" rtlCol="0" anchor="t"/>
          <a:lstStyle/>
          <a:p>
            <a:pPr indent="0" marL="0">
              <a:lnSpc>
                <a:spcPct val="125000"/>
              </a:lnSpc>
              <a:buNone/>
            </a:pPr>
            <a:r>
              <a:rPr lang="en-US" sz="1000" b="1" dirty="0">
                <a:solidFill>
                  <a:srgbClr val="C6F542"/>
                </a:solidFill>
                <a:latin typeface="Noto Sans KR" pitchFamily="34" charset="0"/>
                <a:ea typeface="Noto Sans KR" pitchFamily="34" charset="-122"/>
                <a:cs typeface="Noto Sans KR" pitchFamily="34" charset="-120"/>
              </a:rPr>
              <a:t>펫보험 — 두 지표는 다르다.  </a:t>
            </a:r>
            <a:pPr indent="0" marL="0">
              <a:lnSpc>
                <a:spcPct val="125000"/>
              </a:lnSpc>
              <a:buNone/>
            </a:pPr>
            <a:r>
              <a:rPr lang="en-US" sz="1000" dirty="0">
                <a:solidFill>
                  <a:srgbClr val="F8F6F0"/>
                </a:solidFill>
                <a:latin typeface="Noto Sans KR" pitchFamily="34" charset="0"/>
                <a:ea typeface="Noto Sans KR" pitchFamily="34" charset="-122"/>
                <a:cs typeface="Noto Sans KR" pitchFamily="34" charset="-120"/>
              </a:rPr>
              <a:t>가구 기준 가입률 12.8%(KB금융 2025 설문) / 마릿수 기준 침투율 1%대(2026.2). 스웨덴 40%·영국 25%·일본 6%. 러닝에 보험을 기본 번들하는 구조 자체가 마케팅 자산이 된다.</a:t>
            </a:r>
            <a:endParaRPr lang="en-US" sz="1000" dirty="0"/>
          </a:p>
        </p:txBody>
      </p:sp>
      <p:sp>
        <p:nvSpPr>
          <p:cNvPr id="28" name="Text 26"/>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KB금융 「2025 한국 반려동물보고서」(가구 기준 가입률) · 뉴데일리 2026-02-11(마릿수 기준 침투율·국제 비교). 보험 번들은 미계약 상태의 설계 가설임.</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D13"/>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C6F542"/>
                </a:solidFill>
                <a:latin typeface="Noto Sans KR" pitchFamily="34" charset="0"/>
                <a:ea typeface="Noto Sans KR" pitchFamily="34" charset="-122"/>
                <a:cs typeface="Noto Sans KR" pitchFamily="34" charset="-120"/>
              </a:rPr>
              <a:t>지금 어디까지 왔나</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3E5142"/>
                </a:solidFill>
                <a:latin typeface="Noto Sans KR" pitchFamily="34" charset="0"/>
                <a:ea typeface="Noto Sans KR" pitchFamily="34" charset="-122"/>
                <a:cs typeface="Noto Sans KR" pitchFamily="34" charset="-120"/>
              </a:rPr>
              <a:t>06</a:t>
            </a:r>
            <a:endParaRPr lang="en-US" sz="1000" dirty="0"/>
          </a:p>
        </p:txBody>
      </p:sp>
      <p:sp>
        <p:nvSpPr>
          <p:cNvPr id="4" name="Text 2"/>
          <p:cNvSpPr/>
          <p:nvPr/>
        </p:nvSpPr>
        <p:spPr>
          <a:xfrm>
            <a:off x="685800" y="658368"/>
            <a:ext cx="10820095" cy="1234440"/>
          </a:xfrm>
          <a:prstGeom prst="rect">
            <a:avLst/>
          </a:prstGeom>
          <a:noFill/>
          <a:ln/>
        </p:spPr>
        <p:txBody>
          <a:bodyPr wrap="square" lIns="0" tIns="0" rIns="0" bIns="0" rtlCol="0" anchor="t"/>
          <a:lstStyle/>
          <a:p>
            <a:pPr indent="0" marL="0">
              <a:lnSpc>
                <a:spcPct val="118000"/>
              </a:lnSpc>
              <a:buNone/>
            </a:pPr>
            <a:r>
              <a:rPr lang="en-US" sz="3000" b="1" dirty="0">
                <a:solidFill>
                  <a:srgbClr val="F8F6F0"/>
                </a:solidFill>
                <a:latin typeface="Noto Sans KR" pitchFamily="34" charset="0"/>
                <a:ea typeface="Noto Sans KR" pitchFamily="34" charset="-122"/>
                <a:cs typeface="Noto Sans KR" pitchFamily="34" charset="-120"/>
              </a:rPr>
              <a:t>유료 고객은 0명입니다.</a:t>
            </a:r>
            <a:endParaRPr lang="en-US" sz="3000" dirty="0"/>
          </a:p>
          <a:p>
            <a:pPr indent="0" marL="0">
              <a:lnSpc>
                <a:spcPct val="118000"/>
              </a:lnSpc>
              <a:buNone/>
            </a:pPr>
            <a:r>
              <a:rPr lang="en-US" sz="3000" b="1" dirty="0">
                <a:solidFill>
                  <a:srgbClr val="F8F6F0"/>
                </a:solidFill>
                <a:latin typeface="Noto Sans KR" pitchFamily="34" charset="0"/>
                <a:ea typeface="Noto Sans KR" pitchFamily="34" charset="-122"/>
                <a:cs typeface="Noto Sans KR" pitchFamily="34" charset="-120"/>
              </a:rPr>
              <a:t>대신 제품은 이미 돌아갑니다.</a:t>
            </a:r>
            <a:endParaRPr lang="en-US" sz="3000" dirty="0"/>
          </a:p>
        </p:txBody>
      </p:sp>
      <p:sp>
        <p:nvSpPr>
          <p:cNvPr id="5" name="Shape 3"/>
          <p:cNvSpPr/>
          <p:nvPr/>
        </p:nvSpPr>
        <p:spPr>
          <a:xfrm>
            <a:off x="685800" y="2029968"/>
            <a:ext cx="3420588" cy="219456"/>
          </a:xfrm>
          <a:prstGeom prst="roundRect">
            <a:avLst>
              <a:gd name="adj" fmla="val 50000"/>
            </a:avLst>
          </a:prstGeom>
          <a:solidFill>
            <a:srgbClr val="C6F542"/>
          </a:solidFill>
          <a:ln w="12700">
            <a:solidFill>
              <a:srgbClr val="C6F542"/>
            </a:solidFill>
            <a:prstDash val="solid"/>
          </a:ln>
        </p:spPr>
        <p:txBody>
          <a:bodyPr/>
          <a:p/>
        </p:txBody>
      </p:sp>
      <p:sp>
        <p:nvSpPr>
          <p:cNvPr id="6" name="Text 4"/>
          <p:cNvSpPr/>
          <p:nvPr/>
        </p:nvSpPr>
        <p:spPr>
          <a:xfrm>
            <a:off x="685800" y="2029968"/>
            <a:ext cx="3420588" cy="219456"/>
          </a:xfrm>
          <a:prstGeom prst="rect">
            <a:avLst/>
          </a:prstGeom>
          <a:noFill/>
          <a:ln/>
        </p:spPr>
        <p:txBody>
          <a:bodyPr wrap="square" lIns="0" tIns="0" rIns="0" bIns="0" rtlCol="0" anchor="ctr"/>
          <a:lstStyle/>
          <a:p>
            <a:pPr algn="ctr" indent="0" marL="0">
              <a:buNone/>
            </a:pPr>
            <a:r>
              <a:rPr lang="en-US" sz="850" b="1" dirty="0">
                <a:solidFill>
                  <a:srgbClr val="0F1D13"/>
                </a:solidFill>
                <a:latin typeface="Noto Sans KR" pitchFamily="34" charset="0"/>
                <a:ea typeface="Noto Sans KR" pitchFamily="34" charset="-122"/>
                <a:cs typeface="Noto Sans KR" pitchFamily="34" charset="-120"/>
              </a:rPr>
              <a:t>PRE-LAUNCH · 유료 고객 0 · 매출 0 · 결제 현재 목업(mock)</a:t>
            </a:r>
            <a:endParaRPr lang="en-US" sz="850" dirty="0"/>
          </a:p>
        </p:txBody>
      </p:sp>
      <p:sp>
        <p:nvSpPr>
          <p:cNvPr id="7" name="Text 5"/>
          <p:cNvSpPr/>
          <p:nvPr/>
        </p:nvSpPr>
        <p:spPr>
          <a:xfrm>
            <a:off x="685800" y="2606040"/>
            <a:ext cx="5120640" cy="274320"/>
          </a:xfrm>
          <a:prstGeom prst="rect">
            <a:avLst/>
          </a:prstGeom>
          <a:noFill/>
          <a:ln/>
        </p:spPr>
        <p:txBody>
          <a:bodyPr wrap="square" lIns="0" tIns="0" rIns="0" bIns="0" rtlCol="0" anchor="ctr"/>
          <a:lstStyle/>
          <a:p>
            <a:pPr indent="0" marL="0">
              <a:buNone/>
            </a:pPr>
            <a:r>
              <a:rPr lang="en-US" sz="1100" b="1" spc="150" kern="0" dirty="0">
                <a:solidFill>
                  <a:srgbClr val="C6F542"/>
                </a:solidFill>
                <a:latin typeface="Noto Sans KR" pitchFamily="34" charset="0"/>
                <a:ea typeface="Noto Sans KR" pitchFamily="34" charset="-122"/>
                <a:cs typeface="Noto Sans KR" pitchFamily="34" charset="-120"/>
              </a:rPr>
              <a:t>만들어진 것</a:t>
            </a:r>
            <a:endParaRPr lang="en-US" sz="1100" dirty="0"/>
          </a:p>
        </p:txBody>
      </p:sp>
      <p:sp>
        <p:nvSpPr>
          <p:cNvPr id="8" name="Text 6"/>
          <p:cNvSpPr/>
          <p:nvPr/>
        </p:nvSpPr>
        <p:spPr>
          <a:xfrm>
            <a:off x="685800" y="2971800"/>
            <a:ext cx="5120640" cy="2651760"/>
          </a:xfrm>
          <a:prstGeom prst="rect">
            <a:avLst/>
          </a:prstGeom>
          <a:noFill/>
          <a:ln/>
        </p:spPr>
        <p:txBody>
          <a:bodyPr wrap="square" lIns="0" tIns="0" rIns="0" bIns="0" rtlCol="0" anchor="t"/>
          <a:lstStyle/>
          <a:p>
            <a:pPr marL="342900" indent="-342900">
              <a:lnSpc>
                <a:spcPct val="130000"/>
              </a:lnSpc>
              <a:spcAft>
                <a:spcPts val="800"/>
              </a:spcAft>
              <a:buSzPct val="100000"/>
              <a:buChar char="✓"/>
            </a:pPr>
            <a:r>
              <a:rPr lang="en-US" sz="1150" dirty="0">
                <a:solidFill>
                  <a:srgbClr val="F8F6F0"/>
                </a:solidFill>
                <a:latin typeface="Noto Sans KR" pitchFamily="34" charset="0"/>
                <a:ea typeface="Noto Sans KR" pitchFamily="34" charset="-122"/>
                <a:cs typeface="Noto Sans KR" pitchFamily="34" charset="-120"/>
              </a:rPr>
              <a:t>iOS 앱 (React Native/Expo + Supabase) — 보호자·러너 양방향 플로우</a:t>
            </a:r>
            <a:endParaRPr lang="en-US" sz="1150" dirty="0"/>
          </a:p>
          <a:p>
            <a:pPr marL="342900" indent="-342900">
              <a:lnSpc>
                <a:spcPct val="130000"/>
              </a:lnSpc>
              <a:spcAft>
                <a:spcPts val="800"/>
              </a:spcAft>
              <a:buSzPct val="100000"/>
              <a:buChar char="✓"/>
            </a:pPr>
            <a:r>
              <a:rPr lang="en-US" sz="1150" dirty="0">
                <a:solidFill>
                  <a:srgbClr val="F8F6F0"/>
                </a:solidFill>
                <a:latin typeface="Noto Sans KR" pitchFamily="34" charset="0"/>
                <a:ea typeface="Noto Sans KR" pitchFamily="34" charset="-122"/>
                <a:cs typeface="Noto Sans KR" pitchFamily="34" charset="-120"/>
              </a:rPr>
              <a:t>실시간 GPS 러닝 추적 · 러닝 리포트</a:t>
            </a:r>
            <a:endParaRPr lang="en-US" sz="1150" dirty="0"/>
          </a:p>
          <a:p>
            <a:pPr marL="342900" indent="-342900">
              <a:lnSpc>
                <a:spcPct val="130000"/>
              </a:lnSpc>
              <a:spcAft>
                <a:spcPts val="800"/>
              </a:spcAft>
              <a:buSzPct val="100000"/>
              <a:buChar char="✓"/>
            </a:pPr>
            <a:r>
              <a:rPr lang="en-US" sz="1150" dirty="0">
                <a:solidFill>
                  <a:srgbClr val="F8F6F0"/>
                </a:solidFill>
                <a:latin typeface="Noto Sans KR" pitchFamily="34" charset="0"/>
                <a:ea typeface="Noto Sans KR" pitchFamily="34" charset="-122"/>
                <a:cs typeface="Noto Sans KR" pitchFamily="34" charset="-120"/>
              </a:rPr>
              <a:t>반복 예약 · 정산 원장 · 포인트 시스템</a:t>
            </a:r>
            <a:endParaRPr lang="en-US" sz="1150" dirty="0"/>
          </a:p>
          <a:p>
            <a:pPr marL="342900" indent="-342900">
              <a:lnSpc>
                <a:spcPct val="130000"/>
              </a:lnSpc>
              <a:spcAft>
                <a:spcPts val="800"/>
              </a:spcAft>
              <a:buSzPct val="100000"/>
              <a:buChar char="✓"/>
            </a:pPr>
            <a:r>
              <a:rPr lang="en-US" sz="1150" dirty="0">
                <a:solidFill>
                  <a:srgbClr val="F8F6F0"/>
                </a:solidFill>
                <a:latin typeface="Noto Sans KR" pitchFamily="34" charset="0"/>
                <a:ea typeface="Noto Sans KR" pitchFamily="34" charset="-122"/>
                <a:cs typeface="Noto Sans KR" pitchFamily="34" charset="-120"/>
              </a:rPr>
              <a:t>인증샷 공유 스튜디오 · 푸시 알림 + 딥링크</a:t>
            </a:r>
            <a:endParaRPr lang="en-US" sz="1150" dirty="0"/>
          </a:p>
          <a:p>
            <a:pPr marL="342900" indent="-342900">
              <a:lnSpc>
                <a:spcPct val="130000"/>
              </a:lnSpc>
              <a:spcAft>
                <a:spcPts val="800"/>
              </a:spcAft>
              <a:buSzPct val="100000"/>
              <a:buChar char="✓"/>
            </a:pPr>
            <a:r>
              <a:rPr lang="en-US" sz="1150" dirty="0">
                <a:solidFill>
                  <a:srgbClr val="F8F6F0"/>
                </a:solidFill>
                <a:latin typeface="Noto Sans KR" pitchFamily="34" charset="0"/>
                <a:ea typeface="Noto Sans KR" pitchFamily="34" charset="-122"/>
                <a:cs typeface="Noto Sans KR" pitchFamily="34" charset="-120"/>
              </a:rPr>
              <a:t>하이클럽(그룹 러닝) 백엔드 — 클럽/정기시리즈/세션/RSVP/책임자 불변식, 위탁런까지 설계·구현 완료</a:t>
            </a:r>
            <a:endParaRPr lang="en-US" sz="1150" dirty="0"/>
          </a:p>
          <a:p>
            <a:pPr marL="342900" indent="-342900">
              <a:lnSpc>
                <a:spcPct val="130000"/>
              </a:lnSpc>
              <a:spcAft>
                <a:spcPts val="800"/>
              </a:spcAft>
              <a:buSzPct val="100000"/>
              <a:buChar char="✓"/>
            </a:pPr>
            <a:r>
              <a:rPr lang="en-US" sz="1150" dirty="0">
                <a:solidFill>
                  <a:srgbClr val="F8F6F0"/>
                </a:solidFill>
                <a:latin typeface="Noto Sans KR" pitchFamily="34" charset="0"/>
                <a:ea typeface="Noto Sans KR" pitchFamily="34" charset="-122"/>
                <a:cs typeface="Noto Sans KR" pitchFamily="34" charset="-120"/>
              </a:rPr>
              <a:t>자체 테스트 하네스 통과 (SQL 46건 + 지오 23건) — 하네스 통과 없이 마이그레이션 배포 안 함</a:t>
            </a:r>
            <a:endParaRPr lang="en-US" sz="1150" dirty="0"/>
          </a:p>
        </p:txBody>
      </p:sp>
      <p:sp>
        <p:nvSpPr>
          <p:cNvPr id="9" name="Text 7"/>
          <p:cNvSpPr/>
          <p:nvPr/>
        </p:nvSpPr>
        <p:spPr>
          <a:xfrm>
            <a:off x="6355080" y="2606040"/>
            <a:ext cx="5148072" cy="274320"/>
          </a:xfrm>
          <a:prstGeom prst="rect">
            <a:avLst/>
          </a:prstGeom>
          <a:noFill/>
          <a:ln/>
        </p:spPr>
        <p:txBody>
          <a:bodyPr wrap="square" lIns="0" tIns="0" rIns="0" bIns="0" rtlCol="0" anchor="ctr"/>
          <a:lstStyle/>
          <a:p>
            <a:pPr indent="0" marL="0">
              <a:buNone/>
            </a:pPr>
            <a:r>
              <a:rPr lang="en-US" sz="1100" b="1" spc="150" kern="0" dirty="0">
                <a:solidFill>
                  <a:srgbClr val="9FAE9C"/>
                </a:solidFill>
                <a:latin typeface="Noto Sans KR" pitchFamily="34" charset="0"/>
                <a:ea typeface="Noto Sans KR" pitchFamily="34" charset="-122"/>
                <a:cs typeface="Noto Sans KR" pitchFamily="34" charset="-120"/>
              </a:rPr>
              <a:t>남은 것</a:t>
            </a:r>
            <a:endParaRPr lang="en-US" sz="1100" dirty="0"/>
          </a:p>
        </p:txBody>
      </p:sp>
      <p:sp>
        <p:nvSpPr>
          <p:cNvPr id="10" name="Text 8"/>
          <p:cNvSpPr/>
          <p:nvPr/>
        </p:nvSpPr>
        <p:spPr>
          <a:xfrm>
            <a:off x="6355080" y="2971800"/>
            <a:ext cx="5148072" cy="1371600"/>
          </a:xfrm>
          <a:prstGeom prst="rect">
            <a:avLst/>
          </a:prstGeom>
          <a:noFill/>
          <a:ln/>
        </p:spPr>
        <p:txBody>
          <a:bodyPr wrap="square" lIns="0" tIns="0" rIns="0" bIns="0" rtlCol="0" anchor="t"/>
          <a:lstStyle/>
          <a:p>
            <a:pPr marL="342900" indent="-342900">
              <a:lnSpc>
                <a:spcPct val="130000"/>
              </a:lnSpc>
              <a:spcAft>
                <a:spcPts val="800"/>
              </a:spcAft>
              <a:buSzPct val="100000"/>
              <a:buChar char="○"/>
            </a:pPr>
            <a:r>
              <a:rPr lang="en-US" sz="1150" dirty="0">
                <a:solidFill>
                  <a:srgbClr val="8FA091"/>
                </a:solidFill>
                <a:latin typeface="Noto Sans KR" pitchFamily="34" charset="0"/>
                <a:ea typeface="Noto Sans KR" pitchFamily="34" charset="-122"/>
                <a:cs typeface="Noto Sans KR" pitchFamily="34" charset="-120"/>
              </a:rPr>
              <a:t>PG 실연동 — 런칭의 마지막 관문</a:t>
            </a:r>
            <a:endParaRPr lang="en-US" sz="1150" dirty="0"/>
          </a:p>
          <a:p>
            <a:pPr marL="342900" indent="-342900">
              <a:lnSpc>
                <a:spcPct val="130000"/>
              </a:lnSpc>
              <a:spcAft>
                <a:spcPts val="800"/>
              </a:spcAft>
              <a:buSzPct val="100000"/>
              <a:buChar char="○"/>
            </a:pPr>
            <a:r>
              <a:rPr lang="en-US" sz="1150" dirty="0">
                <a:solidFill>
                  <a:srgbClr val="8FA091"/>
                </a:solidFill>
                <a:latin typeface="Noto Sans KR" pitchFamily="34" charset="0"/>
                <a:ea typeface="Noto Sans KR" pitchFamily="34" charset="-122"/>
                <a:cs typeface="Noto Sans KR" pitchFamily="34" charset="-120"/>
              </a:rPr>
              <a:t>러너 심사·인증 플로우</a:t>
            </a:r>
            <a:endParaRPr lang="en-US" sz="1150" dirty="0"/>
          </a:p>
          <a:p>
            <a:pPr marL="342900" indent="-342900">
              <a:lnSpc>
                <a:spcPct val="130000"/>
              </a:lnSpc>
              <a:spcAft>
                <a:spcPts val="800"/>
              </a:spcAft>
              <a:buSzPct val="100000"/>
              <a:buChar char="○"/>
            </a:pPr>
            <a:r>
              <a:rPr lang="en-US" sz="1150" dirty="0">
                <a:solidFill>
                  <a:srgbClr val="8FA091"/>
                </a:solidFill>
                <a:latin typeface="Noto Sans KR" pitchFamily="34" charset="0"/>
                <a:ea typeface="Noto Sans KR" pitchFamily="34" charset="-122"/>
                <a:cs typeface="Noto Sans KR" pitchFamily="34" charset="-120"/>
              </a:rPr>
              <a:t>보험사 계약</a:t>
            </a:r>
            <a:endParaRPr lang="en-US" sz="1150" dirty="0"/>
          </a:p>
          <a:p>
            <a:pPr marL="342900" indent="-342900">
              <a:lnSpc>
                <a:spcPct val="130000"/>
              </a:lnSpc>
              <a:spcAft>
                <a:spcPts val="800"/>
              </a:spcAft>
              <a:buSzPct val="100000"/>
              <a:buChar char="○"/>
            </a:pPr>
            <a:r>
              <a:rPr lang="en-US" sz="1150" dirty="0">
                <a:solidFill>
                  <a:srgbClr val="8FA091"/>
                </a:solidFill>
                <a:latin typeface="Noto Sans KR" pitchFamily="34" charset="0"/>
                <a:ea typeface="Noto Sans KR" pitchFamily="34" charset="-122"/>
                <a:cs typeface="Noto Sans KR" pitchFamily="34" charset="-120"/>
              </a:rPr>
              <a:t>바디캠</a:t>
            </a:r>
            <a:endParaRPr lang="en-US" sz="1150" dirty="0"/>
          </a:p>
        </p:txBody>
      </p:sp>
      <p:sp>
        <p:nvSpPr>
          <p:cNvPr id="11" name="Shape 9"/>
          <p:cNvSpPr/>
          <p:nvPr/>
        </p:nvSpPr>
        <p:spPr>
          <a:xfrm>
            <a:off x="6355080" y="4572000"/>
            <a:ext cx="5148072" cy="1463040"/>
          </a:xfrm>
          <a:prstGeom prst="rect">
            <a:avLst/>
          </a:prstGeom>
          <a:solidFill>
            <a:srgbClr val="23372A"/>
          </a:solidFill>
          <a:ln/>
        </p:spPr>
        <p:txBody>
          <a:bodyPr/>
          <a:p/>
        </p:txBody>
      </p:sp>
      <p:sp>
        <p:nvSpPr>
          <p:cNvPr id="12" name="Text 10"/>
          <p:cNvSpPr/>
          <p:nvPr/>
        </p:nvSpPr>
        <p:spPr>
          <a:xfrm>
            <a:off x="6629400" y="4773168"/>
            <a:ext cx="4599432" cy="1097280"/>
          </a:xfrm>
          <a:prstGeom prst="rect">
            <a:avLst/>
          </a:prstGeom>
          <a:noFill/>
          <a:ln/>
        </p:spPr>
        <p:txBody>
          <a:bodyPr wrap="square" lIns="0" tIns="0" rIns="0" bIns="0" rtlCol="0" anchor="t"/>
          <a:lstStyle/>
          <a:p>
            <a:pPr indent="0" marL="0">
              <a:lnSpc>
                <a:spcPct val="135000"/>
              </a:lnSpc>
              <a:buNone/>
            </a:pPr>
            <a:r>
              <a:rPr lang="en-US" sz="1150" b="1" dirty="0">
                <a:solidFill>
                  <a:srgbClr val="C6F542"/>
                </a:solidFill>
                <a:latin typeface="Noto Sans KR" pitchFamily="34" charset="0"/>
                <a:ea typeface="Noto Sans KR" pitchFamily="34" charset="-122"/>
                <a:cs typeface="Noto Sans KR" pitchFamily="34" charset="-120"/>
              </a:rPr>
              <a:t>단독 창업자가 외주 0으로 여기까지 왔다는 것이 지금 시점의 유일한 실행력 증거입니다.</a:t>
            </a:r>
            <a:endParaRPr lang="en-US" sz="1150" dirty="0"/>
          </a:p>
          <a:p>
            <a:pPr indent="0" marL="0">
              <a:lnSpc>
                <a:spcPct val="135000"/>
              </a:lnSpc>
              <a:buNone/>
            </a:pPr>
            <a:r>
              <a:rPr lang="en-US" sz="1150" b="1" dirty="0">
                <a:solidFill>
                  <a:srgbClr val="C6F542"/>
                </a:solidFill>
                <a:latin typeface="Noto Sans KR" pitchFamily="34" charset="0"/>
                <a:ea typeface="Noto Sans KR" pitchFamily="34" charset="-122"/>
                <a:cs typeface="Noto Sans KR" pitchFamily="34" charset="-120"/>
              </a:rPr>
              <a:t>그래서 이번 투자금은 “만들기”가 아니라 “런칭과 밀도 확보”에 쓰입니다.</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비즈니스 모델</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07</a:t>
            </a:r>
            <a:endParaRPr lang="en-US" sz="1000" dirty="0"/>
          </a:p>
        </p:txBody>
      </p:sp>
      <p:sp>
        <p:nvSpPr>
          <p:cNvPr id="4" name="Text 2"/>
          <p:cNvSpPr/>
          <p:nvPr/>
        </p:nvSpPr>
        <p:spPr>
          <a:xfrm>
            <a:off x="685800" y="658368"/>
            <a:ext cx="10820095" cy="1051560"/>
          </a:xfrm>
          <a:prstGeom prst="rect">
            <a:avLst/>
          </a:prstGeom>
          <a:noFill/>
          <a:ln/>
        </p:spPr>
        <p:txBody>
          <a:bodyPr wrap="square" lIns="0" tIns="0" rIns="0" bIns="0" rtlCol="0" anchor="t"/>
          <a:lstStyle/>
          <a:p>
            <a:pPr indent="0" marL="0">
              <a:lnSpc>
                <a:spcPct val="118000"/>
              </a:lnSpc>
              <a:buNone/>
            </a:pPr>
            <a:r>
              <a:rPr lang="en-US" sz="2500" b="1" dirty="0">
                <a:solidFill>
                  <a:srgbClr val="16211A"/>
                </a:solidFill>
                <a:latin typeface="Noto Sans KR" pitchFamily="34" charset="0"/>
                <a:ea typeface="Noto Sans KR" pitchFamily="34" charset="-122"/>
                <a:cs typeface="Noto Sans KR" pitchFamily="34" charset="-120"/>
              </a:rPr>
              <a:t>Wag는 죽었고 Rover는 23억 달러에 팔렸다.</a:t>
            </a:r>
            <a:endParaRPr lang="en-US" sz="2500" dirty="0"/>
          </a:p>
          <a:p>
            <a:pPr indent="0" marL="0">
              <a:lnSpc>
                <a:spcPct val="118000"/>
              </a:lnSpc>
              <a:buNone/>
            </a:pPr>
            <a:r>
              <a:rPr lang="en-US" sz="2500" b="1" dirty="0">
                <a:solidFill>
                  <a:srgbClr val="16211A"/>
                </a:solidFill>
                <a:latin typeface="Noto Sans KR" pitchFamily="34" charset="0"/>
                <a:ea typeface="Noto Sans KR" pitchFamily="34" charset="-122"/>
                <a:cs typeface="Noto Sans KR" pitchFamily="34" charset="-120"/>
              </a:rPr>
              <a:t>우리는 Rover의 경제학을 택한다.</a:t>
            </a:r>
            <a:endParaRPr lang="en-US" sz="2500" dirty="0"/>
          </a:p>
        </p:txBody>
      </p:sp>
      <p:sp>
        <p:nvSpPr>
          <p:cNvPr id="5" name="Shape 3"/>
          <p:cNvSpPr/>
          <p:nvPr/>
        </p:nvSpPr>
        <p:spPr>
          <a:xfrm>
            <a:off x="685800" y="1874520"/>
            <a:ext cx="5303520" cy="1874520"/>
          </a:xfrm>
          <a:prstGeom prst="rect">
            <a:avLst/>
          </a:prstGeom>
          <a:solidFill>
            <a:srgbClr val="EDE8DA"/>
          </a:solidFill>
          <a:ln/>
        </p:spPr>
        <p:txBody>
          <a:bodyPr/>
          <a:p/>
        </p:txBody>
      </p:sp>
      <p:sp>
        <p:nvSpPr>
          <p:cNvPr id="6" name="Text 4"/>
          <p:cNvSpPr/>
          <p:nvPr/>
        </p:nvSpPr>
        <p:spPr>
          <a:xfrm>
            <a:off x="941832" y="2057400"/>
            <a:ext cx="4791456" cy="274320"/>
          </a:xfrm>
          <a:prstGeom prst="rect">
            <a:avLst/>
          </a:prstGeom>
          <a:noFill/>
          <a:ln/>
        </p:spPr>
        <p:txBody>
          <a:bodyPr wrap="square" lIns="0" tIns="0" rIns="0" bIns="0" rtlCol="0" anchor="ctr"/>
          <a:lstStyle/>
          <a:p>
            <a:pPr indent="0" marL="0">
              <a:buNone/>
            </a:pPr>
            <a:r>
              <a:rPr lang="en-US" sz="1250" b="1" dirty="0">
                <a:solidFill>
                  <a:srgbClr val="FF5C3D"/>
                </a:solidFill>
                <a:latin typeface="Noto Sans KR" pitchFamily="34" charset="0"/>
                <a:ea typeface="Noto Sans KR" pitchFamily="34" charset="-122"/>
                <a:cs typeface="Noto Sans KR" pitchFamily="34" charset="-120"/>
              </a:rPr>
              <a:t>Wag!  —  저단가 · 온디맨드 · 산책 중심</a:t>
            </a:r>
            <a:endParaRPr lang="en-US" sz="1250" dirty="0"/>
          </a:p>
        </p:txBody>
      </p:sp>
      <p:sp>
        <p:nvSpPr>
          <p:cNvPr id="7" name="Text 5"/>
          <p:cNvSpPr/>
          <p:nvPr/>
        </p:nvSpPr>
        <p:spPr>
          <a:xfrm>
            <a:off x="941832" y="2395728"/>
            <a:ext cx="4791456" cy="1143000"/>
          </a:xfrm>
          <a:prstGeom prst="rect">
            <a:avLst/>
          </a:prstGeom>
          <a:noFill/>
          <a:ln/>
        </p:spPr>
        <p:txBody>
          <a:bodyPr wrap="square" lIns="0" tIns="0" rIns="0" bIns="0" rtlCol="0" anchor="t"/>
          <a:lstStyle/>
          <a:p>
            <a:pPr indent="0" marL="0">
              <a:lnSpc>
                <a:spcPct val="130000"/>
              </a:lnSpc>
              <a:buNone/>
            </a:pPr>
            <a:r>
              <a:rPr lang="en-US" sz="1100" dirty="0">
                <a:solidFill>
                  <a:srgbClr val="16211A"/>
                </a:solidFill>
                <a:latin typeface="Noto Sans KR" pitchFamily="34" charset="0"/>
                <a:ea typeface="Noto Sans KR" pitchFamily="34" charset="-122"/>
                <a:cs typeface="Noto Sans KR" pitchFamily="34" charset="-120"/>
              </a:rPr>
              <a:t>2022–2024년 3개년 누적 순손실 6,950만 달러 (2024년 매출 7,050만 달러). 2025.7.21 챕터11 신청 → 9.1 회생계획 발효 → 9.25 종결. 기존 보통주·워런트는 전액 소각됐다.</a:t>
            </a:r>
            <a:endParaRPr lang="en-US" sz="1100" dirty="0"/>
          </a:p>
        </p:txBody>
      </p:sp>
      <p:sp>
        <p:nvSpPr>
          <p:cNvPr id="8" name="Shape 6"/>
          <p:cNvSpPr/>
          <p:nvPr/>
        </p:nvSpPr>
        <p:spPr>
          <a:xfrm>
            <a:off x="6199632" y="1874520"/>
            <a:ext cx="5303520" cy="1874520"/>
          </a:xfrm>
          <a:prstGeom prst="rect">
            <a:avLst/>
          </a:prstGeom>
          <a:solidFill>
            <a:srgbClr val="0F1D13"/>
          </a:solidFill>
          <a:ln/>
        </p:spPr>
        <p:txBody>
          <a:bodyPr/>
          <a:p/>
        </p:txBody>
      </p:sp>
      <p:sp>
        <p:nvSpPr>
          <p:cNvPr id="9" name="Text 7"/>
          <p:cNvSpPr/>
          <p:nvPr/>
        </p:nvSpPr>
        <p:spPr>
          <a:xfrm>
            <a:off x="6455664" y="2057400"/>
            <a:ext cx="4791456" cy="274320"/>
          </a:xfrm>
          <a:prstGeom prst="rect">
            <a:avLst/>
          </a:prstGeom>
          <a:noFill/>
          <a:ln/>
        </p:spPr>
        <p:txBody>
          <a:bodyPr wrap="square" lIns="0" tIns="0" rIns="0" bIns="0" rtlCol="0" anchor="ctr"/>
          <a:lstStyle/>
          <a:p>
            <a:pPr indent="0" marL="0">
              <a:buNone/>
            </a:pPr>
            <a:r>
              <a:rPr lang="en-US" sz="1250" b="1" dirty="0">
                <a:solidFill>
                  <a:srgbClr val="C6F542"/>
                </a:solidFill>
                <a:latin typeface="Noto Sans KR" pitchFamily="34" charset="0"/>
                <a:ea typeface="Noto Sans KR" pitchFamily="34" charset="-122"/>
                <a:cs typeface="Noto Sans KR" pitchFamily="34" charset="-120"/>
              </a:rPr>
              <a:t>Rover  —  고단가 · 반복 구매 · 보딩/시팅 중심</a:t>
            </a:r>
            <a:endParaRPr lang="en-US" sz="1250" dirty="0"/>
          </a:p>
        </p:txBody>
      </p:sp>
      <p:sp>
        <p:nvSpPr>
          <p:cNvPr id="10" name="Text 8"/>
          <p:cNvSpPr/>
          <p:nvPr/>
        </p:nvSpPr>
        <p:spPr>
          <a:xfrm>
            <a:off x="6455664" y="2395728"/>
            <a:ext cx="4791456" cy="1143000"/>
          </a:xfrm>
          <a:prstGeom prst="rect">
            <a:avLst/>
          </a:prstGeom>
          <a:noFill/>
          <a:ln/>
        </p:spPr>
        <p:txBody>
          <a:bodyPr wrap="square" lIns="0" tIns="0" rIns="0" bIns="0" rtlCol="0" anchor="t"/>
          <a:lstStyle/>
          <a:p>
            <a:pPr indent="0" marL="0">
              <a:lnSpc>
                <a:spcPct val="130000"/>
              </a:lnSpc>
              <a:buNone/>
            </a:pPr>
            <a:r>
              <a:rPr lang="en-US" sz="1100" dirty="0">
                <a:solidFill>
                  <a:srgbClr val="F8F6F0"/>
                </a:solidFill>
                <a:latin typeface="Noto Sans KR" pitchFamily="34" charset="0"/>
                <a:ea typeface="Noto Sans KR" pitchFamily="34" charset="-122"/>
                <a:cs typeface="Noto Sans KR" pitchFamily="34" charset="-120"/>
              </a:rPr>
              <a:t>2024.2.27 블랙스톤이 23억 달러 전액 현금으로 인수. 2026.3에는 자격 검증된 트레이너 기반 ‘도그 트레이닝’을 전국 출시했다 — 인증 기반 고단가 인접 서비스로의 확장. 그런데도 러닝 상품은 여전히 없다.</a:t>
            </a:r>
            <a:endParaRPr lang="en-US" sz="1100" dirty="0"/>
          </a:p>
        </p:txBody>
      </p:sp>
      <p:sp>
        <p:nvSpPr>
          <p:cNvPr id="11" name="Text 9"/>
          <p:cNvSpPr/>
          <p:nvPr/>
        </p:nvSpPr>
        <p:spPr>
          <a:xfrm>
            <a:off x="685800" y="3950208"/>
            <a:ext cx="5486400" cy="274320"/>
          </a:xfrm>
          <a:prstGeom prst="rect">
            <a:avLst/>
          </a:prstGeom>
          <a:noFill/>
          <a:ln/>
        </p:spPr>
        <p:txBody>
          <a:bodyPr wrap="square" lIns="0" tIns="0" rIns="0" bIns="0" rtlCol="0" anchor="ctr"/>
          <a:lstStyle/>
          <a:p>
            <a:pPr indent="0" marL="0">
              <a:buNone/>
            </a:pPr>
            <a:r>
              <a:rPr lang="en-US" sz="1100" b="1" spc="150" kern="0" dirty="0">
                <a:solidFill>
                  <a:srgbClr val="6E6B5E"/>
                </a:solidFill>
                <a:latin typeface="Noto Sans KR" pitchFamily="34" charset="0"/>
                <a:ea typeface="Noto Sans KR" pitchFamily="34" charset="-122"/>
                <a:cs typeface="Noto Sans KR" pitchFamily="34" charset="-120"/>
              </a:rPr>
              <a:t>그래서 우리는 1일차부터 멤버십 주도</a:t>
            </a:r>
            <a:endParaRPr lang="en-US" sz="1100" dirty="0"/>
          </a:p>
        </p:txBody>
      </p:sp>
      <p:sp>
        <p:nvSpPr>
          <p:cNvPr id="12" name="Text 10"/>
          <p:cNvSpPr/>
          <p:nvPr/>
        </p:nvSpPr>
        <p:spPr>
          <a:xfrm>
            <a:off x="685800" y="4315968"/>
            <a:ext cx="1600200" cy="274320"/>
          </a:xfrm>
          <a:prstGeom prst="rect">
            <a:avLst/>
          </a:prstGeom>
          <a:noFill/>
          <a:ln/>
        </p:spPr>
        <p:txBody>
          <a:bodyPr wrap="square" lIns="0" tIns="0" rIns="0" bIns="0" rtlCol="0" anchor="ctr"/>
          <a:lstStyle/>
          <a:p>
            <a:pPr indent="0" marL="0">
              <a:buNone/>
            </a:pPr>
            <a:r>
              <a:rPr lang="en-US" sz="1200" b="1" dirty="0">
                <a:solidFill>
                  <a:srgbClr val="16211A"/>
                </a:solidFill>
                <a:latin typeface="Noto Sans KR" pitchFamily="34" charset="0"/>
                <a:ea typeface="Noto Sans KR" pitchFamily="34" charset="-122"/>
                <a:cs typeface="Noto Sans KR" pitchFamily="34" charset="-120"/>
              </a:rPr>
              <a:t>멤버십 (주력)</a:t>
            </a:r>
            <a:endParaRPr lang="en-US" sz="1200" dirty="0"/>
          </a:p>
        </p:txBody>
      </p:sp>
      <p:sp>
        <p:nvSpPr>
          <p:cNvPr id="13" name="Shape 11"/>
          <p:cNvSpPr/>
          <p:nvPr/>
        </p:nvSpPr>
        <p:spPr>
          <a:xfrm>
            <a:off x="2377440" y="4343400"/>
            <a:ext cx="548640" cy="219456"/>
          </a:xfrm>
          <a:prstGeom prst="roundRect">
            <a:avLst>
              <a:gd name="adj" fmla="val 50000"/>
            </a:avLst>
          </a:prstGeom>
          <a:ln w="12700">
            <a:solidFill>
              <a:srgbClr val="C6F542"/>
            </a:solidFill>
            <a:prstDash val="solid"/>
          </a:ln>
        </p:spPr>
        <p:txBody>
          <a:bodyPr/>
          <a:p/>
        </p:txBody>
      </p:sp>
      <p:sp>
        <p:nvSpPr>
          <p:cNvPr id="14" name="Text 12"/>
          <p:cNvSpPr/>
          <p:nvPr/>
        </p:nvSpPr>
        <p:spPr>
          <a:xfrm>
            <a:off x="2377440" y="4343400"/>
            <a:ext cx="548640" cy="219456"/>
          </a:xfrm>
          <a:prstGeom prst="rect">
            <a:avLst/>
          </a:prstGeom>
          <a:noFill/>
          <a:ln/>
        </p:spPr>
        <p:txBody>
          <a:bodyPr wrap="square" lIns="0" tIns="0" rIns="0" bIns="0" rtlCol="0" anchor="ctr"/>
          <a:lstStyle/>
          <a:p>
            <a:pPr algn="ctr" indent="0" marL="0">
              <a:buNone/>
            </a:pPr>
            <a:r>
              <a:rPr lang="en-US" sz="850" b="1" dirty="0">
                <a:solidFill>
                  <a:srgbClr val="3F5A16"/>
                </a:solidFill>
                <a:latin typeface="Noto Sans KR" pitchFamily="34" charset="0"/>
                <a:ea typeface="Noto Sans KR" pitchFamily="34" charset="-122"/>
                <a:cs typeface="Noto Sans KR" pitchFamily="34" charset="-120"/>
              </a:rPr>
              <a:t>가설</a:t>
            </a:r>
            <a:endParaRPr lang="en-US" sz="850" dirty="0"/>
          </a:p>
        </p:txBody>
      </p:sp>
      <p:sp>
        <p:nvSpPr>
          <p:cNvPr id="15" name="Text 13"/>
          <p:cNvSpPr/>
          <p:nvPr/>
        </p:nvSpPr>
        <p:spPr>
          <a:xfrm>
            <a:off x="3566160" y="4315968"/>
            <a:ext cx="7936992" cy="50292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주 2–3회 정기 러닝 · 월 ₩199–299k</a:t>
            </a:r>
            <a:endParaRPr lang="en-US" sz="1100" dirty="0"/>
          </a:p>
        </p:txBody>
      </p:sp>
      <p:sp>
        <p:nvSpPr>
          <p:cNvPr id="16" name="Text 14"/>
          <p:cNvSpPr/>
          <p:nvPr/>
        </p:nvSpPr>
        <p:spPr>
          <a:xfrm>
            <a:off x="685800" y="4882896"/>
            <a:ext cx="1600200" cy="274320"/>
          </a:xfrm>
          <a:prstGeom prst="rect">
            <a:avLst/>
          </a:prstGeom>
          <a:noFill/>
          <a:ln/>
        </p:spPr>
        <p:txBody>
          <a:bodyPr wrap="square" lIns="0" tIns="0" rIns="0" bIns="0" rtlCol="0" anchor="ctr"/>
          <a:lstStyle/>
          <a:p>
            <a:pPr indent="0" marL="0">
              <a:buNone/>
            </a:pPr>
            <a:r>
              <a:rPr lang="en-US" sz="1200" b="1" dirty="0">
                <a:solidFill>
                  <a:srgbClr val="16211A"/>
                </a:solidFill>
                <a:latin typeface="Noto Sans KR" pitchFamily="34" charset="0"/>
                <a:ea typeface="Noto Sans KR" pitchFamily="34" charset="-122"/>
                <a:cs typeface="Noto Sans KR" pitchFamily="34" charset="-120"/>
              </a:rPr>
              <a:t>단건</a:t>
            </a:r>
            <a:endParaRPr lang="en-US" sz="1200" dirty="0"/>
          </a:p>
        </p:txBody>
      </p:sp>
      <p:sp>
        <p:nvSpPr>
          <p:cNvPr id="17" name="Shape 15"/>
          <p:cNvSpPr/>
          <p:nvPr/>
        </p:nvSpPr>
        <p:spPr>
          <a:xfrm>
            <a:off x="2377440" y="4910328"/>
            <a:ext cx="548640" cy="219456"/>
          </a:xfrm>
          <a:prstGeom prst="roundRect">
            <a:avLst>
              <a:gd name="adj" fmla="val 50000"/>
            </a:avLst>
          </a:prstGeom>
          <a:ln w="12700">
            <a:solidFill>
              <a:srgbClr val="C6F542"/>
            </a:solidFill>
            <a:prstDash val="solid"/>
          </a:ln>
        </p:spPr>
        <p:txBody>
          <a:bodyPr/>
          <a:p/>
        </p:txBody>
      </p:sp>
      <p:sp>
        <p:nvSpPr>
          <p:cNvPr id="18" name="Text 16"/>
          <p:cNvSpPr/>
          <p:nvPr/>
        </p:nvSpPr>
        <p:spPr>
          <a:xfrm>
            <a:off x="2377440" y="4910328"/>
            <a:ext cx="548640" cy="219456"/>
          </a:xfrm>
          <a:prstGeom prst="rect">
            <a:avLst/>
          </a:prstGeom>
          <a:noFill/>
          <a:ln/>
        </p:spPr>
        <p:txBody>
          <a:bodyPr wrap="square" lIns="0" tIns="0" rIns="0" bIns="0" rtlCol="0" anchor="ctr"/>
          <a:lstStyle/>
          <a:p>
            <a:pPr algn="ctr" indent="0" marL="0">
              <a:buNone/>
            </a:pPr>
            <a:r>
              <a:rPr lang="en-US" sz="850" b="1" dirty="0">
                <a:solidFill>
                  <a:srgbClr val="3F5A16"/>
                </a:solidFill>
                <a:latin typeface="Noto Sans KR" pitchFamily="34" charset="0"/>
                <a:ea typeface="Noto Sans KR" pitchFamily="34" charset="-122"/>
                <a:cs typeface="Noto Sans KR" pitchFamily="34" charset="-120"/>
              </a:rPr>
              <a:t>가설</a:t>
            </a:r>
            <a:endParaRPr lang="en-US" sz="850" dirty="0"/>
          </a:p>
        </p:txBody>
      </p:sp>
      <p:sp>
        <p:nvSpPr>
          <p:cNvPr id="19" name="Text 17"/>
          <p:cNvSpPr/>
          <p:nvPr/>
        </p:nvSpPr>
        <p:spPr>
          <a:xfrm>
            <a:off x="3566160" y="4882896"/>
            <a:ext cx="7936992" cy="50292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회당 9,900원 + km당 3,000원 (5km = 24,900원) — 산책 60분 정가 19,800원의 1.26배</a:t>
            </a:r>
            <a:endParaRPr lang="en-US" sz="1100" dirty="0"/>
          </a:p>
        </p:txBody>
      </p:sp>
      <p:sp>
        <p:nvSpPr>
          <p:cNvPr id="20" name="Text 18"/>
          <p:cNvSpPr/>
          <p:nvPr/>
        </p:nvSpPr>
        <p:spPr>
          <a:xfrm>
            <a:off x="685800" y="5449824"/>
            <a:ext cx="1600200" cy="274320"/>
          </a:xfrm>
          <a:prstGeom prst="rect">
            <a:avLst/>
          </a:prstGeom>
          <a:noFill/>
          <a:ln/>
        </p:spPr>
        <p:txBody>
          <a:bodyPr wrap="square" lIns="0" tIns="0" rIns="0" bIns="0" rtlCol="0" anchor="ctr"/>
          <a:lstStyle/>
          <a:p>
            <a:pPr indent="0" marL="0">
              <a:buNone/>
            </a:pPr>
            <a:r>
              <a:rPr lang="en-US" sz="1200" b="1" dirty="0">
                <a:solidFill>
                  <a:srgbClr val="16211A"/>
                </a:solidFill>
                <a:latin typeface="Noto Sans KR" pitchFamily="34" charset="0"/>
                <a:ea typeface="Noto Sans KR" pitchFamily="34" charset="-122"/>
                <a:cs typeface="Noto Sans KR" pitchFamily="34" charset="-120"/>
              </a:rPr>
              <a:t>부가 레이어</a:t>
            </a:r>
            <a:endParaRPr lang="en-US" sz="1200" dirty="0"/>
          </a:p>
        </p:txBody>
      </p:sp>
      <p:sp>
        <p:nvSpPr>
          <p:cNvPr id="21" name="Shape 19"/>
          <p:cNvSpPr/>
          <p:nvPr/>
        </p:nvSpPr>
        <p:spPr>
          <a:xfrm>
            <a:off x="2377440" y="5477256"/>
            <a:ext cx="589788" cy="219456"/>
          </a:xfrm>
          <a:prstGeom prst="roundRect">
            <a:avLst>
              <a:gd name="adj" fmla="val 50000"/>
            </a:avLst>
          </a:prstGeom>
          <a:ln w="12700">
            <a:solidFill>
              <a:srgbClr val="DCD6C4"/>
            </a:solidFill>
            <a:prstDash val="solid"/>
          </a:ln>
        </p:spPr>
        <p:txBody>
          <a:bodyPr/>
          <a:p/>
        </p:txBody>
      </p:sp>
      <p:sp>
        <p:nvSpPr>
          <p:cNvPr id="22" name="Text 20"/>
          <p:cNvSpPr/>
          <p:nvPr/>
        </p:nvSpPr>
        <p:spPr>
          <a:xfrm>
            <a:off x="2377440" y="5477256"/>
            <a:ext cx="589788" cy="219456"/>
          </a:xfrm>
          <a:prstGeom prst="rect">
            <a:avLst/>
          </a:prstGeom>
          <a:noFill/>
          <a:ln/>
        </p:spPr>
        <p:txBody>
          <a:bodyPr wrap="square" lIns="0" tIns="0" rIns="0" bIns="0" rtlCol="0" anchor="ctr"/>
          <a:lstStyle/>
          <a:p>
            <a:pPr algn="ctr" indent="0" marL="0">
              <a:buNone/>
            </a:pPr>
            <a:r>
              <a:rPr lang="en-US" sz="850" b="1" dirty="0">
                <a:solidFill>
                  <a:srgbClr val="6E6B5E"/>
                </a:solidFill>
                <a:latin typeface="Noto Sans KR" pitchFamily="34" charset="0"/>
                <a:ea typeface="Noto Sans KR" pitchFamily="34" charset="-122"/>
                <a:cs typeface="Noto Sans KR" pitchFamily="34" charset="-120"/>
              </a:rPr>
              <a:t>후순위</a:t>
            </a:r>
            <a:endParaRPr lang="en-US" sz="850" dirty="0"/>
          </a:p>
        </p:txBody>
      </p:sp>
      <p:sp>
        <p:nvSpPr>
          <p:cNvPr id="23" name="Text 21"/>
          <p:cNvSpPr/>
          <p:nvPr/>
        </p:nvSpPr>
        <p:spPr>
          <a:xfrm>
            <a:off x="3566160" y="5449824"/>
            <a:ext cx="7936992" cy="502920"/>
          </a:xfrm>
          <a:prstGeom prst="rect">
            <a:avLst/>
          </a:prstGeom>
          <a:noFill/>
          <a:ln/>
        </p:spPr>
        <p:txBody>
          <a:bodyPr wrap="square" lIns="0" tIns="0" rIns="0" bIns="0" rtlCol="0" anchor="t"/>
          <a:lstStyle/>
          <a:p>
            <a:pPr indent="0" marL="0">
              <a:lnSpc>
                <a:spcPct val="125000"/>
              </a:lnSpc>
              <a:buNone/>
            </a:pPr>
            <a:r>
              <a:rPr lang="en-US" sz="1100" dirty="0">
                <a:solidFill>
                  <a:srgbClr val="16211A"/>
                </a:solidFill>
                <a:latin typeface="Noto Sans KR" pitchFamily="34" charset="0"/>
                <a:ea typeface="Noto Sans KR" pitchFamily="34" charset="-122"/>
                <a:cs typeface="Noto Sans KR" pitchFamily="34" charset="-120"/>
              </a:rPr>
              <a:t>브랜드 샘플링 · 어필리에이트 샵 · 펫보험 리퍼럴 · 아파트 단지 계약 — 러너·이벤트 밀도가 생긴 뒤에만</a:t>
            </a:r>
            <a:endParaRPr lang="en-US" sz="1100" dirty="0"/>
          </a:p>
        </p:txBody>
      </p:sp>
      <p:sp>
        <p:nvSpPr>
          <p:cNvPr id="24" name="Text 22"/>
          <p:cNvSpPr/>
          <p:nvPr/>
        </p:nvSpPr>
        <p:spPr>
          <a:xfrm>
            <a:off x="685800" y="5943600"/>
            <a:ext cx="10820095" cy="320040"/>
          </a:xfrm>
          <a:prstGeom prst="rect">
            <a:avLst/>
          </a:prstGeom>
          <a:noFill/>
          <a:ln/>
        </p:spPr>
        <p:txBody>
          <a:bodyPr wrap="square" lIns="0" tIns="0" rIns="0" bIns="0" rtlCol="0" anchor="t"/>
          <a:lstStyle/>
          <a:p>
            <a:pPr indent="0" marL="0">
              <a:buNone/>
            </a:pPr>
            <a:r>
              <a:rPr lang="en-US" sz="1050" b="1" dirty="0">
                <a:solidFill>
                  <a:srgbClr val="FF5C3D"/>
                </a:solidFill>
                <a:latin typeface="Noto Sans KR" pitchFamily="34" charset="0"/>
                <a:ea typeface="Noto Sans KR" pitchFamily="34" charset="-122"/>
                <a:cs typeface="Noto Sans KR" pitchFamily="34" charset="-120"/>
              </a:rPr>
              <a:t>비포펫도 구독형(“구독 신청 시 100% 매칭 보장”)을 이미 운영 중이다. 우리 차별점은 구독 자체가 아니라 ‘러닝’이라는 상품과 체력나이 데이터다.</a:t>
            </a:r>
            <a:endParaRPr lang="en-US" sz="1050" dirty="0"/>
          </a:p>
        </p:txBody>
      </p:sp>
      <p:sp>
        <p:nvSpPr>
          <p:cNvPr id="25" name="Text 23"/>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Wag Group Co. 챕터11 공시·GlobeNewswire(2025.9.2) · Blackstone 보도자료(2024.2.27) · Rover 보도자료(2026.3.5) · 비포펫 공식 웹사이트 직접 확인(2026.8.3). 멤버십·단건 가격은 미검증 가설.</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시장</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08</a:t>
            </a:r>
            <a:endParaRPr lang="en-US" sz="1000" dirty="0"/>
          </a:p>
        </p:txBody>
      </p:sp>
      <p:sp>
        <p:nvSpPr>
          <p:cNvPr id="4" name="Text 2"/>
          <p:cNvSpPr/>
          <p:nvPr/>
        </p:nvSpPr>
        <p:spPr>
          <a:xfrm>
            <a:off x="685800" y="658368"/>
            <a:ext cx="10820095" cy="1051560"/>
          </a:xfrm>
          <a:prstGeom prst="rect">
            <a:avLst/>
          </a:prstGeom>
          <a:noFill/>
          <a:ln/>
        </p:spPr>
        <p:txBody>
          <a:bodyPr wrap="square" lIns="0" tIns="0" rIns="0" bIns="0" rtlCol="0" anchor="t"/>
          <a:lstStyle/>
          <a:p>
            <a:pPr indent="0" marL="0">
              <a:lnSpc>
                <a:spcPct val="118000"/>
              </a:lnSpc>
              <a:buNone/>
            </a:pPr>
            <a:r>
              <a:rPr lang="en-US" sz="2500" b="1" dirty="0">
                <a:solidFill>
                  <a:srgbClr val="16211A"/>
                </a:solidFill>
                <a:latin typeface="Noto Sans KR" pitchFamily="34" charset="0"/>
                <a:ea typeface="Noto Sans KR" pitchFamily="34" charset="-122"/>
                <a:cs typeface="Noto Sans KR" pitchFamily="34" charset="-120"/>
              </a:rPr>
              <a:t>8.5조에서 21조로 가는 시장에서,</a:t>
            </a:r>
            <a:endParaRPr lang="en-US" sz="2500" dirty="0"/>
          </a:p>
          <a:p>
            <a:pPr indent="0" marL="0">
              <a:lnSpc>
                <a:spcPct val="118000"/>
              </a:lnSpc>
              <a:buNone/>
            </a:pPr>
            <a:r>
              <a:rPr lang="en-US" sz="2500" b="1" dirty="0">
                <a:solidFill>
                  <a:srgbClr val="16211A"/>
                </a:solidFill>
                <a:latin typeface="Noto Sans KR" pitchFamily="34" charset="0"/>
                <a:ea typeface="Noto Sans KR" pitchFamily="34" charset="-122"/>
                <a:cs typeface="Noto Sans KR" pitchFamily="34" charset="-120"/>
              </a:rPr>
              <a:t>지출은 ‘먹이기’에서 ‘건강·경험’으로 이동한다.</a:t>
            </a:r>
            <a:endParaRPr lang="en-US" sz="2500" dirty="0"/>
          </a:p>
        </p:txBody>
      </p:sp>
      <p:graphicFrame>
        <p:nvGraphicFramePr>
          <p:cNvPr id="5" name="Chart 0" descr=""/>
          <p:cNvGraphicFramePr/>
          <p:nvPr/>
        </p:nvGraphicFramePr>
        <p:xfrm>
          <a:off x="685800" y="196596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257800" y="1965960"/>
            <a:ext cx="2286000" cy="457200"/>
          </a:xfrm>
          <a:prstGeom prst="rect">
            <a:avLst/>
          </a:prstGeom>
          <a:noFill/>
          <a:ln/>
        </p:spPr>
        <p:txBody>
          <a:bodyPr wrap="square" lIns="0" tIns="0" rIns="0" bIns="0" rtlCol="0" anchor="ctr"/>
          <a:lstStyle/>
          <a:p>
            <a:pPr indent="0" marL="0">
              <a:buNone/>
            </a:pPr>
            <a:r>
              <a:rPr lang="en-US" sz="2400" b="1" dirty="0">
                <a:solidFill>
                  <a:srgbClr val="16211A"/>
                </a:solidFill>
                <a:latin typeface="Noto Sans KR" pitchFamily="34" charset="0"/>
                <a:ea typeface="Noto Sans KR" pitchFamily="34" charset="-122"/>
                <a:cs typeface="Noto Sans KR" pitchFamily="34" charset="-120"/>
              </a:rPr>
              <a:t>591만 가구</a:t>
            </a:r>
            <a:endParaRPr lang="en-US" sz="2400" dirty="0"/>
          </a:p>
        </p:txBody>
      </p:sp>
      <p:sp>
        <p:nvSpPr>
          <p:cNvPr id="7" name="Text 4"/>
          <p:cNvSpPr/>
          <p:nvPr/>
        </p:nvSpPr>
        <p:spPr>
          <a:xfrm>
            <a:off x="7635240" y="1965960"/>
            <a:ext cx="3867912" cy="777240"/>
          </a:xfrm>
          <a:prstGeom prst="rect">
            <a:avLst/>
          </a:prstGeom>
          <a:noFill/>
          <a:ln/>
        </p:spPr>
        <p:txBody>
          <a:bodyPr wrap="square" lIns="0" tIns="0" rIns="0" bIns="0" rtlCol="0" anchor="t"/>
          <a:lstStyle/>
          <a:p>
            <a:pPr indent="0" marL="0">
              <a:lnSpc>
                <a:spcPct val="125000"/>
              </a:lnSpc>
              <a:buNone/>
            </a:pPr>
            <a:r>
              <a:rPr lang="en-US" sz="1050" dirty="0">
                <a:solidFill>
                  <a:srgbClr val="6E6B5E"/>
                </a:solidFill>
                <a:latin typeface="Noto Sans KR" pitchFamily="34" charset="0"/>
                <a:ea typeface="Noto Sans KR" pitchFamily="34" charset="-122"/>
                <a:cs typeface="Noto Sans KR" pitchFamily="34" charset="-120"/>
              </a:rPr>
              <a:t>전체 가구의 26.7% · 반려인 1,546만 명(총인구 29.9%)</a:t>
            </a:r>
            <a:endParaRPr lang="en-US" sz="1050" dirty="0"/>
          </a:p>
        </p:txBody>
      </p:sp>
      <p:sp>
        <p:nvSpPr>
          <p:cNvPr id="8" name="Text 5"/>
          <p:cNvSpPr/>
          <p:nvPr/>
        </p:nvSpPr>
        <p:spPr>
          <a:xfrm>
            <a:off x="5257800" y="2880360"/>
            <a:ext cx="2286000" cy="457200"/>
          </a:xfrm>
          <a:prstGeom prst="rect">
            <a:avLst/>
          </a:prstGeom>
          <a:noFill/>
          <a:ln/>
        </p:spPr>
        <p:txBody>
          <a:bodyPr wrap="square" lIns="0" tIns="0" rIns="0" bIns="0" rtlCol="0" anchor="ctr"/>
          <a:lstStyle/>
          <a:p>
            <a:pPr indent="0" marL="0">
              <a:buNone/>
            </a:pPr>
            <a:r>
              <a:rPr lang="en-US" sz="2400" b="1" dirty="0">
                <a:solidFill>
                  <a:srgbClr val="16211A"/>
                </a:solidFill>
                <a:latin typeface="Noto Sans KR" pitchFamily="34" charset="0"/>
                <a:ea typeface="Noto Sans KR" pitchFamily="34" charset="-122"/>
                <a:cs typeface="Noto Sans KR" pitchFamily="34" charset="-120"/>
              </a:rPr>
              <a:t>19.4만 원</a:t>
            </a:r>
            <a:endParaRPr lang="en-US" sz="2400" dirty="0"/>
          </a:p>
        </p:txBody>
      </p:sp>
      <p:sp>
        <p:nvSpPr>
          <p:cNvPr id="9" name="Text 6"/>
          <p:cNvSpPr/>
          <p:nvPr/>
        </p:nvSpPr>
        <p:spPr>
          <a:xfrm>
            <a:off x="7635240" y="2880360"/>
            <a:ext cx="3867912" cy="777240"/>
          </a:xfrm>
          <a:prstGeom prst="rect">
            <a:avLst/>
          </a:prstGeom>
          <a:noFill/>
          <a:ln/>
        </p:spPr>
        <p:txBody>
          <a:bodyPr wrap="square" lIns="0" tIns="0" rIns="0" bIns="0" rtlCol="0" anchor="t"/>
          <a:lstStyle/>
          <a:p>
            <a:pPr indent="0" marL="0">
              <a:lnSpc>
                <a:spcPct val="125000"/>
              </a:lnSpc>
              <a:buNone/>
            </a:pPr>
            <a:r>
              <a:rPr lang="en-US" sz="1050" dirty="0">
                <a:solidFill>
                  <a:srgbClr val="6E6B5E"/>
                </a:solidFill>
                <a:latin typeface="Noto Sans KR" pitchFamily="34" charset="0"/>
                <a:ea typeface="Noto Sans KR" pitchFamily="34" charset="-122"/>
                <a:cs typeface="Noto Sans KR" pitchFamily="34" charset="-120"/>
              </a:rPr>
              <a:t>월평균 양육비, 직전 조사 대비 +4만 원 · 2년간 치료비 102.7만 원(+86%)</a:t>
            </a:r>
            <a:endParaRPr lang="en-US" sz="1050" dirty="0"/>
          </a:p>
        </p:txBody>
      </p:sp>
      <p:sp>
        <p:nvSpPr>
          <p:cNvPr id="10" name="Text 7"/>
          <p:cNvSpPr/>
          <p:nvPr/>
        </p:nvSpPr>
        <p:spPr>
          <a:xfrm>
            <a:off x="5257800" y="3794760"/>
            <a:ext cx="2286000" cy="457200"/>
          </a:xfrm>
          <a:prstGeom prst="rect">
            <a:avLst/>
          </a:prstGeom>
          <a:noFill/>
          <a:ln/>
        </p:spPr>
        <p:txBody>
          <a:bodyPr wrap="square" lIns="0" tIns="0" rIns="0" bIns="0" rtlCol="0" anchor="ctr"/>
          <a:lstStyle/>
          <a:p>
            <a:pPr indent="0" marL="0">
              <a:buNone/>
            </a:pPr>
            <a:r>
              <a:rPr lang="en-US" sz="2400" b="1" dirty="0">
                <a:solidFill>
                  <a:srgbClr val="16211A"/>
                </a:solidFill>
                <a:latin typeface="Noto Sans KR" pitchFamily="34" charset="0"/>
                <a:ea typeface="Noto Sans KR" pitchFamily="34" charset="-122"/>
                <a:cs typeface="Noto Sans KR" pitchFamily="34" charset="-120"/>
              </a:rPr>
              <a:t>113만 가구</a:t>
            </a:r>
            <a:endParaRPr lang="en-US" sz="2400" dirty="0"/>
          </a:p>
        </p:txBody>
      </p:sp>
      <p:sp>
        <p:nvSpPr>
          <p:cNvPr id="11" name="Text 8"/>
          <p:cNvSpPr/>
          <p:nvPr/>
        </p:nvSpPr>
        <p:spPr>
          <a:xfrm>
            <a:off x="7635240" y="3794760"/>
            <a:ext cx="3867912" cy="777240"/>
          </a:xfrm>
          <a:prstGeom prst="rect">
            <a:avLst/>
          </a:prstGeom>
          <a:noFill/>
          <a:ln/>
        </p:spPr>
        <p:txBody>
          <a:bodyPr wrap="square" lIns="0" tIns="0" rIns="0" bIns="0" rtlCol="0" anchor="t"/>
          <a:lstStyle/>
          <a:p>
            <a:pPr indent="0" marL="0">
              <a:lnSpc>
                <a:spcPct val="125000"/>
              </a:lnSpc>
              <a:buNone/>
            </a:pPr>
            <a:r>
              <a:rPr lang="en-US" sz="1050" dirty="0">
                <a:solidFill>
                  <a:srgbClr val="6E6B5E"/>
                </a:solidFill>
                <a:latin typeface="Noto Sans KR" pitchFamily="34" charset="0"/>
                <a:ea typeface="Noto Sans KR" pitchFamily="34" charset="-122"/>
                <a:cs typeface="Noto Sans KR" pitchFamily="34" charset="-120"/>
              </a:rPr>
              <a:t>서울 단독 반려가구. 수도권(서울·경기·인천)은 51.7%(305만) — 단일 도시 밀도 전략이 성립한다</a:t>
            </a:r>
            <a:endParaRPr lang="en-US" sz="1050" dirty="0"/>
          </a:p>
        </p:txBody>
      </p:sp>
      <p:sp>
        <p:nvSpPr>
          <p:cNvPr id="12" name="Shape 9"/>
          <p:cNvSpPr/>
          <p:nvPr/>
        </p:nvSpPr>
        <p:spPr>
          <a:xfrm>
            <a:off x="5257800" y="4754880"/>
            <a:ext cx="6245352" cy="1371600"/>
          </a:xfrm>
          <a:prstGeom prst="rect">
            <a:avLst/>
          </a:prstGeom>
          <a:solidFill>
            <a:srgbClr val="0F1D13"/>
          </a:solidFill>
          <a:ln/>
        </p:spPr>
        <p:txBody>
          <a:bodyPr/>
          <a:p/>
        </p:txBody>
      </p:sp>
      <p:sp>
        <p:nvSpPr>
          <p:cNvPr id="13" name="Text 10"/>
          <p:cNvSpPr/>
          <p:nvPr/>
        </p:nvSpPr>
        <p:spPr>
          <a:xfrm>
            <a:off x="5532120" y="4937760"/>
            <a:ext cx="5696712" cy="1051560"/>
          </a:xfrm>
          <a:prstGeom prst="rect">
            <a:avLst/>
          </a:prstGeom>
          <a:noFill/>
          <a:ln/>
        </p:spPr>
        <p:txBody>
          <a:bodyPr wrap="square" lIns="0" tIns="0" rIns="0" bIns="0" rtlCol="0" anchor="t"/>
          <a:lstStyle/>
          <a:p>
            <a:pPr indent="0" marL="0">
              <a:lnSpc>
                <a:spcPct val="130000"/>
              </a:lnSpc>
              <a:buNone/>
            </a:pPr>
            <a:r>
              <a:rPr lang="en-US" sz="1100" b="1" dirty="0">
                <a:solidFill>
                  <a:srgbClr val="C6F542"/>
                </a:solidFill>
                <a:latin typeface="Noto Sans KR" pitchFamily="34" charset="0"/>
                <a:ea typeface="Noto Sans KR" pitchFamily="34" charset="-122"/>
                <a:cs typeface="Noto Sans KR" pitchFamily="34" charset="-120"/>
              </a:rPr>
              <a:t>SAM을 지어내지 않습니다.  </a:t>
            </a:r>
            <a:pPr indent="0" marL="0">
              <a:lnSpc>
                <a:spcPct val="130000"/>
              </a:lnSpc>
              <a:buNone/>
            </a:pPr>
            <a:r>
              <a:rPr lang="en-US" sz="1100" dirty="0">
                <a:solidFill>
                  <a:srgbClr val="F8F6F0"/>
                </a:solidFill>
                <a:latin typeface="Noto Sans KR" pitchFamily="34" charset="0"/>
                <a:ea typeface="Noto Sans KR" pitchFamily="34" charset="-122"/>
                <a:cs typeface="Noto Sans KR" pitchFamily="34" charset="-120"/>
              </a:rPr>
              <a:t>‘서울 고에너지 견종 × 풀타임 근무 가구’는 공개 통계로 산출할 수 없습니다. 추정치를 만드는 대신 파일럿 동네 실측으로 대체합니다 — 첫 90일의 산출물입니다. 그래서 이 덱에는 TAM/SAM/SOM 삼각형이 없습니다.</a:t>
            </a:r>
            <a:endParaRPr lang="en-US" sz="1100" dirty="0"/>
          </a:p>
        </p:txBody>
      </p:sp>
      <p:sp>
        <p:nvSpPr>
          <p:cNvPr id="14" name="Text 11"/>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삼정KPMG 경제연구원 「다가오는 펫코노미 2.0 시대」(2024, 농림축산식품부 자료 기반) · KB금융 「2025 한국 반려동물보고서」. 반려견 마릿수는 546만으로 전기 대비 1.7% 감소했으며, 시장 성장은 마릿수가 아니라 마리당 지출에서 발생함.</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경쟁 지형</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09</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모두가 ‘돌봄’에서 싸운다. 우리는 옆 칸에서 시작한다.</a:t>
            </a:r>
            <a:endParaRPr lang="en-US" sz="2600" dirty="0"/>
          </a:p>
        </p:txBody>
      </p:sp>
      <p:sp>
        <p:nvSpPr>
          <p:cNvPr id="5" name="Shape 3"/>
          <p:cNvSpPr/>
          <p:nvPr/>
        </p:nvSpPr>
        <p:spPr>
          <a:xfrm>
            <a:off x="685800" y="1572768"/>
            <a:ext cx="5577840" cy="2788920"/>
          </a:xfrm>
          <a:prstGeom prst="rect">
            <a:avLst/>
          </a:prstGeom>
          <a:solidFill>
            <a:srgbClr val="EDE8DA"/>
          </a:solidFill>
          <a:ln/>
        </p:spPr>
        <p:txBody>
          <a:bodyPr/>
          <a:p/>
        </p:txBody>
      </p:sp>
      <p:sp>
        <p:nvSpPr>
          <p:cNvPr id="6" name="Shape 4"/>
          <p:cNvSpPr/>
          <p:nvPr/>
        </p:nvSpPr>
        <p:spPr>
          <a:xfrm>
            <a:off x="3474720" y="1572768"/>
            <a:ext cx="2788920" cy="1394460"/>
          </a:xfrm>
          <a:prstGeom prst="rect">
            <a:avLst/>
          </a:prstGeom>
          <a:solidFill>
            <a:srgbClr val="0F1D13"/>
          </a:solidFill>
          <a:ln/>
        </p:spPr>
        <p:txBody>
          <a:bodyPr/>
          <a:p/>
        </p:txBody>
      </p:sp>
      <p:sp>
        <p:nvSpPr>
          <p:cNvPr id="7" name="Text 5"/>
          <p:cNvSpPr/>
          <p:nvPr/>
        </p:nvSpPr>
        <p:spPr>
          <a:xfrm>
            <a:off x="795528" y="1664208"/>
            <a:ext cx="1280160" cy="228600"/>
          </a:xfrm>
          <a:prstGeom prst="rect">
            <a:avLst/>
          </a:prstGeom>
          <a:noFill/>
          <a:ln/>
        </p:spPr>
        <p:txBody>
          <a:bodyPr wrap="square" lIns="0" tIns="0" rIns="0" bIns="0" rtlCol="0" anchor="ctr"/>
          <a:lstStyle/>
          <a:p>
            <a:pPr indent="0" marL="0">
              <a:buNone/>
            </a:pPr>
            <a:r>
              <a:rPr lang="en-US" sz="900" b="1" dirty="0">
                <a:solidFill>
                  <a:srgbClr val="6E6B5E"/>
                </a:solidFill>
                <a:latin typeface="Noto Sans KR" pitchFamily="34" charset="0"/>
                <a:ea typeface="Noto Sans KR" pitchFamily="34" charset="-122"/>
                <a:cs typeface="Noto Sans KR" pitchFamily="34" charset="-120"/>
              </a:rPr>
              <a:t>프리미엄</a:t>
            </a:r>
            <a:endParaRPr lang="en-US" sz="900" dirty="0"/>
          </a:p>
        </p:txBody>
      </p:sp>
      <p:sp>
        <p:nvSpPr>
          <p:cNvPr id="8" name="Text 6"/>
          <p:cNvSpPr/>
          <p:nvPr/>
        </p:nvSpPr>
        <p:spPr>
          <a:xfrm>
            <a:off x="795528" y="4041648"/>
            <a:ext cx="1280160" cy="228600"/>
          </a:xfrm>
          <a:prstGeom prst="rect">
            <a:avLst/>
          </a:prstGeom>
          <a:noFill/>
          <a:ln/>
        </p:spPr>
        <p:txBody>
          <a:bodyPr wrap="square" lIns="0" tIns="0" rIns="0" bIns="0" rtlCol="0" anchor="ctr"/>
          <a:lstStyle/>
          <a:p>
            <a:pPr indent="0" marL="0">
              <a:buNone/>
            </a:pPr>
            <a:r>
              <a:rPr lang="en-US" sz="900" b="1" dirty="0">
                <a:solidFill>
                  <a:srgbClr val="6E6B5E"/>
                </a:solidFill>
                <a:latin typeface="Noto Sans KR" pitchFamily="34" charset="0"/>
                <a:ea typeface="Noto Sans KR" pitchFamily="34" charset="-122"/>
                <a:cs typeface="Noto Sans KR" pitchFamily="34" charset="-120"/>
              </a:rPr>
              <a:t>저가</a:t>
            </a:r>
            <a:endParaRPr lang="en-US" sz="900" dirty="0"/>
          </a:p>
        </p:txBody>
      </p:sp>
      <p:sp>
        <p:nvSpPr>
          <p:cNvPr id="9" name="Text 7"/>
          <p:cNvSpPr/>
          <p:nvPr/>
        </p:nvSpPr>
        <p:spPr>
          <a:xfrm>
            <a:off x="795528" y="4416552"/>
            <a:ext cx="1280160" cy="228600"/>
          </a:xfrm>
          <a:prstGeom prst="rect">
            <a:avLst/>
          </a:prstGeom>
          <a:noFill/>
          <a:ln/>
        </p:spPr>
        <p:txBody>
          <a:bodyPr wrap="square" lIns="0" tIns="0" rIns="0" bIns="0" rtlCol="0" anchor="ctr"/>
          <a:lstStyle/>
          <a:p>
            <a:pPr indent="0" marL="0">
              <a:buNone/>
            </a:pPr>
            <a:r>
              <a:rPr lang="en-US" sz="900" b="1" dirty="0">
                <a:solidFill>
                  <a:srgbClr val="6E6B5E"/>
                </a:solidFill>
                <a:latin typeface="Noto Sans KR" pitchFamily="34" charset="0"/>
                <a:ea typeface="Noto Sans KR" pitchFamily="34" charset="-122"/>
                <a:cs typeface="Noto Sans KR" pitchFamily="34" charset="-120"/>
              </a:rPr>
              <a:t>케어</a:t>
            </a:r>
            <a:endParaRPr lang="en-US" sz="900" dirty="0"/>
          </a:p>
        </p:txBody>
      </p:sp>
      <p:sp>
        <p:nvSpPr>
          <p:cNvPr id="10" name="Text 8"/>
          <p:cNvSpPr/>
          <p:nvPr/>
        </p:nvSpPr>
        <p:spPr>
          <a:xfrm>
            <a:off x="4892040" y="4416552"/>
            <a:ext cx="1261872" cy="228600"/>
          </a:xfrm>
          <a:prstGeom prst="rect">
            <a:avLst/>
          </a:prstGeom>
          <a:noFill/>
          <a:ln/>
        </p:spPr>
        <p:txBody>
          <a:bodyPr wrap="square" lIns="0" tIns="0" rIns="0" bIns="0" rtlCol="0" anchor="ctr"/>
          <a:lstStyle/>
          <a:p>
            <a:pPr algn="r" indent="0" marL="0">
              <a:buNone/>
            </a:pPr>
            <a:r>
              <a:rPr lang="en-US" sz="900" b="1" dirty="0">
                <a:solidFill>
                  <a:srgbClr val="6E6B5E"/>
                </a:solidFill>
                <a:latin typeface="Noto Sans KR" pitchFamily="34" charset="0"/>
                <a:ea typeface="Noto Sans KR" pitchFamily="34" charset="-122"/>
                <a:cs typeface="Noto Sans KR" pitchFamily="34" charset="-120"/>
              </a:rPr>
              <a:t>피트니스</a:t>
            </a:r>
            <a:endParaRPr lang="en-US" sz="900" dirty="0"/>
          </a:p>
        </p:txBody>
      </p:sp>
      <p:sp>
        <p:nvSpPr>
          <p:cNvPr id="11" name="Text 9"/>
          <p:cNvSpPr/>
          <p:nvPr/>
        </p:nvSpPr>
        <p:spPr>
          <a:xfrm>
            <a:off x="3703320" y="1956816"/>
            <a:ext cx="2286000" cy="365760"/>
          </a:xfrm>
          <a:prstGeom prst="rect">
            <a:avLst/>
          </a:prstGeom>
          <a:noFill/>
          <a:ln/>
        </p:spPr>
        <p:txBody>
          <a:bodyPr wrap="square" lIns="0" tIns="0" rIns="0" bIns="0" rtlCol="0" anchor="ctr"/>
          <a:lstStyle/>
          <a:p>
            <a:pPr indent="0" marL="0">
              <a:buNone/>
            </a:pPr>
            <a:r>
              <a:rPr lang="en-US" sz="1700" b="1" dirty="0">
                <a:solidFill>
                  <a:srgbClr val="C6F542"/>
                </a:solidFill>
                <a:latin typeface="Noto Sans KR" pitchFamily="34" charset="0"/>
                <a:ea typeface="Noto Sans KR" pitchFamily="34" charset="-122"/>
                <a:cs typeface="Noto Sans KR" pitchFamily="34" charset="-120"/>
              </a:rPr>
              <a:t>도그스하이</a:t>
            </a:r>
            <a:endParaRPr lang="en-US" sz="1700" dirty="0"/>
          </a:p>
        </p:txBody>
      </p:sp>
      <p:sp>
        <p:nvSpPr>
          <p:cNvPr id="12" name="Text 10"/>
          <p:cNvSpPr/>
          <p:nvPr/>
        </p:nvSpPr>
        <p:spPr>
          <a:xfrm>
            <a:off x="3703320" y="2340864"/>
            <a:ext cx="2286000" cy="274320"/>
          </a:xfrm>
          <a:prstGeom prst="rect">
            <a:avLst/>
          </a:prstGeom>
          <a:noFill/>
          <a:ln/>
        </p:spPr>
        <p:txBody>
          <a:bodyPr wrap="square" lIns="0" tIns="0" rIns="0" bIns="0" rtlCol="0" anchor="ctr"/>
          <a:lstStyle/>
          <a:p>
            <a:pPr indent="0" marL="0">
              <a:buNone/>
            </a:pPr>
            <a:r>
              <a:rPr lang="en-US" sz="1000" dirty="0">
                <a:solidFill>
                  <a:srgbClr val="9FAE9C"/>
                </a:solidFill>
                <a:latin typeface="Noto Sans KR" pitchFamily="34" charset="0"/>
                <a:ea typeface="Noto Sans KR" pitchFamily="34" charset="-122"/>
                <a:cs typeface="Noto Sans KR" pitchFamily="34" charset="-120"/>
              </a:rPr>
              <a:t>비어 있는 사분면</a:t>
            </a:r>
            <a:endParaRPr lang="en-US" sz="1000" dirty="0"/>
          </a:p>
        </p:txBody>
      </p:sp>
      <p:sp>
        <p:nvSpPr>
          <p:cNvPr id="13" name="Text 11"/>
          <p:cNvSpPr/>
          <p:nvPr/>
        </p:nvSpPr>
        <p:spPr>
          <a:xfrm>
            <a:off x="2103120" y="2075688"/>
            <a:ext cx="1371600" cy="274320"/>
          </a:xfrm>
          <a:prstGeom prst="rect">
            <a:avLst/>
          </a:prstGeom>
          <a:noFill/>
          <a:ln/>
        </p:spPr>
        <p:txBody>
          <a:bodyPr wrap="square" lIns="0" tIns="0" rIns="0" bIns="0" rtlCol="0" anchor="ctr"/>
          <a:lstStyle/>
          <a:p>
            <a:pPr indent="0" marL="0">
              <a:buNone/>
            </a:pPr>
            <a:r>
              <a:rPr lang="en-US" sz="1050" b="1" dirty="0">
                <a:solidFill>
                  <a:srgbClr val="16211A"/>
                </a:solidFill>
                <a:latin typeface="Noto Sans KR" pitchFamily="34" charset="0"/>
                <a:ea typeface="Noto Sans KR" pitchFamily="34" charset="-122"/>
                <a:cs typeface="Noto Sans KR" pitchFamily="34" charset="-120"/>
              </a:rPr>
              <a:t>강아지 유치원</a:t>
            </a:r>
            <a:endParaRPr lang="en-US" sz="1050" dirty="0"/>
          </a:p>
        </p:txBody>
      </p:sp>
      <p:sp>
        <p:nvSpPr>
          <p:cNvPr id="14" name="Text 12"/>
          <p:cNvSpPr/>
          <p:nvPr/>
        </p:nvSpPr>
        <p:spPr>
          <a:xfrm>
            <a:off x="1508760" y="3108960"/>
            <a:ext cx="1097280" cy="274320"/>
          </a:xfrm>
          <a:prstGeom prst="rect">
            <a:avLst/>
          </a:prstGeom>
          <a:noFill/>
          <a:ln/>
        </p:spPr>
        <p:txBody>
          <a:bodyPr wrap="square" lIns="0" tIns="0" rIns="0" bIns="0" rtlCol="0" anchor="ctr"/>
          <a:lstStyle/>
          <a:p>
            <a:pPr indent="0" marL="0">
              <a:buNone/>
            </a:pPr>
            <a:r>
              <a:rPr lang="en-US" sz="1050" b="1" dirty="0">
                <a:solidFill>
                  <a:srgbClr val="16211A"/>
                </a:solidFill>
                <a:latin typeface="Noto Sans KR" pitchFamily="34" charset="0"/>
                <a:ea typeface="Noto Sans KR" pitchFamily="34" charset="-122"/>
                <a:cs typeface="Noto Sans KR" pitchFamily="34" charset="-120"/>
              </a:rPr>
              <a:t>와요</a:t>
            </a:r>
            <a:endParaRPr lang="en-US" sz="1050" dirty="0"/>
          </a:p>
        </p:txBody>
      </p:sp>
      <p:sp>
        <p:nvSpPr>
          <p:cNvPr id="15" name="Text 13"/>
          <p:cNvSpPr/>
          <p:nvPr/>
        </p:nvSpPr>
        <p:spPr>
          <a:xfrm>
            <a:off x="1188720" y="3767328"/>
            <a:ext cx="1097280" cy="274320"/>
          </a:xfrm>
          <a:prstGeom prst="rect">
            <a:avLst/>
          </a:prstGeom>
          <a:noFill/>
          <a:ln/>
        </p:spPr>
        <p:txBody>
          <a:bodyPr wrap="square" lIns="0" tIns="0" rIns="0" bIns="0" rtlCol="0" anchor="ctr"/>
          <a:lstStyle/>
          <a:p>
            <a:pPr indent="0" marL="0">
              <a:buNone/>
            </a:pPr>
            <a:r>
              <a:rPr lang="en-US" sz="1050" b="1" dirty="0">
                <a:solidFill>
                  <a:srgbClr val="16211A"/>
                </a:solidFill>
                <a:latin typeface="Noto Sans KR" pitchFamily="34" charset="0"/>
                <a:ea typeface="Noto Sans KR" pitchFamily="34" charset="-122"/>
                <a:cs typeface="Noto Sans KR" pitchFamily="34" charset="-120"/>
              </a:rPr>
              <a:t>비포펫</a:t>
            </a:r>
            <a:endParaRPr lang="en-US" sz="1050" dirty="0"/>
          </a:p>
        </p:txBody>
      </p:sp>
      <p:sp>
        <p:nvSpPr>
          <p:cNvPr id="16" name="Text 14"/>
          <p:cNvSpPr/>
          <p:nvPr/>
        </p:nvSpPr>
        <p:spPr>
          <a:xfrm>
            <a:off x="2423160" y="3419856"/>
            <a:ext cx="1371600" cy="274320"/>
          </a:xfrm>
          <a:prstGeom prst="rect">
            <a:avLst/>
          </a:prstGeom>
          <a:noFill/>
          <a:ln/>
        </p:spPr>
        <p:txBody>
          <a:bodyPr wrap="square" lIns="0" tIns="0" rIns="0" bIns="0" rtlCol="0" anchor="ctr"/>
          <a:lstStyle/>
          <a:p>
            <a:pPr indent="0" marL="0">
              <a:buNone/>
            </a:pPr>
            <a:r>
              <a:rPr lang="en-US" sz="1050" b="1" dirty="0">
                <a:solidFill>
                  <a:srgbClr val="6E6B5E"/>
                </a:solidFill>
                <a:latin typeface="Noto Sans KR" pitchFamily="34" charset="0"/>
                <a:ea typeface="Noto Sans KR" pitchFamily="34" charset="-122"/>
                <a:cs typeface="Noto Sans KR" pitchFamily="34" charset="-120"/>
              </a:rPr>
              <a:t>도그메이트</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37960" y="1572768"/>
          <a:ext cx="4965192" cy="914400"/>
        </p:xfrm>
        <a:graphic>
          <a:graphicData uri="http://schemas.openxmlformats.org/drawingml/2006/table">
            <a:tbl>
              <a:tblPr/>
              <a:tblGrid>
                <a:gridCol w="1325880"/>
                <a:gridCol w="2057400"/>
                <a:gridCol w="1581912"/>
              </a:tblGrid>
              <a:tr h="384048">
                <a:tc>
                  <a:txBody>
                    <a:bodyPr/>
                    <a:lstStyle/>
                    <a:p>
                      <a:pPr indent="0" marL="0">
                        <a:buNone/>
                      </a:pPr>
                      <a:r>
                        <a:rPr lang="en-US" sz="950" b="1" dirty="0">
                          <a:solidFill>
                            <a:srgbClr val="F8F6F0"/>
                          </a:solidFill>
                          <a:latin typeface="Noto Sans KR" pitchFamily="34" charset="0"/>
                          <a:ea typeface="Noto Sans KR" pitchFamily="34" charset="-122"/>
                          <a:cs typeface="Noto Sans KR" pitchFamily="34" charset="-120"/>
                        </a:rPr>
                        <a:t>서비스</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indent="0" marL="0">
                        <a:buNone/>
                      </a:pPr>
                      <a:r>
                        <a:rPr lang="en-US" sz="950" b="1" dirty="0">
                          <a:solidFill>
                            <a:srgbClr val="F8F6F0"/>
                          </a:solidFill>
                          <a:latin typeface="Noto Sans KR" pitchFamily="34" charset="0"/>
                          <a:ea typeface="Noto Sans KR" pitchFamily="34" charset="-122"/>
                          <a:cs typeface="Noto Sans KR" pitchFamily="34" charset="-120"/>
                        </a:rPr>
                        <a:t>가격 앵커 (정가)</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indent="0" marL="0">
                        <a:buNone/>
                      </a:pPr>
                      <a:r>
                        <a:rPr lang="en-US" sz="950" b="1" dirty="0">
                          <a:solidFill>
                            <a:srgbClr val="F8F6F0"/>
                          </a:solidFill>
                          <a:latin typeface="Noto Sans KR" pitchFamily="34" charset="0"/>
                          <a:ea typeface="Noto Sans KR" pitchFamily="34" charset="-122"/>
                          <a:cs typeface="Noto Sans KR" pitchFamily="34" charset="-120"/>
                        </a:rPr>
                        <a:t>상태</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r>
              <a:tr h="384048">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비포펫</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30분 13,200 / 60분 19,800원</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활성 · 최저가 포지션</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84048">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와요 (펫피플)</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산책 최소 19,500원~</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활성 · 스프링캠프 시드(2019)</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84048">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도그메이트</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2025.6 커넥팅더닷츠 피인수</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84048">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강아지 유치원</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월 50–90만원</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dirty="0">
                          <a:solidFill>
                            <a:srgbClr val="16211A"/>
                          </a:solidFill>
                          <a:latin typeface="Noto Sans KR" pitchFamily="34" charset="0"/>
                          <a:ea typeface="Noto Sans KR" pitchFamily="34" charset="-122"/>
                          <a:cs typeface="Noto Sans KR" pitchFamily="34" charset="-120"/>
                        </a:rPr>
                        <a:t>파편화 · 실질 예산 경쟁자</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84048">
                <a:tc>
                  <a:txBody>
                    <a:bodyPr/>
                    <a:lstStyle/>
                    <a:p>
                      <a:pPr indent="0" marL="0">
                        <a:buNone/>
                      </a:pPr>
                      <a:r>
                        <a:rPr lang="en-US" sz="950" b="1" dirty="0">
                          <a:solidFill>
                            <a:srgbClr val="16211A"/>
                          </a:solidFill>
                          <a:latin typeface="Noto Sans KR" pitchFamily="34" charset="0"/>
                          <a:ea typeface="Noto Sans KR" pitchFamily="34" charset="-122"/>
                          <a:cs typeface="Noto Sans KR" pitchFamily="34" charset="-120"/>
                        </a:rPr>
                        <a:t>도그스하이</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b="1" dirty="0">
                          <a:solidFill>
                            <a:srgbClr val="16211A"/>
                          </a:solidFill>
                          <a:latin typeface="Noto Sans KR" pitchFamily="34" charset="0"/>
                          <a:ea typeface="Noto Sans KR" pitchFamily="34" charset="-122"/>
                          <a:cs typeface="Noto Sans KR" pitchFamily="34" charset="-120"/>
                        </a:rPr>
                        <a:t>월 199–299k (가설)</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indent="0" marL="0">
                        <a:buNone/>
                      </a:pPr>
                      <a:r>
                        <a:rPr lang="en-US" sz="950" b="1" dirty="0">
                          <a:solidFill>
                            <a:srgbClr val="16211A"/>
                          </a:solidFill>
                          <a:latin typeface="Noto Sans KR" pitchFamily="34" charset="0"/>
                          <a:ea typeface="Noto Sans KR" pitchFamily="34" charset="-122"/>
                          <a:cs typeface="Noto Sans KR" pitchFamily="34" charset="-120"/>
                        </a:rPr>
                        <a:t>프리론칭 · 유료 고객 0</a:t>
                      </a:r>
                      <a:endParaRPr lang="en-US" sz="95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bl>
          </a:graphicData>
        </a:graphic>
      </p:graphicFrame>
      <p:sp>
        <p:nvSpPr>
          <p:cNvPr id="18" name="Shape 15"/>
          <p:cNvSpPr/>
          <p:nvPr/>
        </p:nvSpPr>
        <p:spPr>
          <a:xfrm>
            <a:off x="6537960" y="3986784"/>
            <a:ext cx="4965192" cy="868680"/>
          </a:xfrm>
          <a:prstGeom prst="rect">
            <a:avLst/>
          </a:prstGeom>
          <a:solidFill>
            <a:srgbClr val="EDE8DA"/>
          </a:solidFill>
          <a:ln w="12700">
            <a:solidFill>
              <a:srgbClr val="FF5C3D"/>
            </a:solidFill>
            <a:prstDash val="solid"/>
          </a:ln>
        </p:spPr>
        <p:txBody>
          <a:bodyPr/>
          <a:p/>
        </p:txBody>
      </p:sp>
      <p:sp>
        <p:nvSpPr>
          <p:cNvPr id="19" name="Text 16"/>
          <p:cNvSpPr/>
          <p:nvPr/>
        </p:nvSpPr>
        <p:spPr>
          <a:xfrm>
            <a:off x="6766560" y="4105656"/>
            <a:ext cx="4507992" cy="658368"/>
          </a:xfrm>
          <a:prstGeom prst="rect">
            <a:avLst/>
          </a:prstGeom>
          <a:noFill/>
          <a:ln/>
        </p:spPr>
        <p:txBody>
          <a:bodyPr wrap="square" lIns="0" tIns="0" rIns="0" bIns="0" rtlCol="0" anchor="t"/>
          <a:lstStyle/>
          <a:p>
            <a:pPr indent="0" marL="0">
              <a:lnSpc>
                <a:spcPct val="122000"/>
              </a:lnSpc>
              <a:buNone/>
            </a:pPr>
            <a:r>
              <a:rPr lang="en-US" sz="900" b="1" dirty="0">
                <a:solidFill>
                  <a:srgbClr val="FF5C3D"/>
                </a:solidFill>
                <a:latin typeface="Noto Sans KR" pitchFamily="34" charset="0"/>
                <a:ea typeface="Noto Sans KR" pitchFamily="34" charset="-122"/>
                <a:cs typeface="Noto Sans KR" pitchFamily="34" charset="-120"/>
              </a:rPr>
              <a:t>최대 위협은 스타트업이 아니다 — 커넥팅더닷츠(째깍악어 + 도그메이트). </a:t>
            </a:r>
            <a:pPr indent="0" marL="0">
              <a:lnSpc>
                <a:spcPct val="122000"/>
              </a:lnSpc>
              <a:buNone/>
            </a:pPr>
            <a:r>
              <a:rPr lang="en-US" sz="900" dirty="0">
                <a:solidFill>
                  <a:srgbClr val="16211A"/>
                </a:solidFill>
                <a:latin typeface="Noto Sans KR" pitchFamily="34" charset="0"/>
                <a:ea typeface="Noto Sans KR" pitchFamily="34" charset="-122"/>
                <a:cs typeface="Noto Sans KR" pitchFamily="34" charset="-120"/>
              </a:rPr>
              <a:t>2025년 1분기 매출 45억 원(+173% YoY), 경북 의성 1.2만 평 반려동물 테마파크 ‘펫월드’ 운영사 선정. 방어 논리: 그들은 ‘케어’를, 우리는 ‘운동’을 만든다. 펫시터 풀과 러닝크루 풀은 겹치지 않는다.</a:t>
            </a:r>
            <a:endParaRPr lang="en-US" sz="900" dirty="0"/>
          </a:p>
        </p:txBody>
      </p:sp>
      <p:sp>
        <p:nvSpPr>
          <p:cNvPr id="20" name="Shape 17"/>
          <p:cNvSpPr/>
          <p:nvPr/>
        </p:nvSpPr>
        <p:spPr>
          <a:xfrm>
            <a:off x="685800" y="4983480"/>
            <a:ext cx="10817352" cy="1143000"/>
          </a:xfrm>
          <a:prstGeom prst="rect">
            <a:avLst/>
          </a:prstGeom>
          <a:solidFill>
            <a:srgbClr val="0F1D13"/>
          </a:solidFill>
          <a:ln/>
        </p:spPr>
        <p:txBody>
          <a:bodyPr/>
          <a:p/>
        </p:txBody>
      </p:sp>
      <p:sp>
        <p:nvSpPr>
          <p:cNvPr id="21" name="Text 18"/>
          <p:cNvSpPr/>
          <p:nvPr/>
        </p:nvSpPr>
        <p:spPr>
          <a:xfrm>
            <a:off x="960120" y="5120640"/>
            <a:ext cx="10268712" cy="914400"/>
          </a:xfrm>
          <a:prstGeom prst="rect">
            <a:avLst/>
          </a:prstGeom>
          <a:noFill/>
          <a:ln/>
        </p:spPr>
        <p:txBody>
          <a:bodyPr wrap="square" lIns="0" tIns="0" rIns="0" bIns="0" rtlCol="0" anchor="t"/>
          <a:lstStyle/>
          <a:p>
            <a:pPr indent="0" marL="0">
              <a:lnSpc>
                <a:spcPct val="125000"/>
              </a:lnSpc>
              <a:buNone/>
            </a:pPr>
            <a:r>
              <a:rPr lang="en-US" sz="1000" b="1" dirty="0">
                <a:solidFill>
                  <a:srgbClr val="C6F542"/>
                </a:solidFill>
                <a:latin typeface="Noto Sans KR" pitchFamily="34" charset="0"/>
                <a:ea typeface="Noto Sans KR" pitchFamily="34" charset="-122"/>
                <a:cs typeface="Noto Sans KR" pitchFamily="34" charset="-120"/>
              </a:rPr>
              <a:t>반려견 러닝 마켓플레이스는 현재 전 세계에 운영 중인 곳이 없다. </a:t>
            </a:r>
            <a:pPr indent="0" marL="0">
              <a:lnSpc>
                <a:spcPct val="125000"/>
              </a:lnSpc>
              <a:buNone/>
            </a:pPr>
            <a:r>
              <a:rPr lang="en-US" sz="1000" dirty="0">
                <a:solidFill>
                  <a:srgbClr val="F8F6F0"/>
                </a:solidFill>
                <a:latin typeface="Noto Sans KR" pitchFamily="34" charset="0"/>
                <a:ea typeface="Noto Sans KR" pitchFamily="34" charset="-122"/>
                <a:cs typeface="Noto Sans KR" pitchFamily="34" charset="-120"/>
              </a:rPr>
              <a:t>2018년 뉴욕의 DogGo Dash Club이 러너–견주 양면 마켓플레이스(수수료 18%, 신원조회)를 시도했으나 확장하지 못하고 사라진 것으로 보인다(공식 도메인 DNS 소멸 — 운영 중단 ‘추정’). 이후 러닝은 Denver Dog Joggers 등 로컬 단일 운영자 형태로만 존재하고, Rover·Wag에는 러닝 상품이 없다. 한국에는 2026년 8월 현재 반려견 러닝 서비스가 전무하다.</a:t>
            </a:r>
            <a:endParaRPr lang="en-US" sz="1000" dirty="0"/>
          </a:p>
        </p:txBody>
      </p:sp>
      <p:sp>
        <p:nvSpPr>
          <p:cNvPr id="22" name="Text 19"/>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각사 공식 웹사이트 직접 확인(2026.8.3) · amNY(DogGo Dash Club, 2019) · 벤처스퀘어·ZDNet(도그메이트 인수, 2025.6.10) · 이로운넷·와우테일(커넥팅더닷츠 실적·펫월드).</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GTM</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10</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700" b="1" dirty="0">
                <a:solidFill>
                  <a:srgbClr val="16211A"/>
                </a:solidFill>
                <a:latin typeface="Noto Sans KR" pitchFamily="34" charset="0"/>
                <a:ea typeface="Noto Sans KR" pitchFamily="34" charset="-122"/>
                <a:cs typeface="Noto Sans KR" pitchFamily="34" charset="-120"/>
              </a:rPr>
              <a:t>전국이 아니라 한 동네. 밀도가 곧 제품이다.</a:t>
            </a:r>
            <a:endParaRPr lang="en-US" sz="2700" dirty="0"/>
          </a:p>
        </p:txBody>
      </p:sp>
      <p:sp>
        <p:nvSpPr>
          <p:cNvPr id="5" name="Shape 3"/>
          <p:cNvSpPr/>
          <p:nvPr/>
        </p:nvSpPr>
        <p:spPr>
          <a:xfrm>
            <a:off x="685800" y="1572768"/>
            <a:ext cx="3657600" cy="2377440"/>
          </a:xfrm>
          <a:prstGeom prst="rect">
            <a:avLst/>
          </a:prstGeom>
          <a:solidFill>
            <a:srgbClr val="0F1D13"/>
          </a:solidFill>
          <a:ln/>
        </p:spPr>
        <p:txBody>
          <a:bodyPr/>
          <a:p/>
        </p:txBody>
      </p:sp>
      <p:sp>
        <p:nvSpPr>
          <p:cNvPr id="6" name="Shape 4"/>
          <p:cNvSpPr/>
          <p:nvPr/>
        </p:nvSpPr>
        <p:spPr>
          <a:xfrm>
            <a:off x="1051560" y="1874520"/>
            <a:ext cx="1371600" cy="1371600"/>
          </a:xfrm>
          <a:prstGeom prst="ellipse">
            <a:avLst/>
          </a:prstGeom>
          <a:ln w="25400">
            <a:solidFill>
              <a:srgbClr val="C6F542"/>
            </a:solidFill>
            <a:prstDash val="solid"/>
          </a:ln>
        </p:spPr>
        <p:txBody>
          <a:bodyPr/>
          <a:p/>
        </p:txBody>
      </p:sp>
      <p:sp>
        <p:nvSpPr>
          <p:cNvPr id="7" name="Text 5"/>
          <p:cNvSpPr/>
          <p:nvPr/>
        </p:nvSpPr>
        <p:spPr>
          <a:xfrm>
            <a:off x="1051560" y="1874520"/>
            <a:ext cx="1371600" cy="1371600"/>
          </a:xfrm>
          <a:prstGeom prst="rect">
            <a:avLst/>
          </a:prstGeom>
          <a:noFill/>
          <a:ln/>
        </p:spPr>
        <p:txBody>
          <a:bodyPr wrap="square" lIns="0" tIns="0" rIns="0" bIns="0" rtlCol="0" anchor="ctr"/>
          <a:lstStyle/>
          <a:p>
            <a:pPr algn="ctr" indent="0" marL="0">
              <a:buNone/>
            </a:pPr>
            <a:r>
              <a:rPr lang="en-US" sz="1800" b="1" dirty="0">
                <a:solidFill>
                  <a:srgbClr val="C6F542"/>
                </a:solidFill>
                <a:latin typeface="Noto Sans KR" pitchFamily="34" charset="0"/>
                <a:ea typeface="Noto Sans KR" pitchFamily="34" charset="-122"/>
                <a:cs typeface="Noto Sans KR" pitchFamily="34" charset="-120"/>
              </a:rPr>
              <a:t>반포</a:t>
            </a:r>
            <a:endParaRPr lang="en-US" sz="1800" dirty="0"/>
          </a:p>
        </p:txBody>
      </p:sp>
      <p:sp>
        <p:nvSpPr>
          <p:cNvPr id="8" name="Text 6"/>
          <p:cNvSpPr/>
          <p:nvPr/>
        </p:nvSpPr>
        <p:spPr>
          <a:xfrm>
            <a:off x="2743200" y="2057400"/>
            <a:ext cx="1417320" cy="731520"/>
          </a:xfrm>
          <a:prstGeom prst="rect">
            <a:avLst/>
          </a:prstGeom>
          <a:noFill/>
          <a:ln/>
        </p:spPr>
        <p:txBody>
          <a:bodyPr wrap="square" lIns="0" tIns="0" rIns="0" bIns="0" rtlCol="0" anchor="t"/>
          <a:lstStyle/>
          <a:p>
            <a:pPr indent="0" marL="0">
              <a:lnSpc>
                <a:spcPct val="130000"/>
              </a:lnSpc>
              <a:buNone/>
            </a:pPr>
            <a:r>
              <a:rPr lang="en-US" sz="1200" b="1" dirty="0">
                <a:solidFill>
                  <a:srgbClr val="F8F6F0"/>
                </a:solidFill>
                <a:latin typeface="Noto Sans KR" pitchFamily="34" charset="0"/>
                <a:ea typeface="Noto Sans KR" pitchFamily="34" charset="-122"/>
                <a:cs typeface="Noto Sans KR" pitchFamily="34" charset="-120"/>
              </a:rPr>
              <a:t>파일럿 동네 1곳</a:t>
            </a:r>
            <a:endParaRPr lang="en-US" sz="1200" dirty="0"/>
          </a:p>
          <a:p>
            <a:pPr indent="0" marL="0">
              <a:lnSpc>
                <a:spcPct val="130000"/>
              </a:lnSpc>
              <a:buNone/>
            </a:pPr>
            <a:r>
              <a:rPr lang="en-US" sz="1200" b="1" dirty="0">
                <a:solidFill>
                  <a:srgbClr val="F8F6F0"/>
                </a:solidFill>
                <a:latin typeface="Noto Sans KR" pitchFamily="34" charset="0"/>
                <a:ea typeface="Noto Sans KR" pitchFamily="34" charset="-122"/>
                <a:cs typeface="Noto Sans KR" pitchFamily="34" charset="-120"/>
              </a:rPr>
              <a:t>반경 2km, 전부.</a:t>
            </a:r>
            <a:endParaRPr lang="en-US" sz="1200" dirty="0"/>
          </a:p>
        </p:txBody>
      </p:sp>
      <p:sp>
        <p:nvSpPr>
          <p:cNvPr id="9" name="Text 7"/>
          <p:cNvSpPr/>
          <p:nvPr/>
        </p:nvSpPr>
        <p:spPr>
          <a:xfrm>
            <a:off x="960120" y="3383280"/>
            <a:ext cx="3108960" cy="457200"/>
          </a:xfrm>
          <a:prstGeom prst="rect">
            <a:avLst/>
          </a:prstGeom>
          <a:noFill/>
          <a:ln/>
        </p:spPr>
        <p:txBody>
          <a:bodyPr wrap="square" lIns="0" tIns="0" rIns="0" bIns="0" rtlCol="0" anchor="t"/>
          <a:lstStyle/>
          <a:p>
            <a:pPr indent="0" marL="0">
              <a:lnSpc>
                <a:spcPct val="125000"/>
              </a:lnSpc>
              <a:buNone/>
            </a:pPr>
            <a:r>
              <a:rPr lang="en-US" sz="1000" dirty="0">
                <a:solidFill>
                  <a:srgbClr val="9FAE9C"/>
                </a:solidFill>
                <a:latin typeface="Noto Sans KR" pitchFamily="34" charset="0"/>
                <a:ea typeface="Noto Sans KR" pitchFamily="34" charset="-122"/>
                <a:cs typeface="Noto Sans KR" pitchFamily="34" charset="-120"/>
              </a:rPr>
              <a:t>한강 접근성 + 고지출 아파트 밀도.</a:t>
            </a:r>
            <a:endParaRPr lang="en-US" sz="1000" dirty="0"/>
          </a:p>
          <a:p>
            <a:pPr indent="0" marL="0">
              <a:lnSpc>
                <a:spcPct val="125000"/>
              </a:lnSpc>
              <a:buNone/>
            </a:pPr>
            <a:r>
              <a:rPr lang="en-US" sz="1000" dirty="0">
                <a:solidFill>
                  <a:srgbClr val="9FAE9C"/>
                </a:solidFill>
                <a:latin typeface="Noto Sans KR" pitchFamily="34" charset="0"/>
                <a:ea typeface="Noto Sans KR" pitchFamily="34" charset="-122"/>
                <a:cs typeface="Noto Sans KR" pitchFamily="34" charset="-120"/>
              </a:rPr>
              <a:t>하나가 되기 전에 두 번째 동네는 열지 않는다.</a:t>
            </a:r>
            <a:endParaRPr lang="en-US" sz="1000" dirty="0"/>
          </a:p>
        </p:txBody>
      </p:sp>
      <p:sp>
        <p:nvSpPr>
          <p:cNvPr id="10" name="Text 8"/>
          <p:cNvSpPr/>
          <p:nvPr/>
        </p:nvSpPr>
        <p:spPr>
          <a:xfrm>
            <a:off x="4617720" y="1572768"/>
            <a:ext cx="1783080" cy="274320"/>
          </a:xfrm>
          <a:prstGeom prst="rect">
            <a:avLst/>
          </a:prstGeom>
          <a:noFill/>
          <a:ln/>
        </p:spPr>
        <p:txBody>
          <a:bodyPr wrap="square" lIns="0" tIns="0" rIns="0" bIns="0" rtlCol="0" anchor="t"/>
          <a:lstStyle/>
          <a:p>
            <a:pPr indent="0" marL="0">
              <a:buNone/>
            </a:pPr>
            <a:r>
              <a:rPr lang="en-US" sz="1200" b="1" dirty="0">
                <a:solidFill>
                  <a:srgbClr val="16211A"/>
                </a:solidFill>
                <a:latin typeface="Noto Sans KR" pitchFamily="34" charset="0"/>
                <a:ea typeface="Noto Sans KR" pitchFamily="34" charset="-122"/>
                <a:cs typeface="Noto Sans KR" pitchFamily="34" charset="-120"/>
              </a:rPr>
              <a:t>공급 먼저</a:t>
            </a:r>
            <a:endParaRPr lang="en-US" sz="1200" dirty="0"/>
          </a:p>
        </p:txBody>
      </p:sp>
      <p:sp>
        <p:nvSpPr>
          <p:cNvPr id="11" name="Text 9"/>
          <p:cNvSpPr/>
          <p:nvPr/>
        </p:nvSpPr>
        <p:spPr>
          <a:xfrm>
            <a:off x="6492240" y="1572768"/>
            <a:ext cx="5010912" cy="960120"/>
          </a:xfrm>
          <a:prstGeom prst="rect">
            <a:avLst/>
          </a:prstGeom>
          <a:noFill/>
          <a:ln/>
        </p:spPr>
        <p:txBody>
          <a:bodyPr wrap="square" lIns="0" tIns="0" rIns="0" bIns="0" rtlCol="0" anchor="t"/>
          <a:lstStyle/>
          <a:p>
            <a:pPr indent="0" marL="0">
              <a:lnSpc>
                <a:spcPct val="128000"/>
              </a:lnSpc>
              <a:buNone/>
            </a:pPr>
            <a:r>
              <a:rPr lang="en-US" sz="1050" dirty="0">
                <a:solidFill>
                  <a:srgbClr val="16211A"/>
                </a:solidFill>
                <a:latin typeface="Noto Sans KR" pitchFamily="34" charset="0"/>
                <a:ea typeface="Noto Sans KR" pitchFamily="34" charset="-122"/>
                <a:cs typeface="Noto Sans KR" pitchFamily="34" charset="-120"/>
              </a:rPr>
              <a:t>러닝크루 2–3곳 파트너십으로 인증 러너 20–30명. 채용이 아니라 자격증 프레이밍 — “뛰던 길에서, 벌자 / 상위 러너만 통과합니다”. 2026 최저임금 ₩10,320 대비 회당 약 ₩19,900(시간당 약 1.9배) — 슬로건이 아니라 계산표를 공개한다.</a:t>
            </a:r>
            <a:endParaRPr lang="en-US" sz="1050" dirty="0"/>
          </a:p>
        </p:txBody>
      </p:sp>
      <p:sp>
        <p:nvSpPr>
          <p:cNvPr id="12" name="Text 10"/>
          <p:cNvSpPr/>
          <p:nvPr/>
        </p:nvSpPr>
        <p:spPr>
          <a:xfrm>
            <a:off x="4617720" y="2615184"/>
            <a:ext cx="1783080" cy="274320"/>
          </a:xfrm>
          <a:prstGeom prst="rect">
            <a:avLst/>
          </a:prstGeom>
          <a:noFill/>
          <a:ln/>
        </p:spPr>
        <p:txBody>
          <a:bodyPr wrap="square" lIns="0" tIns="0" rIns="0" bIns="0" rtlCol="0" anchor="t"/>
          <a:lstStyle/>
          <a:p>
            <a:pPr indent="0" marL="0">
              <a:buNone/>
            </a:pPr>
            <a:r>
              <a:rPr lang="en-US" sz="1200" b="1" dirty="0">
                <a:solidFill>
                  <a:srgbClr val="16211A"/>
                </a:solidFill>
                <a:latin typeface="Noto Sans KR" pitchFamily="34" charset="0"/>
                <a:ea typeface="Noto Sans KR" pitchFamily="34" charset="-122"/>
                <a:cs typeface="Noto Sans KR" pitchFamily="34" charset="-120"/>
              </a:rPr>
              <a:t>토요 한강 이벤트</a:t>
            </a:r>
            <a:endParaRPr lang="en-US" sz="1200" dirty="0"/>
          </a:p>
        </p:txBody>
      </p:sp>
      <p:sp>
        <p:nvSpPr>
          <p:cNvPr id="13" name="Text 11"/>
          <p:cNvSpPr/>
          <p:nvPr/>
        </p:nvSpPr>
        <p:spPr>
          <a:xfrm>
            <a:off x="6492240" y="2615184"/>
            <a:ext cx="5010912" cy="960120"/>
          </a:xfrm>
          <a:prstGeom prst="rect">
            <a:avLst/>
          </a:prstGeom>
          <a:noFill/>
          <a:ln/>
        </p:spPr>
        <p:txBody>
          <a:bodyPr wrap="square" lIns="0" tIns="0" rIns="0" bIns="0" rtlCol="0" anchor="t"/>
          <a:lstStyle/>
          <a:p>
            <a:pPr indent="0" marL="0">
              <a:lnSpc>
                <a:spcPct val="128000"/>
              </a:lnSpc>
              <a:buNone/>
            </a:pPr>
            <a:r>
              <a:rPr lang="en-US" sz="1050" dirty="0">
                <a:solidFill>
                  <a:srgbClr val="16211A"/>
                </a:solidFill>
                <a:latin typeface="Noto Sans KR" pitchFamily="34" charset="0"/>
                <a:ea typeface="Noto Sans KR" pitchFamily="34" charset="-122"/>
                <a:cs typeface="Noto Sans KR" pitchFamily="34" charset="-120"/>
              </a:rPr>
              <a:t>매주 같은 자리, 같은 시간. 그룹 러닝 + 체력나이 측정 부스 + 전 참가견 피니셔 포토 당일 전달 + 포터블 리더보드. 한 이벤트가 네 가지 일을 한다 — 러너 모집 · 보호자 전환 · 일주일치 콘텐츠 · 동네 독점감.</a:t>
            </a:r>
            <a:endParaRPr lang="en-US" sz="1050" dirty="0"/>
          </a:p>
        </p:txBody>
      </p:sp>
      <p:sp>
        <p:nvSpPr>
          <p:cNvPr id="14" name="Text 12"/>
          <p:cNvSpPr/>
          <p:nvPr/>
        </p:nvSpPr>
        <p:spPr>
          <a:xfrm>
            <a:off x="4617720" y="3657600"/>
            <a:ext cx="1783080" cy="274320"/>
          </a:xfrm>
          <a:prstGeom prst="rect">
            <a:avLst/>
          </a:prstGeom>
          <a:noFill/>
          <a:ln/>
        </p:spPr>
        <p:txBody>
          <a:bodyPr wrap="square" lIns="0" tIns="0" rIns="0" bIns="0" rtlCol="0" anchor="t"/>
          <a:lstStyle/>
          <a:p>
            <a:pPr indent="0" marL="0">
              <a:buNone/>
            </a:pPr>
            <a:r>
              <a:rPr lang="en-US" sz="1200" b="1" dirty="0">
                <a:solidFill>
                  <a:srgbClr val="16211A"/>
                </a:solidFill>
                <a:latin typeface="Noto Sans KR" pitchFamily="34" charset="0"/>
                <a:ea typeface="Noto Sans KR" pitchFamily="34" charset="-122"/>
                <a:cs typeface="Noto Sans KR" pitchFamily="34" charset="-120"/>
              </a:rPr>
              <a:t>콘텐츠 엔진 = 제품</a:t>
            </a:r>
            <a:endParaRPr lang="en-US" sz="1200" dirty="0"/>
          </a:p>
        </p:txBody>
      </p:sp>
      <p:sp>
        <p:nvSpPr>
          <p:cNvPr id="15" name="Text 13"/>
          <p:cNvSpPr/>
          <p:nvPr/>
        </p:nvSpPr>
        <p:spPr>
          <a:xfrm>
            <a:off x="6492240" y="3657600"/>
            <a:ext cx="5010912" cy="960120"/>
          </a:xfrm>
          <a:prstGeom prst="rect">
            <a:avLst/>
          </a:prstGeom>
          <a:noFill/>
          <a:ln/>
        </p:spPr>
        <p:txBody>
          <a:bodyPr wrap="square" lIns="0" tIns="0" rIns="0" bIns="0" rtlCol="0" anchor="t"/>
          <a:lstStyle/>
          <a:p>
            <a:pPr indent="0" marL="0">
              <a:lnSpc>
                <a:spcPct val="128000"/>
              </a:lnSpc>
              <a:buNone/>
            </a:pPr>
            <a:r>
              <a:rPr lang="en-US" sz="1050" dirty="0">
                <a:solidFill>
                  <a:srgbClr val="16211A"/>
                </a:solidFill>
                <a:latin typeface="Noto Sans KR" pitchFamily="34" charset="0"/>
                <a:ea typeface="Noto Sans KR" pitchFamily="34" charset="-122"/>
                <a:cs typeface="Noto Sans KR" pitchFamily="34" charset="-120"/>
              </a:rPr>
              <a:t>러닝 영상, 전후 비교(에너지 폭발 → 매트 위 젠), 체력나이 카드 공유. 제작비 거의 0.</a:t>
            </a:r>
            <a:endParaRPr lang="en-US" sz="1050" dirty="0"/>
          </a:p>
        </p:txBody>
      </p:sp>
      <p:sp>
        <p:nvSpPr>
          <p:cNvPr id="16" name="Text 14"/>
          <p:cNvSpPr/>
          <p:nvPr/>
        </p:nvSpPr>
        <p:spPr>
          <a:xfrm>
            <a:off x="4617720" y="4315968"/>
            <a:ext cx="1783080" cy="274320"/>
          </a:xfrm>
          <a:prstGeom prst="rect">
            <a:avLst/>
          </a:prstGeom>
          <a:noFill/>
          <a:ln/>
        </p:spPr>
        <p:txBody>
          <a:bodyPr wrap="square" lIns="0" tIns="0" rIns="0" bIns="0" rtlCol="0" anchor="t"/>
          <a:lstStyle/>
          <a:p>
            <a:pPr indent="0" marL="0">
              <a:buNone/>
            </a:pPr>
            <a:r>
              <a:rPr lang="en-US" sz="1200" b="1" dirty="0">
                <a:solidFill>
                  <a:srgbClr val="16211A"/>
                </a:solidFill>
                <a:latin typeface="Noto Sans KR" pitchFamily="34" charset="0"/>
                <a:ea typeface="Noto Sans KR" pitchFamily="34" charset="-122"/>
                <a:cs typeface="Noto Sans KR" pitchFamily="34" charset="-120"/>
              </a:rPr>
              <a:t>하지 않는 것</a:t>
            </a:r>
            <a:endParaRPr lang="en-US" sz="1200" dirty="0"/>
          </a:p>
        </p:txBody>
      </p:sp>
      <p:sp>
        <p:nvSpPr>
          <p:cNvPr id="17" name="Text 15"/>
          <p:cNvSpPr/>
          <p:nvPr/>
        </p:nvSpPr>
        <p:spPr>
          <a:xfrm>
            <a:off x="6492240" y="4315968"/>
            <a:ext cx="5010912" cy="960120"/>
          </a:xfrm>
          <a:prstGeom prst="rect">
            <a:avLst/>
          </a:prstGeom>
          <a:noFill/>
          <a:ln/>
        </p:spPr>
        <p:txBody>
          <a:bodyPr wrap="square" lIns="0" tIns="0" rIns="0" bIns="0" rtlCol="0" anchor="t"/>
          <a:lstStyle/>
          <a:p>
            <a:pPr indent="0" marL="0">
              <a:lnSpc>
                <a:spcPct val="128000"/>
              </a:lnSpc>
              <a:buNone/>
            </a:pPr>
            <a:r>
              <a:rPr lang="en-US" sz="1050" dirty="0">
                <a:solidFill>
                  <a:srgbClr val="16211A"/>
                </a:solidFill>
                <a:latin typeface="Noto Sans KR" pitchFamily="34" charset="0"/>
                <a:ea typeface="Noto Sans KR" pitchFamily="34" charset="-122"/>
                <a:cs typeface="Noto Sans KR" pitchFamily="34" charset="-120"/>
              </a:rPr>
              <a:t>버스·지하철 광고, TV, 전단, 전국 캠페인. 밀도 전에 인지도를 사면 공급 없는 첫인상만 만든다.</a:t>
            </a:r>
            <a:endParaRPr lang="en-US" sz="1050" dirty="0"/>
          </a:p>
        </p:txBody>
      </p:sp>
      <p:sp>
        <p:nvSpPr>
          <p:cNvPr id="18" name="Shape 16"/>
          <p:cNvSpPr/>
          <p:nvPr/>
        </p:nvSpPr>
        <p:spPr>
          <a:xfrm>
            <a:off x="685800" y="4160520"/>
            <a:ext cx="3657600" cy="960120"/>
          </a:xfrm>
          <a:prstGeom prst="rect">
            <a:avLst/>
          </a:prstGeom>
          <a:solidFill>
            <a:srgbClr val="EDE8DA"/>
          </a:solidFill>
          <a:ln/>
        </p:spPr>
        <p:txBody>
          <a:bodyPr/>
          <a:p/>
        </p:txBody>
      </p:sp>
      <p:sp>
        <p:nvSpPr>
          <p:cNvPr id="19" name="Text 17"/>
          <p:cNvSpPr/>
          <p:nvPr/>
        </p:nvSpPr>
        <p:spPr>
          <a:xfrm>
            <a:off x="960120" y="4297680"/>
            <a:ext cx="3108960" cy="228600"/>
          </a:xfrm>
          <a:prstGeom prst="rect">
            <a:avLst/>
          </a:prstGeom>
          <a:noFill/>
          <a:ln/>
        </p:spPr>
        <p:txBody>
          <a:bodyPr wrap="square" lIns="0" tIns="0" rIns="0" bIns="0" rtlCol="0" anchor="ctr"/>
          <a:lstStyle/>
          <a:p>
            <a:pPr indent="0" marL="0">
              <a:buNone/>
            </a:pPr>
            <a:r>
              <a:rPr lang="en-US" sz="950" b="1" spc="100" kern="0" dirty="0">
                <a:solidFill>
                  <a:srgbClr val="6E6B5E"/>
                </a:solidFill>
                <a:latin typeface="Noto Sans KR" pitchFamily="34" charset="0"/>
                <a:ea typeface="Noto Sans KR" pitchFamily="34" charset="-122"/>
                <a:cs typeface="Noto Sans KR" pitchFamily="34" charset="-120"/>
              </a:rPr>
              <a:t>90일 마케팅 예산</a:t>
            </a:r>
            <a:endParaRPr lang="en-US" sz="950" dirty="0"/>
          </a:p>
        </p:txBody>
      </p:sp>
      <p:sp>
        <p:nvSpPr>
          <p:cNvPr id="20" name="Text 18"/>
          <p:cNvSpPr/>
          <p:nvPr/>
        </p:nvSpPr>
        <p:spPr>
          <a:xfrm>
            <a:off x="960120" y="4553712"/>
            <a:ext cx="3108960" cy="457200"/>
          </a:xfrm>
          <a:prstGeom prst="rect">
            <a:avLst/>
          </a:prstGeom>
          <a:noFill/>
          <a:ln/>
        </p:spPr>
        <p:txBody>
          <a:bodyPr wrap="square" lIns="0" tIns="0" rIns="0" bIns="0" rtlCol="0" anchor="ctr"/>
          <a:lstStyle/>
          <a:p>
            <a:pPr indent="0" marL="0">
              <a:buNone/>
            </a:pPr>
            <a:r>
              <a:rPr lang="en-US" sz="2600" b="1" dirty="0">
                <a:solidFill>
                  <a:srgbClr val="16211A"/>
                </a:solidFill>
                <a:latin typeface="Noto Sans KR" pitchFamily="34" charset="0"/>
                <a:ea typeface="Noto Sans KR" pitchFamily="34" charset="-122"/>
                <a:cs typeface="Noto Sans KR" pitchFamily="34" charset="-120"/>
              </a:rPr>
              <a:t>600–900만원</a:t>
            </a:r>
            <a:endParaRPr lang="en-US" sz="2600" dirty="0"/>
          </a:p>
        </p:txBody>
      </p:sp>
      <p:sp>
        <p:nvSpPr>
          <p:cNvPr id="21" name="Shape 19"/>
          <p:cNvSpPr/>
          <p:nvPr/>
        </p:nvSpPr>
        <p:spPr>
          <a:xfrm>
            <a:off x="685800" y="5285232"/>
            <a:ext cx="2524658" cy="219456"/>
          </a:xfrm>
          <a:prstGeom prst="roundRect">
            <a:avLst>
              <a:gd name="adj" fmla="val 50000"/>
            </a:avLst>
          </a:prstGeom>
          <a:ln w="12700">
            <a:solidFill>
              <a:srgbClr val="DCD6C4"/>
            </a:solidFill>
            <a:prstDash val="solid"/>
          </a:ln>
        </p:spPr>
        <p:txBody>
          <a:bodyPr/>
          <a:p/>
        </p:txBody>
      </p:sp>
      <p:sp>
        <p:nvSpPr>
          <p:cNvPr id="22" name="Text 20"/>
          <p:cNvSpPr/>
          <p:nvPr/>
        </p:nvSpPr>
        <p:spPr>
          <a:xfrm>
            <a:off x="685800" y="5285232"/>
            <a:ext cx="2524658" cy="219456"/>
          </a:xfrm>
          <a:prstGeom prst="rect">
            <a:avLst/>
          </a:prstGeom>
          <a:noFill/>
          <a:ln/>
        </p:spPr>
        <p:txBody>
          <a:bodyPr wrap="square" lIns="0" tIns="0" rIns="0" bIns="0" rtlCol="0" anchor="ctr"/>
          <a:lstStyle/>
          <a:p>
            <a:pPr algn="ctr" indent="0" marL="0">
              <a:buNone/>
            </a:pPr>
            <a:r>
              <a:rPr lang="en-US" sz="850" b="1" dirty="0">
                <a:solidFill>
                  <a:srgbClr val="6E6B5E"/>
                </a:solidFill>
                <a:latin typeface="Noto Sans KR" pitchFamily="34" charset="0"/>
                <a:ea typeface="Noto Sans KR" pitchFamily="34" charset="-122"/>
                <a:cs typeface="Noto Sans KR" pitchFamily="34" charset="-120"/>
              </a:rPr>
              <a:t>이벤트 사진 없음 — 이벤트 #1 예정 2026.9</a:t>
            </a:r>
            <a:endParaRPr lang="en-US" sz="850" dirty="0"/>
          </a:p>
        </p:txBody>
      </p:sp>
      <p:sp>
        <p:nvSpPr>
          <p:cNvPr id="23" name="Text 21"/>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최저임금위원회 2026년 최저임금 시간급 10,320원(고용노동부 고시). 러너 페이·이벤트 예산은 자체 90일 플레이북 기준의 가설이며 실집행 이력 없음.</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유닛 이코노믹스 (1/2)</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11</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볼륨 게임이 아니라 테이크레이트 · 리텐션 게임이다.</a:t>
            </a:r>
            <a:endParaRPr lang="en-US" sz="2600" dirty="0"/>
          </a:p>
        </p:txBody>
      </p:sp>
      <p:sp>
        <p:nvSpPr>
          <p:cNvPr id="5" name="Text 3"/>
          <p:cNvSpPr/>
          <p:nvPr/>
        </p:nvSpPr>
        <p:spPr>
          <a:xfrm>
            <a:off x="685800" y="1536192"/>
            <a:ext cx="5120640" cy="256032"/>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런 1회 경제학</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810512"/>
          <a:ext cx="5120640" cy="914400"/>
        </p:xfrm>
        <a:graphic>
          <a:graphicData uri="http://schemas.openxmlformats.org/drawingml/2006/table">
            <a:tbl>
              <a:tblPr/>
              <a:tblGrid>
                <a:gridCol w="3703320"/>
                <a:gridCol w="1417320"/>
              </a:tblGrid>
              <a:tr h="301752">
                <a:tc>
                  <a:txBody>
                    <a:bodyPr/>
                    <a:lstStyle/>
                    <a:p>
                      <a:pPr indent="0" marL="0">
                        <a:buNone/>
                      </a:pPr>
                      <a:r>
                        <a:rPr lang="en-US" sz="1000" b="1" dirty="0">
                          <a:solidFill>
                            <a:srgbClr val="F8F6F0"/>
                          </a:solidFill>
                          <a:latin typeface="Noto Sans KR" pitchFamily="34" charset="0"/>
                          <a:ea typeface="Noto Sans KR" pitchFamily="34" charset="-122"/>
                          <a:cs typeface="Noto Sans KR" pitchFamily="34" charset="-120"/>
                        </a:rPr>
                        <a:t>항목</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금액</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r>
              <a:tr h="301752">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런 1회 GMV — 기본 9,900 + km당 3,000 × 5km</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₩24,900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01752">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플랫폼 테이크 (20%)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₩4,980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01752">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PG 수수료 (3.3%)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−₩822</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01752">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러닝당 보험료</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−₩1,000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01752">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런당 순기여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₩3,158</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r>
              <a:tr h="301752">
                <a:tc>
                  <a:txBody>
                    <a:bodyPr/>
                    <a:lstStyle/>
                    <a:p>
                      <a:pPr indent="0" marL="0">
                        <a:buNone/>
                      </a:pPr>
                      <a:r>
                        <a:rPr lang="en-US" sz="1000" dirty="0">
                          <a:solidFill>
                            <a:srgbClr val="6E6B5E"/>
                          </a:solidFill>
                          <a:latin typeface="Noto Sans KR" pitchFamily="34" charset="0"/>
                          <a:ea typeface="Noto Sans KR" pitchFamily="34" charset="-122"/>
                          <a:cs typeface="Noto Sans KR" pitchFamily="34" charset="-120"/>
                        </a:rPr>
                        <a:t>(참고) 러너 지급 — 최저임금 대비 시간당 약 1.9배</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6E6B5E"/>
                          </a:solidFill>
                          <a:latin typeface="Noto Sans KR" pitchFamily="34" charset="0"/>
                          <a:ea typeface="Noto Sans KR" pitchFamily="34" charset="-122"/>
                          <a:cs typeface="Noto Sans KR" pitchFamily="34" charset="-120"/>
                        </a:rPr>
                        <a:t>₩19,920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bl>
          </a:graphicData>
        </a:graphic>
      </p:graphicFrame>
      <p:sp>
        <p:nvSpPr>
          <p:cNvPr id="7" name="Text 4"/>
          <p:cNvSpPr/>
          <p:nvPr/>
        </p:nvSpPr>
        <p:spPr>
          <a:xfrm>
            <a:off x="685800" y="4041648"/>
            <a:ext cx="5120640" cy="256032"/>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개 1마리 × 1개월 (멤버십 ₩249,000 · 월 10회 가정)</a:t>
            </a:r>
            <a:endParaRPr lang="en-US" sz="10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85800" y="4315968"/>
          <a:ext cx="5120640" cy="914400"/>
        </p:xfrm>
        <a:graphic>
          <a:graphicData uri="http://schemas.openxmlformats.org/drawingml/2006/table">
            <a:tbl>
              <a:tblPr/>
              <a:tblGrid>
                <a:gridCol w="2103120"/>
                <a:gridCol w="1371600"/>
                <a:gridCol w="1645920"/>
              </a:tblGrid>
              <a:tr h="310896">
                <a:tc>
                  <a:txBody>
                    <a:bodyPr/>
                    <a:lstStyle/>
                    <a:p>
                      <a:pPr indent="0" marL="0">
                        <a:buNone/>
                      </a:pP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EDE8DA"/>
                    </a:solidFill>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테이크 20%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EDE8DA"/>
                    </a:solidFill>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테이크 25%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EDE8DA"/>
                    </a:solidFill>
                  </a:tcPr>
                </a:tc>
              </a:tr>
              <a:tr h="310896">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도그-월 순기여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₩31,583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3F5A16"/>
                          </a:solidFill>
                          <a:latin typeface="Noto Sans KR" pitchFamily="34" charset="0"/>
                          <a:ea typeface="Noto Sans KR" pitchFamily="34" charset="-122"/>
                          <a:cs typeface="Noto Sans KR" pitchFamily="34" charset="-120"/>
                        </a:rPr>
                        <a:t>₩44,033  (+39%)</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r>
            </a:tbl>
          </a:graphicData>
        </a:graphic>
      </p:graphicFrame>
      <p:sp>
        <p:nvSpPr>
          <p:cNvPr id="9" name="Text 5"/>
          <p:cNvSpPr/>
          <p:nvPr/>
        </p:nvSpPr>
        <p:spPr>
          <a:xfrm>
            <a:off x="6355080" y="1536192"/>
            <a:ext cx="5148072" cy="256032"/>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LTV 민감도 — 테이크(행) × 월 리텐션(열), 단위 원</a:t>
            </a:r>
            <a:endParaRPr lang="en-US" sz="10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355080" y="1810512"/>
          <a:ext cx="5148072" cy="914400"/>
        </p:xfrm>
        <a:graphic>
          <a:graphicData uri="http://schemas.openxmlformats.org/drawingml/2006/table">
            <a:tbl>
              <a:tblPr/>
              <a:tblGrid>
                <a:gridCol w="1490472"/>
                <a:gridCol w="914400"/>
                <a:gridCol w="914400"/>
                <a:gridCol w="914400"/>
                <a:gridCol w="914400"/>
              </a:tblGrid>
              <a:tr h="329184">
                <a:tc>
                  <a:txBody>
                    <a:bodyPr/>
                    <a:lstStyle/>
                    <a:p>
                      <a:pPr indent="0" marL="0">
                        <a:buNone/>
                      </a:pPr>
                      <a:r>
                        <a:rPr lang="en-US" sz="900" b="1" dirty="0">
                          <a:solidFill>
                            <a:srgbClr val="F8F6F0"/>
                          </a:solidFill>
                          <a:latin typeface="Noto Sans KR" pitchFamily="34" charset="0"/>
                          <a:ea typeface="Noto Sans KR" pitchFamily="34" charset="-122"/>
                          <a:cs typeface="Noto Sans KR" pitchFamily="34" charset="-120"/>
                        </a:rPr>
                        <a:t>테이크 ↓ / 리텐션 →</a:t>
                      </a:r>
                      <a:endParaRPr lang="en-US" sz="9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60%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70%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80%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85%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r>
              <a:tr h="329184">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15%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47,833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63,777</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95,665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127,553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29184">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20%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78,958</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24380B"/>
                          </a:solidFill>
                          <a:latin typeface="Noto Sans KR" pitchFamily="34" charset="0"/>
                          <a:ea typeface="Noto Sans KR" pitchFamily="34" charset="-122"/>
                          <a:cs typeface="Noto Sans KR" pitchFamily="34" charset="-120"/>
                        </a:rPr>
                        <a:t>105,277</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157,915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210,553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29184">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25%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110,083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146,777</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220,165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EDE8DA"/>
                    </a:solidFill>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293,553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329184">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30%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141,208</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188,277</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282,415</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376,553</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bl>
          </a:graphicData>
        </a:graphic>
      </p:graphicFrame>
      <p:sp>
        <p:nvSpPr>
          <p:cNvPr id="11" name="Text 6"/>
          <p:cNvSpPr/>
          <p:nvPr/>
        </p:nvSpPr>
        <p:spPr>
          <a:xfrm>
            <a:off x="6355080" y="3712464"/>
            <a:ext cx="5148072" cy="1051560"/>
          </a:xfrm>
          <a:prstGeom prst="rect">
            <a:avLst/>
          </a:prstGeom>
          <a:noFill/>
          <a:ln/>
        </p:spPr>
        <p:txBody>
          <a:bodyPr wrap="square" lIns="0" tIns="0" rIns="0" bIns="0" rtlCol="0" anchor="t"/>
          <a:lstStyle/>
          <a:p>
            <a:pPr indent="0" marL="0">
              <a:lnSpc>
                <a:spcPct val="130000"/>
              </a:lnSpc>
              <a:buNone/>
            </a:pPr>
            <a:r>
              <a:rPr lang="en-US" sz="1050" b="1" dirty="0">
                <a:solidFill>
                  <a:srgbClr val="16211A"/>
                </a:solidFill>
                <a:latin typeface="Noto Sans KR" pitchFamily="34" charset="0"/>
                <a:ea typeface="Noto Sans KR" pitchFamily="34" charset="-122"/>
                <a:cs typeface="Noto Sans KR" pitchFamily="34" charset="-120"/>
              </a:rPr>
              <a:t>볼트 셀 = 모델 기본값(테이크 20% × 리텐션 70%, LTV ₩105,277).  </a:t>
            </a:r>
            <a:pPr indent="0" marL="0">
              <a:lnSpc>
                <a:spcPct val="130000"/>
              </a:lnSpc>
              <a:buNone/>
            </a:pPr>
            <a:r>
              <a:rPr lang="en-US" sz="1050" dirty="0">
                <a:solidFill>
                  <a:srgbClr val="16211A"/>
                </a:solidFill>
                <a:latin typeface="Noto Sans KR" pitchFamily="34" charset="0"/>
                <a:ea typeface="Noto Sans KR" pitchFamily="34" charset="-122"/>
                <a:cs typeface="Noto Sans KR" pitchFamily="34" charset="-120"/>
              </a:rPr>
              <a:t>클레이 셀 = 낙관(25% × 80%, ₩220,165). 두 레버를 함께 당기면 LTV가 2.09배가 된다. 테이크 5%p는 도그-월 순기여를 39% 올리고, 리텐션 10%p는 기대 수명을 3.3개월 → 5.0개월로 늘린다. 볼륨은 세 번째 레버다.</a:t>
            </a:r>
            <a:endParaRPr lang="en-US" sz="1050" dirty="0"/>
          </a:p>
        </p:txBody>
      </p:sp>
      <p:sp>
        <p:nvSpPr>
          <p:cNvPr id="12" name="Shape 7"/>
          <p:cNvSpPr/>
          <p:nvPr/>
        </p:nvSpPr>
        <p:spPr>
          <a:xfrm>
            <a:off x="685800" y="5138928"/>
            <a:ext cx="10817352" cy="987552"/>
          </a:xfrm>
          <a:prstGeom prst="rect">
            <a:avLst/>
          </a:prstGeom>
          <a:solidFill>
            <a:srgbClr val="0F1D13"/>
          </a:solidFill>
          <a:ln/>
        </p:spPr>
        <p:txBody>
          <a:bodyPr/>
          <a:p/>
        </p:txBody>
      </p:sp>
      <p:sp>
        <p:nvSpPr>
          <p:cNvPr id="13" name="Text 8"/>
          <p:cNvSpPr/>
          <p:nvPr/>
        </p:nvSpPr>
        <p:spPr>
          <a:xfrm>
            <a:off x="960120" y="5285232"/>
            <a:ext cx="10268712" cy="713232"/>
          </a:xfrm>
          <a:prstGeom prst="rect">
            <a:avLst/>
          </a:prstGeom>
          <a:noFill/>
          <a:ln/>
        </p:spPr>
        <p:txBody>
          <a:bodyPr wrap="square" lIns="0" tIns="0" rIns="0" bIns="0" rtlCol="0" anchor="t"/>
          <a:lstStyle/>
          <a:p>
            <a:pPr indent="0" marL="0">
              <a:lnSpc>
                <a:spcPct val="130000"/>
              </a:lnSpc>
              <a:buNone/>
            </a:pPr>
            <a:r>
              <a:rPr lang="en-US" sz="1100" b="1" dirty="0">
                <a:solidFill>
                  <a:srgbClr val="C6F542"/>
                </a:solidFill>
                <a:latin typeface="Noto Sans KR" pitchFamily="34" charset="0"/>
                <a:ea typeface="Noto Sans KR" pitchFamily="34" charset="-122"/>
                <a:cs typeface="Noto Sans KR" pitchFamily="34" charset="-120"/>
              </a:rPr>
              <a:t>정직 고지 — </a:t>
            </a:r>
            <a:pPr indent="0" marL="0">
              <a:lnSpc>
                <a:spcPct val="130000"/>
              </a:lnSpc>
              <a:buNone/>
            </a:pPr>
            <a:r>
              <a:rPr lang="en-US" sz="1100" dirty="0">
                <a:solidFill>
                  <a:srgbClr val="F8F6F0"/>
                </a:solidFill>
                <a:latin typeface="Noto Sans KR" pitchFamily="34" charset="0"/>
                <a:ea typeface="Noto Sans KR" pitchFamily="34" charset="-122"/>
                <a:cs typeface="Noto Sans KR" pitchFamily="34" charset="-120"/>
              </a:rPr>
              <a:t>① 위 모든 입력값은 가설입니다. 실측 0건, 청구된 적 없는 가격입니다.  ② 보험 단가 ₩1,000은 견적이 아니라 가정입니다 — 실제가 ₩3,000이면 도그-월 순기여가 63% 줄어듭니다.  ③ 첫 번째 동은 수익 유닛이 아니라 밀도 증명 유닛입니다 (다음 장에서 그대로 보여드립니다).</a:t>
            </a:r>
            <a:endParaRPr lang="en-US" sz="1100" dirty="0"/>
          </a:p>
        </p:txBody>
      </p:sp>
      <p:sp>
        <p:nvSpPr>
          <p:cNvPr id="14" name="Text 9"/>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자체 성장 모델 dogshigh-growth-model.xlsx (2026-07-30, Assumptions 시트 · 투자자 배포본 dogshigh-model-investor.xlsx) · PG 수수료 3.3%는 국내 카드 PG 통상 요율 추정(견적 전) · 최저임금위원회 2026년 시간급 10,320원.</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유닛 이코노믹스 (2/2) · 정직한 결론</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12</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500" b="1" dirty="0">
                <a:solidFill>
                  <a:srgbClr val="16211A"/>
                </a:solidFill>
                <a:latin typeface="Noto Sans KR" pitchFamily="34" charset="0"/>
                <a:ea typeface="Noto Sans KR" pitchFamily="34" charset="-122"/>
                <a:cs typeface="Noto Sans KR" pitchFamily="34" charset="-120"/>
              </a:rPr>
              <a:t>첫 번째 동은 이익 유닛이 아니라 ‘밀도 증명 유닛’입니다.</a:t>
            </a:r>
            <a:endParaRPr lang="en-US" sz="2500" dirty="0"/>
          </a:p>
        </p:txBody>
      </p:sp>
      <p:graphicFrame>
        <p:nvGraphicFramePr>
          <p:cNvPr id="5" name="Chart 0" descr=""/>
          <p:cNvGraphicFramePr/>
          <p:nvPr/>
        </p:nvGraphicFramePr>
        <p:xfrm>
          <a:off x="685800" y="1536192"/>
          <a:ext cx="539496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85800" y="4617720"/>
            <a:ext cx="5394960" cy="777240"/>
          </a:xfrm>
          <a:prstGeom prst="rect">
            <a:avLst/>
          </a:prstGeom>
          <a:noFill/>
          <a:ln/>
        </p:spPr>
        <p:txBody>
          <a:bodyPr wrap="square" lIns="0" tIns="0" rIns="0" bIns="0" rtlCol="0" anchor="t"/>
          <a:lstStyle/>
          <a:p>
            <a:pPr indent="0" marL="0">
              <a:lnSpc>
                <a:spcPct val="128000"/>
              </a:lnSpc>
              <a:buNone/>
            </a:pPr>
            <a:r>
              <a:rPr lang="en-US" sz="1000" dirty="0">
                <a:solidFill>
                  <a:srgbClr val="FF5C3D"/>
                </a:solidFill>
                <a:latin typeface="Noto Sans KR" pitchFamily="34" charset="0"/>
                <a:ea typeface="Noto Sans KR" pitchFamily="34" charset="-122"/>
                <a:cs typeface="Noto Sans KR" pitchFamily="34" charset="-120"/>
              </a:rPr>
              <a:t>리퍼럴 2.6×는 3× 기준 미달입니다 — 감추지 않고 그대로 둡니다. 보상을 무료런 1회로 줄이면 CAC ₩39,840 → ₩19,920, LTV:CAC 5.3×가 됩니다. 페이드 IG는 오가닉 CAC를 알기 전까지 집행하지 않습니다.</a:t>
            </a:r>
            <a:endParaRPr lang="en-US" sz="1000" dirty="0"/>
          </a:p>
        </p:txBody>
      </p:sp>
      <p:sp>
        <p:nvSpPr>
          <p:cNvPr id="7" name="Text 4"/>
          <p:cNvSpPr/>
          <p:nvPr/>
        </p:nvSpPr>
        <p:spPr>
          <a:xfrm>
            <a:off x="6446520" y="1536192"/>
            <a:ext cx="5056632" cy="256032"/>
          </a:xfrm>
          <a:prstGeom prst="rect">
            <a:avLst/>
          </a:prstGeom>
          <a:noFill/>
          <a:ln/>
        </p:spPr>
        <p:txBody>
          <a:bodyPr wrap="square" lIns="0" tIns="0" rIns="0" bIns="0" rtlCol="0" anchor="ctr"/>
          <a:lstStyle/>
          <a:p>
            <a:pPr indent="0" marL="0">
              <a:buNone/>
            </a:pPr>
            <a:r>
              <a:rPr lang="en-US" sz="1000" b="1" spc="100" kern="0" dirty="0">
                <a:solidFill>
                  <a:srgbClr val="6E6B5E"/>
                </a:solidFill>
                <a:latin typeface="Noto Sans KR" pitchFamily="34" charset="0"/>
                <a:ea typeface="Noto Sans KR" pitchFamily="34" charset="-122"/>
                <a:cs typeface="Noto Sans KR" pitchFamily="34" charset="-120"/>
              </a:rPr>
              <a:t>벽 1. 성장 플래토 — 리텐션이 밀도를 만든다</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46520" y="1810512"/>
          <a:ext cx="5056632" cy="914400"/>
        </p:xfrm>
        <a:graphic>
          <a:graphicData uri="http://schemas.openxmlformats.org/drawingml/2006/table">
            <a:tbl>
              <a:tblPr/>
              <a:tblGrid>
                <a:gridCol w="2130552"/>
                <a:gridCol w="1645920"/>
                <a:gridCol w="1280160"/>
              </a:tblGrid>
              <a:tr h="292608">
                <a:tc>
                  <a:txBody>
                    <a:bodyPr/>
                    <a:lstStyle/>
                    <a:p>
                      <a:pPr indent="0" marL="0">
                        <a:buNone/>
                      </a:pPr>
                      <a:r>
                        <a:rPr lang="en-US" sz="1000" b="1" dirty="0">
                          <a:solidFill>
                            <a:srgbClr val="F8F6F0"/>
                          </a:solidFill>
                          <a:latin typeface="Noto Sans KR" pitchFamily="34" charset="0"/>
                          <a:ea typeface="Noto Sans KR" pitchFamily="34" charset="-122"/>
                          <a:cs typeface="Noto Sans KR" pitchFamily="34" charset="-120"/>
                        </a:rPr>
                        <a:t>월 리텐션</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안정상태 유료견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배수</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r>
              <a:tr h="292608">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60%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18.8마리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0.7×</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292608">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70% (모델 기본)</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27.3마리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1.0×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292608">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80%</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50.0마리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1.8×</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r>
            </a:tbl>
          </a:graphicData>
        </a:graphic>
      </p:graphicFrame>
      <p:sp>
        <p:nvSpPr>
          <p:cNvPr id="9" name="Text 5"/>
          <p:cNvSpPr/>
          <p:nvPr/>
        </p:nvSpPr>
        <p:spPr>
          <a:xfrm>
            <a:off x="6446520" y="3127248"/>
            <a:ext cx="5056632" cy="256032"/>
          </a:xfrm>
          <a:prstGeom prst="rect">
            <a:avLst/>
          </a:prstGeom>
          <a:noFill/>
          <a:ln/>
        </p:spPr>
        <p:txBody>
          <a:bodyPr wrap="square" lIns="0" tIns="0" rIns="0" bIns="0" rtlCol="0" anchor="ctr"/>
          <a:lstStyle/>
          <a:p>
            <a:pPr indent="0" marL="0">
              <a:buNone/>
            </a:pPr>
            <a:r>
              <a:rPr lang="en-US" sz="1000" b="1" spc="100" kern="0" dirty="0">
                <a:solidFill>
                  <a:srgbClr val="6E6B5E"/>
                </a:solidFill>
                <a:latin typeface="Noto Sans KR" pitchFamily="34" charset="0"/>
                <a:ea typeface="Noto Sans KR" pitchFamily="34" charset="-122"/>
                <a:cs typeface="Noto Sans KR" pitchFamily="34" charset="-120"/>
              </a:rPr>
              <a:t>벽 2. 흑자 전환선 — 월 고정비 ₩2.1M을 넘기려면</a:t>
            </a:r>
            <a:endParaRPr lang="en-US" sz="10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446520" y="3401568"/>
          <a:ext cx="5056632" cy="914400"/>
        </p:xfrm>
        <a:graphic>
          <a:graphicData uri="http://schemas.openxmlformats.org/drawingml/2006/table">
            <a:tbl>
              <a:tblPr/>
              <a:tblGrid>
                <a:gridCol w="3685032"/>
                <a:gridCol w="1371600"/>
              </a:tblGrid>
              <a:tr h="292608">
                <a:tc>
                  <a:txBody>
                    <a:bodyPr/>
                    <a:lstStyle/>
                    <a:p>
                      <a:pPr indent="0" marL="0">
                        <a:buNone/>
                      </a:pPr>
                      <a:r>
                        <a:rPr lang="en-US" sz="1000" b="1" dirty="0">
                          <a:solidFill>
                            <a:srgbClr val="F8F6F0"/>
                          </a:solidFill>
                          <a:latin typeface="Noto Sans KR" pitchFamily="34" charset="0"/>
                          <a:ea typeface="Noto Sans KR" pitchFamily="34" charset="-122"/>
                          <a:cs typeface="Noto Sans KR" pitchFamily="34" charset="-120"/>
                        </a:rPr>
                        <a:t>조건</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c>
                  <a:txBody>
                    <a:bodyPr/>
                    <a:lstStyle/>
                    <a:p>
                      <a:pPr algn="r" indent="0" marL="0">
                        <a:buNone/>
                      </a:pPr>
                      <a:r>
                        <a:rPr lang="en-US" sz="1000" b="1" dirty="0">
                          <a:solidFill>
                            <a:srgbClr val="F8F6F0"/>
                          </a:solidFill>
                          <a:latin typeface="Noto Sans KR" pitchFamily="34" charset="0"/>
                          <a:ea typeface="Noto Sans KR" pitchFamily="34" charset="-122"/>
                          <a:cs typeface="Noto Sans KR" pitchFamily="34" charset="-120"/>
                        </a:rPr>
                        <a:t>필요 유료견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0F1D13"/>
                    </a:solidFill>
                  </a:tcPr>
                </a:tc>
              </a:tr>
              <a:tr h="292608">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테이크 20% · 이벤트비 ₩400k×4 (현 가정)</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b="1" dirty="0">
                          <a:solidFill>
                            <a:srgbClr val="FF5C3D"/>
                          </a:solidFill>
                          <a:latin typeface="Noto Sans KR" pitchFamily="34" charset="0"/>
                          <a:ea typeface="Noto Sans KR" pitchFamily="34" charset="-122"/>
                          <a:cs typeface="Noto Sans KR" pitchFamily="34" charset="-120"/>
                        </a:rPr>
                        <a:t>74마리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292608">
                <a:tc>
                  <a:txBody>
                    <a:bodyPr/>
                    <a:lstStyle/>
                    <a:p>
                      <a:pPr indent="0" marL="0">
                        <a:buNone/>
                      </a:pPr>
                      <a:r>
                        <a:rPr lang="en-US" sz="1000" dirty="0">
                          <a:solidFill>
                            <a:srgbClr val="16211A"/>
                          </a:solidFill>
                          <a:latin typeface="Noto Sans KR" pitchFamily="34" charset="0"/>
                          <a:ea typeface="Noto Sans KR" pitchFamily="34" charset="-122"/>
                          <a:cs typeface="Noto Sans KR" pitchFamily="34" charset="-120"/>
                        </a:rPr>
                        <a:t>테이크 25% · 이벤트비 동일</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c>
                  <a:txBody>
                    <a:bodyPr/>
                    <a:lstStyle/>
                    <a:p>
                      <a:pPr algn="r" indent="0" marL="0">
                        <a:buNone/>
                      </a:pPr>
                      <a:r>
                        <a:rPr lang="en-US" sz="1000" dirty="0">
                          <a:solidFill>
                            <a:srgbClr val="16211A"/>
                          </a:solidFill>
                          <a:latin typeface="Noto Sans KR" pitchFamily="34" charset="0"/>
                          <a:ea typeface="Noto Sans KR" pitchFamily="34" charset="-122"/>
                          <a:cs typeface="Noto Sans KR" pitchFamily="34" charset="-120"/>
                        </a:rPr>
                        <a:t>51마리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tcPr>
                </a:tc>
              </a:tr>
              <a:tr h="292608">
                <a:tc>
                  <a:txBody>
                    <a:bodyPr/>
                    <a:lstStyle/>
                    <a:p>
                      <a:pPr indent="0" marL="0">
                        <a:buNone/>
                      </a:pPr>
                      <a:r>
                        <a:rPr lang="en-US" sz="1000" b="1" dirty="0">
                          <a:solidFill>
                            <a:srgbClr val="16211A"/>
                          </a:solidFill>
                          <a:latin typeface="Noto Sans KR" pitchFamily="34" charset="0"/>
                          <a:ea typeface="Noto Sans KR" pitchFamily="34" charset="-122"/>
                          <a:cs typeface="Noto Sans KR" pitchFamily="34" charset="-120"/>
                        </a:rPr>
                        <a:t>테이크 25% + 스폰서로 이벤트비 절반</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c>
                  <a:txBody>
                    <a:bodyPr/>
                    <a:lstStyle/>
                    <a:p>
                      <a:pPr algn="r" indent="0" marL="0">
                        <a:buNone/>
                      </a:pPr>
                      <a:r>
                        <a:rPr lang="en-US" sz="1000" b="1" dirty="0">
                          <a:solidFill>
                            <a:srgbClr val="16211A"/>
                          </a:solidFill>
                          <a:latin typeface="Noto Sans KR" pitchFamily="34" charset="0"/>
                          <a:ea typeface="Noto Sans KR" pitchFamily="34" charset="-122"/>
                          <a:cs typeface="Noto Sans KR" pitchFamily="34" charset="-120"/>
                        </a:rPr>
                        <a:t>32마리</a:t>
                      </a:r>
                      <a:endParaRPr lang="en-US" sz="1000" dirty="0">
                        <a:latin typeface="Noto Sans KR" charset="0"/>
                        <a:ea typeface="Noto Sans KR" charset="0"/>
                        <a:cs typeface="Noto Sans KR" charset="0"/>
                      </a:endParaRPr>
                    </a:p>
                  </a:txBody>
                  <a:tcPr marL="76200" marR="76200" marT="38100" marB="38100" anchor="ctr">
                    <a:lnL w="6350" cap="flat" cmpd="sng" algn="ctr">
                      <a:solidFill>
                        <a:srgbClr val="DCD6C4"/>
                      </a:solidFill>
                      <a:prstDash val="solid"/>
                      <a:round/>
                      <a:headEnd type="none" w="med" len="med"/>
                      <a:tailEnd type="none" w="med" len="med"/>
                    </a:lnL>
                    <a:lnR w="6350" cap="flat" cmpd="sng" algn="ctr">
                      <a:solidFill>
                        <a:srgbClr val="DCD6C4"/>
                      </a:solidFill>
                      <a:prstDash val="solid"/>
                      <a:round/>
                      <a:headEnd type="none" w="med" len="med"/>
                      <a:tailEnd type="none" w="med" len="med"/>
                    </a:lnR>
                    <a:lnT w="6350" cap="flat" cmpd="sng" algn="ctr">
                      <a:solidFill>
                        <a:srgbClr val="DCD6C4"/>
                      </a:solidFill>
                      <a:prstDash val="solid"/>
                      <a:round/>
                      <a:headEnd type="none" w="med" len="med"/>
                      <a:tailEnd type="none" w="med" len="med"/>
                    </a:lnT>
                    <a:lnB w="6350" cap="flat" cmpd="sng" algn="ctr">
                      <a:solidFill>
                        <a:srgbClr val="DCD6C4"/>
                      </a:solidFill>
                      <a:prstDash val="solid"/>
                      <a:round/>
                      <a:headEnd type="none" w="med" len="med"/>
                      <a:tailEnd type="none" w="med" len="med"/>
                    </a:lnB>
                    <a:solidFill>
                      <a:srgbClr val="C6F542"/>
                    </a:solidFill>
                  </a:tcPr>
                </a:tc>
              </a:tr>
            </a:tbl>
          </a:graphicData>
        </a:graphic>
      </p:graphicFrame>
      <p:sp>
        <p:nvSpPr>
          <p:cNvPr id="11" name="Text 6"/>
          <p:cNvSpPr/>
          <p:nvPr/>
        </p:nvSpPr>
        <p:spPr>
          <a:xfrm>
            <a:off x="6446520" y="4709160"/>
            <a:ext cx="5056632" cy="822960"/>
          </a:xfrm>
          <a:prstGeom prst="rect">
            <a:avLst/>
          </a:prstGeom>
          <a:noFill/>
          <a:ln/>
        </p:spPr>
        <p:txBody>
          <a:bodyPr wrap="square" lIns="0" tIns="0" rIns="0" bIns="0" rtlCol="0" anchor="t"/>
          <a:lstStyle/>
          <a:p>
            <a:pPr indent="0" marL="0">
              <a:lnSpc>
                <a:spcPct val="128000"/>
              </a:lnSpc>
              <a:buNone/>
            </a:pPr>
            <a:r>
              <a:rPr lang="en-US" sz="1000" b="1" dirty="0">
                <a:solidFill>
                  <a:srgbClr val="16211A"/>
                </a:solidFill>
                <a:latin typeface="Noto Sans KR" pitchFamily="34" charset="0"/>
                <a:ea typeface="Noto Sans KR" pitchFamily="34" charset="-122"/>
                <a:cs typeface="Noto Sans KR" pitchFamily="34" charset="-120"/>
              </a:rPr>
              <a:t>레버 우선순위 — ① 테이크 20→25% (흑자선 74→51마리)  ② 리텐션 70→80% (플래토 27→50마리)  ③ 이벤트 스폰서십 2슬롯 판매: 자본 없이 실행 가능한 가장 빠른 레버  ④ 리퍼럴 보상 2회→1회</a:t>
            </a:r>
            <a:endParaRPr lang="en-US" sz="1000" dirty="0"/>
          </a:p>
        </p:txBody>
      </p:sp>
      <p:sp>
        <p:nvSpPr>
          <p:cNvPr id="12" name="Shape 7"/>
          <p:cNvSpPr/>
          <p:nvPr/>
        </p:nvSpPr>
        <p:spPr>
          <a:xfrm>
            <a:off x="685800" y="5504688"/>
            <a:ext cx="10817352" cy="713232"/>
          </a:xfrm>
          <a:prstGeom prst="rect">
            <a:avLst/>
          </a:prstGeom>
          <a:solidFill>
            <a:srgbClr val="0F1D13"/>
          </a:solidFill>
          <a:ln/>
        </p:spPr>
        <p:txBody>
          <a:bodyPr/>
          <a:p/>
        </p:txBody>
      </p:sp>
      <p:sp>
        <p:nvSpPr>
          <p:cNvPr id="13" name="Text 8"/>
          <p:cNvSpPr/>
          <p:nvPr/>
        </p:nvSpPr>
        <p:spPr>
          <a:xfrm>
            <a:off x="960120" y="5650992"/>
            <a:ext cx="10268712" cy="457200"/>
          </a:xfrm>
          <a:prstGeom prst="rect">
            <a:avLst/>
          </a:prstGeom>
          <a:noFill/>
          <a:ln/>
        </p:spPr>
        <p:txBody>
          <a:bodyPr wrap="square" lIns="0" tIns="0" rIns="0" bIns="0" rtlCol="0" anchor="ctr"/>
          <a:lstStyle/>
          <a:p>
            <a:pPr indent="0" marL="0">
              <a:lnSpc>
                <a:spcPct val="125000"/>
              </a:lnSpc>
              <a:buNone/>
            </a:pPr>
            <a:r>
              <a:rPr lang="en-US" sz="1050" b="1" dirty="0">
                <a:solidFill>
                  <a:srgbClr val="C6F542"/>
                </a:solidFill>
                <a:latin typeface="Noto Sans KR" pitchFamily="34" charset="0"/>
                <a:ea typeface="Noto Sans KR" pitchFamily="34" charset="-122"/>
                <a:cs typeface="Noto Sans KR" pitchFamily="34" charset="-120"/>
              </a:rPr>
              <a:t>모델 12개월 합계 (기본 가정 · 단일 동):  </a:t>
            </a:r>
            <a:pPr indent="0" marL="0">
              <a:lnSpc>
                <a:spcPct val="125000"/>
              </a:lnSpc>
              <a:buNone/>
            </a:pPr>
            <a:r>
              <a:rPr lang="en-US" sz="1050" dirty="0">
                <a:solidFill>
                  <a:srgbClr val="F8F6F0"/>
                </a:solidFill>
                <a:latin typeface="Noto Sans KR" pitchFamily="34" charset="0"/>
                <a:ea typeface="Noto Sans KR" pitchFamily="34" charset="-122"/>
                <a:cs typeface="Noto Sans KR" pitchFamily="34" charset="-120"/>
              </a:rPr>
              <a:t>GMV ₩69.4M · 순플랫폼 수익 ₩8.8M · 총비용 ₩29.1M · 누적 순현금 −₩20.3M · 12개월차 유료견 26.5마리 —  </a:t>
            </a:r>
            <a:pPr indent="0" marL="0">
              <a:lnSpc>
                <a:spcPct val="125000"/>
              </a:lnSpc>
              <a:buNone/>
            </a:pPr>
            <a:r>
              <a:rPr lang="en-US" sz="1050" b="1" dirty="0">
                <a:solidFill>
                  <a:srgbClr val="C6F542"/>
                </a:solidFill>
                <a:latin typeface="Noto Sans KR" pitchFamily="34" charset="0"/>
                <a:ea typeface="Noto Sans KR" pitchFamily="34" charset="-122"/>
                <a:cs typeface="Noto Sans KR" pitchFamily="34" charset="-120"/>
              </a:rPr>
              <a:t>첫 동은 월 흑자에 도달하지 않습니다. 그대로 적습니다.</a:t>
            </a:r>
            <a:endParaRPr lang="en-US" sz="1050" dirty="0"/>
          </a:p>
        </p:txBody>
      </p:sp>
      <p:sp>
        <p:nvSpPr>
          <p:cNvPr id="14" name="Text 9"/>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자체 성장 모델 dogshigh-growth-model.xlsx Projection 시트 (투자자 배포본: dogshigh-model-investor.xlsx, Summary 시트) (2026-07-30). CAC·리텐션·테이크레이트는 전부 미검증 가설이며, 실데이터는 2026년 12월 Phase-3 회고에서 확정됨.</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자금 사용 계획</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13</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1.5억 · 12개월 집행 — 실질 약 16개월 런웨이.</a:t>
            </a:r>
            <a:endParaRPr lang="en-US" sz="2600" dirty="0"/>
          </a:p>
        </p:txBody>
      </p:sp>
      <p:sp>
        <p:nvSpPr>
          <p:cNvPr id="5" name="Shape 3"/>
          <p:cNvSpPr/>
          <p:nvPr/>
        </p:nvSpPr>
        <p:spPr>
          <a:xfrm>
            <a:off x="685800" y="1554480"/>
            <a:ext cx="3840480" cy="1417320"/>
          </a:xfrm>
          <a:prstGeom prst="rect">
            <a:avLst/>
          </a:prstGeom>
          <a:solidFill>
            <a:srgbClr val="0F1D13"/>
          </a:solidFill>
          <a:ln/>
        </p:spPr>
        <p:txBody>
          <a:bodyPr/>
          <a:p/>
        </p:txBody>
      </p:sp>
      <p:sp>
        <p:nvSpPr>
          <p:cNvPr id="6" name="Text 4"/>
          <p:cNvSpPr/>
          <p:nvPr/>
        </p:nvSpPr>
        <p:spPr>
          <a:xfrm>
            <a:off x="960120" y="1719072"/>
            <a:ext cx="3291840" cy="685800"/>
          </a:xfrm>
          <a:prstGeom prst="rect">
            <a:avLst/>
          </a:prstGeom>
          <a:noFill/>
          <a:ln/>
        </p:spPr>
        <p:txBody>
          <a:bodyPr wrap="square" lIns="0" tIns="0" rIns="0" bIns="0" rtlCol="0" anchor="ctr"/>
          <a:lstStyle/>
          <a:p>
            <a:pPr indent="0" marL="0">
              <a:buNone/>
            </a:pPr>
            <a:r>
              <a:rPr lang="en-US" sz="4000" b="1" dirty="0">
                <a:solidFill>
                  <a:srgbClr val="C6F542"/>
                </a:solidFill>
                <a:latin typeface="Noto Sans KR" pitchFamily="34" charset="0"/>
                <a:ea typeface="Noto Sans KR" pitchFamily="34" charset="-122"/>
                <a:cs typeface="Noto Sans KR" pitchFamily="34" charset="-120"/>
              </a:rPr>
              <a:t>1.5억</a:t>
            </a:r>
            <a:endParaRPr lang="en-US" sz="4000" dirty="0"/>
          </a:p>
        </p:txBody>
      </p:sp>
      <p:sp>
        <p:nvSpPr>
          <p:cNvPr id="7" name="Text 5"/>
          <p:cNvSpPr/>
          <p:nvPr/>
        </p:nvSpPr>
        <p:spPr>
          <a:xfrm>
            <a:off x="960120" y="2432304"/>
            <a:ext cx="3291840" cy="411480"/>
          </a:xfrm>
          <a:prstGeom prst="rect">
            <a:avLst/>
          </a:prstGeom>
          <a:noFill/>
          <a:ln/>
        </p:spPr>
        <p:txBody>
          <a:bodyPr wrap="square" lIns="0" tIns="0" rIns="0" bIns="0" rtlCol="0" anchor="t"/>
          <a:lstStyle/>
          <a:p>
            <a:pPr indent="0" marL="0">
              <a:lnSpc>
                <a:spcPct val="125000"/>
              </a:lnSpc>
              <a:buNone/>
            </a:pPr>
            <a:r>
              <a:rPr lang="en-US" sz="1000" dirty="0">
                <a:solidFill>
                  <a:srgbClr val="9FAE9C"/>
                </a:solidFill>
                <a:latin typeface="Noto Sans KR" pitchFamily="34" charset="0"/>
                <a:ea typeface="Noto Sans KR" pitchFamily="34" charset="-122"/>
                <a:cs typeface="Noto Sans KR" pitchFamily="34" charset="-120"/>
              </a:rPr>
              <a:t>₩150,000,000 — 라운드 레인지 1–2억의 중간값 기준 · 전 라인 [가설]/[추정]</a:t>
            </a:r>
            <a:endParaRPr lang="en-US" sz="1000" dirty="0"/>
          </a:p>
        </p:txBody>
      </p:sp>
      <p:sp>
        <p:nvSpPr>
          <p:cNvPr id="8" name="Text 6"/>
          <p:cNvSpPr/>
          <p:nvPr/>
        </p:nvSpPr>
        <p:spPr>
          <a:xfrm>
            <a:off x="685800" y="3154680"/>
            <a:ext cx="3840480" cy="274320"/>
          </a:xfrm>
          <a:prstGeom prst="rect">
            <a:avLst/>
          </a:prstGeom>
          <a:noFill/>
          <a:ln/>
        </p:spPr>
        <p:txBody>
          <a:bodyPr wrap="square" lIns="0" tIns="0" rIns="0" bIns="0" rtlCol="0" anchor="t"/>
          <a:lstStyle/>
          <a:p>
            <a:pPr indent="0" marL="0">
              <a:buNone/>
            </a:pPr>
            <a:r>
              <a:rPr lang="en-US" sz="1050" b="1" dirty="0">
                <a:solidFill>
                  <a:srgbClr val="16211A"/>
                </a:solidFill>
                <a:latin typeface="Noto Sans KR" pitchFamily="34" charset="0"/>
                <a:ea typeface="Noto Sans KR" pitchFamily="34" charset="-122"/>
                <a:cs typeface="Noto Sans KR" pitchFamily="34" charset="-120"/>
              </a:rPr>
              <a:t>Q. 월 ₩12.5M 번인데 모델은 월 −₩1.4M 아닌가?</a:t>
            </a:r>
            <a:endParaRPr lang="en-US" sz="1050" dirty="0"/>
          </a:p>
        </p:txBody>
      </p:sp>
      <p:sp>
        <p:nvSpPr>
          <p:cNvPr id="9" name="Text 7"/>
          <p:cNvSpPr/>
          <p:nvPr/>
        </p:nvSpPr>
        <p:spPr>
          <a:xfrm>
            <a:off x="685800" y="3429000"/>
            <a:ext cx="3840480" cy="713232"/>
          </a:xfrm>
          <a:prstGeom prst="rect">
            <a:avLst/>
          </a:prstGeom>
          <a:noFill/>
          <a:ln/>
        </p:spPr>
        <p:txBody>
          <a:bodyPr wrap="square" lIns="0" tIns="0" rIns="0" bIns="0" rtlCol="0" anchor="t"/>
          <a:lstStyle/>
          <a:p>
            <a:pPr indent="0" marL="0">
              <a:lnSpc>
                <a:spcPct val="122000"/>
              </a:lnSpc>
              <a:buNone/>
            </a:pPr>
            <a:r>
              <a:rPr lang="en-US" sz="900" dirty="0">
                <a:solidFill>
                  <a:srgbClr val="6E6B5E"/>
                </a:solidFill>
                <a:latin typeface="Noto Sans KR" pitchFamily="34" charset="0"/>
                <a:ea typeface="Noto Sans KR" pitchFamily="34" charset="-122"/>
                <a:cs typeface="Noto Sans KR" pitchFamily="34" charset="-120"/>
              </a:rPr>
              <a:t>맞습니다. 모델은 마케팅 + 고정운영만 담습니다. 이 예산은 그 위에 창업자 생활비·개발·법률·인력 등 회사 운영 실비를 얹은 것이고, 그래서 ₩150M은 12개월이 아니라 실질 약 16개월 런웨이입니다. 예산을 부풀려 12개월을 채우지 않았습니다.</a:t>
            </a:r>
            <a:endParaRPr lang="en-US" sz="900" dirty="0"/>
          </a:p>
        </p:txBody>
      </p:sp>
      <p:sp>
        <p:nvSpPr>
          <p:cNvPr id="10" name="Text 8"/>
          <p:cNvSpPr/>
          <p:nvPr/>
        </p:nvSpPr>
        <p:spPr>
          <a:xfrm>
            <a:off x="685800" y="4187952"/>
            <a:ext cx="3840480" cy="274320"/>
          </a:xfrm>
          <a:prstGeom prst="rect">
            <a:avLst/>
          </a:prstGeom>
          <a:noFill/>
          <a:ln/>
        </p:spPr>
        <p:txBody>
          <a:bodyPr wrap="square" lIns="0" tIns="0" rIns="0" bIns="0" rtlCol="0" anchor="t"/>
          <a:lstStyle/>
          <a:p>
            <a:pPr indent="0" marL="0">
              <a:buNone/>
            </a:pPr>
            <a:r>
              <a:rPr lang="en-US" sz="1050" b="1" dirty="0">
                <a:solidFill>
                  <a:srgbClr val="16211A"/>
                </a:solidFill>
                <a:latin typeface="Noto Sans KR" pitchFamily="34" charset="0"/>
                <a:ea typeface="Noto Sans KR" pitchFamily="34" charset="-122"/>
                <a:cs typeface="Noto Sans KR" pitchFamily="34" charset="-120"/>
              </a:rPr>
              <a:t>Q. 모델 비용과 중복 계상 아닌가?</a:t>
            </a:r>
            <a:endParaRPr lang="en-US" sz="1050" dirty="0"/>
          </a:p>
        </p:txBody>
      </p:sp>
      <p:sp>
        <p:nvSpPr>
          <p:cNvPr id="11" name="Text 9"/>
          <p:cNvSpPr/>
          <p:nvPr/>
        </p:nvSpPr>
        <p:spPr>
          <a:xfrm>
            <a:off x="685800" y="4462272"/>
            <a:ext cx="3840480" cy="713232"/>
          </a:xfrm>
          <a:prstGeom prst="rect">
            <a:avLst/>
          </a:prstGeom>
          <a:noFill/>
          <a:ln/>
        </p:spPr>
        <p:txBody>
          <a:bodyPr wrap="square" lIns="0" tIns="0" rIns="0" bIns="0" rtlCol="0" anchor="t"/>
          <a:lstStyle/>
          <a:p>
            <a:pPr indent="0" marL="0">
              <a:lnSpc>
                <a:spcPct val="122000"/>
              </a:lnSpc>
              <a:buNone/>
            </a:pPr>
            <a:r>
              <a:rPr lang="en-US" sz="900" dirty="0">
                <a:solidFill>
                  <a:srgbClr val="6E6B5E"/>
                </a:solidFill>
                <a:latin typeface="Noto Sans KR" pitchFamily="34" charset="0"/>
                <a:ea typeface="Noto Sans KR" pitchFamily="34" charset="-122"/>
                <a:cs typeface="Noto Sans KR" pitchFamily="34" charset="-120"/>
              </a:rPr>
              <a:t>모델 12개월 총비용 ₩29.1M 중 이벤트·무료런·마케팅 부분이 위 ‘마케팅·그로스’에 대응합니다. 나머지 라인은 모델에 없는 항목입니다. 모델 순플랫폼 수익 ₩8.8M은 수입으로 반영하지 않았습니다 — 보수적으로 봅니다.</a:t>
            </a:r>
            <a:endParaRPr lang="en-US" sz="900" dirty="0"/>
          </a:p>
        </p:txBody>
      </p:sp>
      <p:sp>
        <p:nvSpPr>
          <p:cNvPr id="12" name="Text 10"/>
          <p:cNvSpPr/>
          <p:nvPr/>
        </p:nvSpPr>
        <p:spPr>
          <a:xfrm>
            <a:off x="685800" y="5221224"/>
            <a:ext cx="3840480" cy="274320"/>
          </a:xfrm>
          <a:prstGeom prst="rect">
            <a:avLst/>
          </a:prstGeom>
          <a:noFill/>
          <a:ln/>
        </p:spPr>
        <p:txBody>
          <a:bodyPr wrap="square" lIns="0" tIns="0" rIns="0" bIns="0" rtlCol="0" anchor="t"/>
          <a:lstStyle/>
          <a:p>
            <a:pPr indent="0" marL="0">
              <a:buNone/>
            </a:pPr>
            <a:r>
              <a:rPr lang="en-US" sz="1050" b="1" dirty="0">
                <a:solidFill>
                  <a:srgbClr val="16211A"/>
                </a:solidFill>
                <a:latin typeface="Noto Sans KR" pitchFamily="34" charset="0"/>
                <a:ea typeface="Noto Sans KR" pitchFamily="34" charset="-122"/>
                <a:cs typeface="Noto Sans KR" pitchFamily="34" charset="-120"/>
              </a:rPr>
              <a:t>Q. 왜 인력을 더 안 뽑나?</a:t>
            </a:r>
            <a:endParaRPr lang="en-US" sz="1050" dirty="0"/>
          </a:p>
        </p:txBody>
      </p:sp>
      <p:sp>
        <p:nvSpPr>
          <p:cNvPr id="13" name="Text 11"/>
          <p:cNvSpPr/>
          <p:nvPr/>
        </p:nvSpPr>
        <p:spPr>
          <a:xfrm>
            <a:off x="685800" y="5495544"/>
            <a:ext cx="3840480" cy="713232"/>
          </a:xfrm>
          <a:prstGeom prst="rect">
            <a:avLst/>
          </a:prstGeom>
          <a:noFill/>
          <a:ln/>
        </p:spPr>
        <p:txBody>
          <a:bodyPr wrap="square" lIns="0" tIns="0" rIns="0" bIns="0" rtlCol="0" anchor="t"/>
          <a:lstStyle/>
          <a:p>
            <a:pPr indent="0" marL="0">
              <a:lnSpc>
                <a:spcPct val="122000"/>
              </a:lnSpc>
              <a:buNone/>
            </a:pPr>
            <a:r>
              <a:rPr lang="en-US" sz="900" dirty="0">
                <a:solidFill>
                  <a:srgbClr val="6E6B5E"/>
                </a:solidFill>
                <a:latin typeface="Noto Sans KR" pitchFamily="34" charset="0"/>
                <a:ea typeface="Noto Sans KR" pitchFamily="34" charset="-122"/>
                <a:cs typeface="Noto Sans KR" pitchFamily="34" charset="-120"/>
              </a:rPr>
              <a:t>러너는 정규 고용이 아니라 인증 계약자이고(공급 확장은 마케팅 비용에 가깝습니다), 백엔드는 클럽 위탁런까지 기능 완성 상태입니다. 12개월 안에 필요한 건 사람이 아니라 한 동의 밀도 데이터입니다.</a:t>
            </a:r>
            <a:endParaRPr lang="en-US" sz="900" dirty="0"/>
          </a:p>
        </p:txBody>
      </p:sp>
      <p:graphicFrame>
        <p:nvGraphicFramePr>
          <p:cNvPr id="14" name="Chart 0" descr=""/>
          <p:cNvGraphicFramePr/>
          <p:nvPr/>
        </p:nvGraphicFramePr>
        <p:xfrm>
          <a:off x="4892040" y="1554480"/>
          <a:ext cx="6611112" cy="429768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4892040" y="5870448"/>
            <a:ext cx="6611112" cy="320040"/>
          </a:xfrm>
          <a:prstGeom prst="rect">
            <a:avLst/>
          </a:prstGeom>
          <a:noFill/>
          <a:ln/>
        </p:spPr>
        <p:txBody>
          <a:bodyPr wrap="square" lIns="0" tIns="0" rIns="0" bIns="0" rtlCol="0" anchor="t"/>
          <a:lstStyle/>
          <a:p>
            <a:pPr indent="0" marL="0">
              <a:buNone/>
            </a:pPr>
            <a:r>
              <a:rPr lang="en-US" sz="1000" b="1" dirty="0">
                <a:solidFill>
                  <a:srgbClr val="6E6B5E"/>
                </a:solidFill>
                <a:latin typeface="Noto Sans KR" pitchFamily="34" charset="0"/>
                <a:ea typeface="Noto Sans KR" pitchFamily="34" charset="-122"/>
                <a:cs typeface="Noto Sans KR" pitchFamily="34" charset="-120"/>
              </a:rPr>
              <a:t>예비비 ₩40M(27%)은 Q1 2027 정부지원 심사 지연과 시드 협상 기간을 대비한 약 4개월 추가 런웨이입니다.</a:t>
            </a:r>
            <a:endParaRPr lang="en-US" sz="1000" dirty="0"/>
          </a:p>
        </p:txBody>
      </p:sp>
      <p:sp>
        <p:nvSpPr>
          <p:cNvPr id="16" name="Text 13"/>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자체 예산안(2026-08-03). 창업자 생활비는 2026 최저임금 월 환산액 ₩2,156,880(10,320원×209h) 미만으로 책정 — 고용노동부 고시 기준. 전 라인 미집행 계획값.</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로드맵 · 마일스톤</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14</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700" b="1" dirty="0">
                <a:solidFill>
                  <a:srgbClr val="16211A"/>
                </a:solidFill>
                <a:latin typeface="Noto Sans KR" pitchFamily="34" charset="0"/>
                <a:ea typeface="Noto Sans KR" pitchFamily="34" charset="-122"/>
                <a:cs typeface="Noto Sans KR" pitchFamily="34" charset="-120"/>
              </a:rPr>
              <a:t>다음 라운드의 자격은 이 세 숫자로 정한다.</a:t>
            </a:r>
            <a:endParaRPr lang="en-US" sz="2700" dirty="0"/>
          </a:p>
        </p:txBody>
      </p:sp>
      <p:sp>
        <p:nvSpPr>
          <p:cNvPr id="5" name="Text 3"/>
          <p:cNvSpPr/>
          <p:nvPr/>
        </p:nvSpPr>
        <p:spPr>
          <a:xfrm>
            <a:off x="685800" y="1481328"/>
            <a:ext cx="1371600" cy="274320"/>
          </a:xfrm>
          <a:prstGeom prst="rect">
            <a:avLst/>
          </a:prstGeom>
          <a:noFill/>
          <a:ln/>
        </p:spPr>
        <p:txBody>
          <a:bodyPr wrap="square" lIns="0" tIns="0" rIns="0" bIns="0" rtlCol="0" anchor="t"/>
          <a:lstStyle/>
          <a:p>
            <a:pPr indent="0" marL="0">
              <a:buNone/>
            </a:pPr>
            <a:r>
              <a:rPr lang="en-US" sz="1200" b="1" dirty="0">
                <a:solidFill>
                  <a:srgbClr val="3F5A16"/>
                </a:solidFill>
                <a:latin typeface="Noto Sans KR" pitchFamily="34" charset="0"/>
                <a:ea typeface="Noto Sans KR" pitchFamily="34" charset="-122"/>
                <a:cs typeface="Noto Sans KR" pitchFamily="34" charset="-120"/>
              </a:rPr>
              <a:t>2026.08</a:t>
            </a:r>
            <a:endParaRPr lang="en-US" sz="1200" dirty="0"/>
          </a:p>
        </p:txBody>
      </p:sp>
      <p:sp>
        <p:nvSpPr>
          <p:cNvPr id="6" name="Text 4"/>
          <p:cNvSpPr/>
          <p:nvPr/>
        </p:nvSpPr>
        <p:spPr>
          <a:xfrm>
            <a:off x="2194560" y="1481328"/>
            <a:ext cx="9308592" cy="566928"/>
          </a:xfrm>
          <a:prstGeom prst="rect">
            <a:avLst/>
          </a:prstGeom>
          <a:noFill/>
          <a:ln/>
        </p:spPr>
        <p:txBody>
          <a:bodyPr wrap="square" lIns="0" tIns="0" rIns="0" bIns="0" rtlCol="0" anchor="t"/>
          <a:lstStyle/>
          <a:p>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K-스타트업 2026 응모(마감 8/31 18:00 · 상금풀 8.9억, 최고 5억 · 누적 투자 30억 이하 요건 — 도그스하이 적격) · KIPRIS 상표 검색·출원 · 러너 1차 모집 · 수요 인터뷰 15–20건</a:t>
            </a:r>
            <a:endParaRPr lang="en-US" sz="1050" dirty="0"/>
          </a:p>
        </p:txBody>
      </p:sp>
      <p:sp>
        <p:nvSpPr>
          <p:cNvPr id="7" name="Text 5"/>
          <p:cNvSpPr/>
          <p:nvPr/>
        </p:nvSpPr>
        <p:spPr>
          <a:xfrm>
            <a:off x="685800" y="2212848"/>
            <a:ext cx="1371600" cy="274320"/>
          </a:xfrm>
          <a:prstGeom prst="rect">
            <a:avLst/>
          </a:prstGeom>
          <a:noFill/>
          <a:ln/>
        </p:spPr>
        <p:txBody>
          <a:bodyPr wrap="square" lIns="0" tIns="0" rIns="0" bIns="0" rtlCol="0" anchor="t"/>
          <a:lstStyle/>
          <a:p>
            <a:pPr indent="0" marL="0">
              <a:buNone/>
            </a:pPr>
            <a:r>
              <a:rPr lang="en-US" sz="1200" b="1" dirty="0">
                <a:solidFill>
                  <a:srgbClr val="3F5A16"/>
                </a:solidFill>
                <a:latin typeface="Noto Sans KR" pitchFamily="34" charset="0"/>
                <a:ea typeface="Noto Sans KR" pitchFamily="34" charset="-122"/>
                <a:cs typeface="Noto Sans KR" pitchFamily="34" charset="-120"/>
              </a:rPr>
              <a:t>2026.09</a:t>
            </a:r>
            <a:endParaRPr lang="en-US" sz="1200" dirty="0"/>
          </a:p>
        </p:txBody>
      </p:sp>
      <p:sp>
        <p:nvSpPr>
          <p:cNvPr id="8" name="Text 6"/>
          <p:cNvSpPr/>
          <p:nvPr/>
        </p:nvSpPr>
        <p:spPr>
          <a:xfrm>
            <a:off x="2194560" y="2212848"/>
            <a:ext cx="9308592" cy="566928"/>
          </a:xfrm>
          <a:prstGeom prst="rect">
            <a:avLst/>
          </a:prstGeom>
          <a:noFill/>
          <a:ln/>
        </p:spPr>
        <p:txBody>
          <a:bodyPr wrap="square" lIns="0" tIns="0" rIns="0" bIns="0" rtlCol="0" anchor="t"/>
          <a:lstStyle/>
          <a:p>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런칭. PG 실결제 전환(현재 목업) · 파운딩 멤버 코호트(무료 런 2회) · 인증 러너 20–30명 · 첫 유료 결제 발생</a:t>
            </a:r>
            <a:endParaRPr lang="en-US" sz="1050" dirty="0"/>
          </a:p>
        </p:txBody>
      </p:sp>
      <p:sp>
        <p:nvSpPr>
          <p:cNvPr id="9" name="Text 7"/>
          <p:cNvSpPr/>
          <p:nvPr/>
        </p:nvSpPr>
        <p:spPr>
          <a:xfrm>
            <a:off x="685800" y="2761488"/>
            <a:ext cx="1371600" cy="274320"/>
          </a:xfrm>
          <a:prstGeom prst="rect">
            <a:avLst/>
          </a:prstGeom>
          <a:noFill/>
          <a:ln/>
        </p:spPr>
        <p:txBody>
          <a:bodyPr wrap="square" lIns="0" tIns="0" rIns="0" bIns="0" rtlCol="0" anchor="t"/>
          <a:lstStyle/>
          <a:p>
            <a:pPr indent="0" marL="0">
              <a:buNone/>
            </a:pPr>
            <a:r>
              <a:rPr lang="en-US" sz="1200" b="1" dirty="0">
                <a:solidFill>
                  <a:srgbClr val="3F5A16"/>
                </a:solidFill>
                <a:latin typeface="Noto Sans KR" pitchFamily="34" charset="0"/>
                <a:ea typeface="Noto Sans KR" pitchFamily="34" charset="-122"/>
                <a:cs typeface="Noto Sans KR" pitchFamily="34" charset="-120"/>
              </a:rPr>
              <a:t>2026.10–11</a:t>
            </a:r>
            <a:endParaRPr lang="en-US" sz="1200" dirty="0"/>
          </a:p>
        </p:txBody>
      </p:sp>
      <p:sp>
        <p:nvSpPr>
          <p:cNvPr id="10" name="Text 8"/>
          <p:cNvSpPr/>
          <p:nvPr/>
        </p:nvSpPr>
        <p:spPr>
          <a:xfrm>
            <a:off x="2194560" y="2761488"/>
            <a:ext cx="9308592" cy="566928"/>
          </a:xfrm>
          <a:prstGeom prst="rect">
            <a:avLst/>
          </a:prstGeom>
          <a:noFill/>
          <a:ln/>
        </p:spPr>
        <p:txBody>
          <a:bodyPr wrap="square" lIns="0" tIns="0" rIns="0" bIns="0" rtlCol="0" anchor="t"/>
          <a:lstStyle/>
          <a:p>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매주 토요일 한강 이벤트 정례화 · 체력나이 부스 · 멤버십 전환 드라이브 · 이벤트 스폰서 2슬롯 판매 시도 → 테이크레이트 실측</a:t>
            </a:r>
            <a:endParaRPr lang="en-US" sz="1050" dirty="0"/>
          </a:p>
        </p:txBody>
      </p:sp>
      <p:sp>
        <p:nvSpPr>
          <p:cNvPr id="11" name="Shape 9"/>
          <p:cNvSpPr/>
          <p:nvPr/>
        </p:nvSpPr>
        <p:spPr>
          <a:xfrm>
            <a:off x="685800" y="3310128"/>
            <a:ext cx="10817352" cy="1645920"/>
          </a:xfrm>
          <a:prstGeom prst="rect">
            <a:avLst/>
          </a:prstGeom>
          <a:solidFill>
            <a:srgbClr val="0F1D13"/>
          </a:solidFill>
          <a:ln/>
        </p:spPr>
        <p:txBody>
          <a:bodyPr/>
          <a:p/>
        </p:txBody>
      </p:sp>
      <p:sp>
        <p:nvSpPr>
          <p:cNvPr id="12" name="Text 10"/>
          <p:cNvSpPr/>
          <p:nvPr/>
        </p:nvSpPr>
        <p:spPr>
          <a:xfrm>
            <a:off x="960120" y="3456432"/>
            <a:ext cx="5486400" cy="274320"/>
          </a:xfrm>
          <a:prstGeom prst="rect">
            <a:avLst/>
          </a:prstGeom>
          <a:noFill/>
          <a:ln/>
        </p:spPr>
        <p:txBody>
          <a:bodyPr wrap="square" lIns="0" tIns="0" rIns="0" bIns="0" rtlCol="0" anchor="ctr"/>
          <a:lstStyle/>
          <a:p>
            <a:pPr indent="0" marL="0">
              <a:buNone/>
            </a:pPr>
            <a:r>
              <a:rPr lang="en-US" sz="1200" b="1" dirty="0">
                <a:solidFill>
                  <a:srgbClr val="C6F542"/>
                </a:solidFill>
                <a:latin typeface="Noto Sans KR" pitchFamily="34" charset="0"/>
                <a:ea typeface="Noto Sans KR" pitchFamily="34" charset="-122"/>
                <a:cs typeface="Noto Sans KR" pitchFamily="34" charset="-120"/>
              </a:rPr>
              <a:t>Phase-3 게이트 · 2026.12 — 다음 라운드의 전제조건</a:t>
            </a:r>
            <a:endParaRPr lang="en-US" sz="1200" dirty="0"/>
          </a:p>
        </p:txBody>
      </p:sp>
      <p:sp>
        <p:nvSpPr>
          <p:cNvPr id="13" name="Text 11"/>
          <p:cNvSpPr/>
          <p:nvPr/>
        </p:nvSpPr>
        <p:spPr>
          <a:xfrm>
            <a:off x="960120" y="3794760"/>
            <a:ext cx="2377440" cy="548640"/>
          </a:xfrm>
          <a:prstGeom prst="rect">
            <a:avLst/>
          </a:prstGeom>
          <a:noFill/>
          <a:ln/>
        </p:spPr>
        <p:txBody>
          <a:bodyPr wrap="square" lIns="0" tIns="0" rIns="0" bIns="0" rtlCol="0" anchor="ctr"/>
          <a:lstStyle/>
          <a:p>
            <a:pPr indent="0" marL="0">
              <a:buNone/>
            </a:pPr>
            <a:r>
              <a:rPr lang="en-US" sz="3400" b="1" dirty="0">
                <a:solidFill>
                  <a:srgbClr val="C6F542"/>
                </a:solidFill>
                <a:latin typeface="Noto Sans KR" pitchFamily="34" charset="0"/>
                <a:ea typeface="Noto Sans KR" pitchFamily="34" charset="-122"/>
                <a:cs typeface="Noto Sans KR" pitchFamily="34" charset="-120"/>
              </a:rPr>
              <a:t>50</a:t>
            </a:r>
            <a:endParaRPr lang="en-US" sz="3400" dirty="0"/>
          </a:p>
        </p:txBody>
      </p:sp>
      <p:sp>
        <p:nvSpPr>
          <p:cNvPr id="14" name="Text 12"/>
          <p:cNvSpPr/>
          <p:nvPr/>
        </p:nvSpPr>
        <p:spPr>
          <a:xfrm>
            <a:off x="960120" y="4361688"/>
            <a:ext cx="2377440" cy="411480"/>
          </a:xfrm>
          <a:prstGeom prst="rect">
            <a:avLst/>
          </a:prstGeom>
          <a:noFill/>
          <a:ln/>
        </p:spPr>
        <p:txBody>
          <a:bodyPr wrap="square" lIns="0" tIns="0" rIns="0" bIns="0" rtlCol="0" anchor="t"/>
          <a:lstStyle/>
          <a:p>
            <a:pPr indent="0" marL="0">
              <a:lnSpc>
                <a:spcPct val="120000"/>
              </a:lnSpc>
              <a:buNone/>
            </a:pPr>
            <a:r>
              <a:rPr lang="en-US" sz="1000" dirty="0">
                <a:solidFill>
                  <a:srgbClr val="F8F6F0"/>
                </a:solidFill>
                <a:latin typeface="Noto Sans KR" pitchFamily="34" charset="0"/>
                <a:ea typeface="Noto Sans KR" pitchFamily="34" charset="-122"/>
                <a:cs typeface="Noto Sans KR" pitchFamily="34" charset="-120"/>
              </a:rPr>
              <a:t>유료 강아지</a:t>
            </a:r>
            <a:endParaRPr lang="en-US" sz="1000" dirty="0"/>
          </a:p>
        </p:txBody>
      </p:sp>
      <p:sp>
        <p:nvSpPr>
          <p:cNvPr id="15" name="Text 13"/>
          <p:cNvSpPr/>
          <p:nvPr/>
        </p:nvSpPr>
        <p:spPr>
          <a:xfrm>
            <a:off x="3566160" y="3794760"/>
            <a:ext cx="2377440" cy="548640"/>
          </a:xfrm>
          <a:prstGeom prst="rect">
            <a:avLst/>
          </a:prstGeom>
          <a:noFill/>
          <a:ln/>
        </p:spPr>
        <p:txBody>
          <a:bodyPr wrap="square" lIns="0" tIns="0" rIns="0" bIns="0" rtlCol="0" anchor="ctr"/>
          <a:lstStyle/>
          <a:p>
            <a:pPr indent="0" marL="0">
              <a:buNone/>
            </a:pPr>
            <a:r>
              <a:rPr lang="en-US" sz="3400" b="1" dirty="0">
                <a:solidFill>
                  <a:srgbClr val="C6F542"/>
                </a:solidFill>
                <a:latin typeface="Noto Sans KR" pitchFamily="34" charset="0"/>
                <a:ea typeface="Noto Sans KR" pitchFamily="34" charset="-122"/>
                <a:cs typeface="Noto Sans KR" pitchFamily="34" charset="-120"/>
              </a:rPr>
              <a:t>60%</a:t>
            </a:r>
            <a:endParaRPr lang="en-US" sz="3400" dirty="0"/>
          </a:p>
        </p:txBody>
      </p:sp>
      <p:sp>
        <p:nvSpPr>
          <p:cNvPr id="16" name="Text 14"/>
          <p:cNvSpPr/>
          <p:nvPr/>
        </p:nvSpPr>
        <p:spPr>
          <a:xfrm>
            <a:off x="3566160" y="4361688"/>
            <a:ext cx="2377440" cy="411480"/>
          </a:xfrm>
          <a:prstGeom prst="rect">
            <a:avLst/>
          </a:prstGeom>
          <a:noFill/>
          <a:ln/>
        </p:spPr>
        <p:txBody>
          <a:bodyPr wrap="square" lIns="0" tIns="0" rIns="0" bIns="0" rtlCol="0" anchor="t"/>
          <a:lstStyle/>
          <a:p>
            <a:pPr indent="0" marL="0">
              <a:lnSpc>
                <a:spcPct val="120000"/>
              </a:lnSpc>
              <a:buNone/>
            </a:pPr>
            <a:r>
              <a:rPr lang="en-US" sz="1000" dirty="0">
                <a:solidFill>
                  <a:srgbClr val="F8F6F0"/>
                </a:solidFill>
                <a:latin typeface="Noto Sans KR" pitchFamily="34" charset="0"/>
                <a:ea typeface="Noto Sans KR" pitchFamily="34" charset="-122"/>
                <a:cs typeface="Noto Sans KR" pitchFamily="34" charset="-120"/>
              </a:rPr>
              <a:t>M1 리부킹 (동일 러너 재예약)</a:t>
            </a:r>
            <a:endParaRPr lang="en-US" sz="1000" dirty="0"/>
          </a:p>
        </p:txBody>
      </p:sp>
      <p:sp>
        <p:nvSpPr>
          <p:cNvPr id="17" name="Text 15"/>
          <p:cNvSpPr/>
          <p:nvPr/>
        </p:nvSpPr>
        <p:spPr>
          <a:xfrm>
            <a:off x="6172200" y="3794760"/>
            <a:ext cx="2377440" cy="548640"/>
          </a:xfrm>
          <a:prstGeom prst="rect">
            <a:avLst/>
          </a:prstGeom>
          <a:noFill/>
          <a:ln/>
        </p:spPr>
        <p:txBody>
          <a:bodyPr wrap="square" lIns="0" tIns="0" rIns="0" bIns="0" rtlCol="0" anchor="ctr"/>
          <a:lstStyle/>
          <a:p>
            <a:pPr indent="0" marL="0">
              <a:buNone/>
            </a:pPr>
            <a:r>
              <a:rPr lang="en-US" sz="3400" b="1" dirty="0">
                <a:solidFill>
                  <a:srgbClr val="C6F542"/>
                </a:solidFill>
                <a:latin typeface="Noto Sans KR" pitchFamily="34" charset="0"/>
                <a:ea typeface="Noto Sans KR" pitchFamily="34" charset="-122"/>
                <a:cs typeface="Noto Sans KR" pitchFamily="34" charset="-120"/>
              </a:rPr>
              <a:t>40%</a:t>
            </a:r>
            <a:endParaRPr lang="en-US" sz="3400" dirty="0"/>
          </a:p>
        </p:txBody>
      </p:sp>
      <p:sp>
        <p:nvSpPr>
          <p:cNvPr id="18" name="Text 16"/>
          <p:cNvSpPr/>
          <p:nvPr/>
        </p:nvSpPr>
        <p:spPr>
          <a:xfrm>
            <a:off x="6172200" y="4361688"/>
            <a:ext cx="2377440" cy="411480"/>
          </a:xfrm>
          <a:prstGeom prst="rect">
            <a:avLst/>
          </a:prstGeom>
          <a:noFill/>
          <a:ln/>
        </p:spPr>
        <p:txBody>
          <a:bodyPr wrap="square" lIns="0" tIns="0" rIns="0" bIns="0" rtlCol="0" anchor="t"/>
          <a:lstStyle/>
          <a:p>
            <a:pPr indent="0" marL="0">
              <a:lnSpc>
                <a:spcPct val="120000"/>
              </a:lnSpc>
              <a:buNone/>
            </a:pPr>
            <a:r>
              <a:rPr lang="en-US" sz="1000" dirty="0">
                <a:solidFill>
                  <a:srgbClr val="F8F6F0"/>
                </a:solidFill>
                <a:latin typeface="Noto Sans KR" pitchFamily="34" charset="0"/>
                <a:ea typeface="Noto Sans KR" pitchFamily="34" charset="-122"/>
                <a:cs typeface="Noto Sans KR" pitchFamily="34" charset="-120"/>
              </a:rPr>
              <a:t>예약 중 멤버십 비중</a:t>
            </a:r>
            <a:endParaRPr lang="en-US" sz="1000" dirty="0"/>
          </a:p>
        </p:txBody>
      </p:sp>
      <p:sp>
        <p:nvSpPr>
          <p:cNvPr id="19" name="Text 17"/>
          <p:cNvSpPr/>
          <p:nvPr/>
        </p:nvSpPr>
        <p:spPr>
          <a:xfrm>
            <a:off x="8778240" y="3794760"/>
            <a:ext cx="2377440" cy="548640"/>
          </a:xfrm>
          <a:prstGeom prst="rect">
            <a:avLst/>
          </a:prstGeom>
          <a:noFill/>
          <a:ln/>
        </p:spPr>
        <p:txBody>
          <a:bodyPr wrap="square" lIns="0" tIns="0" rIns="0" bIns="0" rtlCol="0" anchor="ctr"/>
          <a:lstStyle/>
          <a:p>
            <a:pPr indent="0" marL="0">
              <a:buNone/>
            </a:pPr>
            <a:r>
              <a:rPr lang="en-US" sz="3400" b="1" dirty="0">
                <a:solidFill>
                  <a:srgbClr val="C6F542"/>
                </a:solidFill>
                <a:latin typeface="Noto Sans KR" pitchFamily="34" charset="0"/>
                <a:ea typeface="Noto Sans KR" pitchFamily="34" charset="-122"/>
                <a:cs typeface="Noto Sans KR" pitchFamily="34" charset="-120"/>
              </a:rPr>
              <a:t>0건</a:t>
            </a:r>
            <a:endParaRPr lang="en-US" sz="3400" dirty="0"/>
          </a:p>
        </p:txBody>
      </p:sp>
      <p:sp>
        <p:nvSpPr>
          <p:cNvPr id="20" name="Text 18"/>
          <p:cNvSpPr/>
          <p:nvPr/>
        </p:nvSpPr>
        <p:spPr>
          <a:xfrm>
            <a:off x="8778240" y="4361688"/>
            <a:ext cx="2377440" cy="411480"/>
          </a:xfrm>
          <a:prstGeom prst="rect">
            <a:avLst/>
          </a:prstGeom>
          <a:noFill/>
          <a:ln/>
        </p:spPr>
        <p:txBody>
          <a:bodyPr wrap="square" lIns="0" tIns="0" rIns="0" bIns="0" rtlCol="0" anchor="t"/>
          <a:lstStyle/>
          <a:p>
            <a:pPr indent="0" marL="0">
              <a:lnSpc>
                <a:spcPct val="120000"/>
              </a:lnSpc>
              <a:buNone/>
            </a:pPr>
            <a:r>
              <a:rPr lang="en-US" sz="1000" dirty="0">
                <a:solidFill>
                  <a:srgbClr val="F8F6F0"/>
                </a:solidFill>
                <a:latin typeface="Noto Sans KR" pitchFamily="34" charset="0"/>
                <a:ea typeface="Noto Sans KR" pitchFamily="34" charset="-122"/>
                <a:cs typeface="Noto Sans KR" pitchFamily="34" charset="-120"/>
              </a:rPr>
              <a:t>사고</a:t>
            </a:r>
            <a:endParaRPr lang="en-US" sz="1000" dirty="0"/>
          </a:p>
        </p:txBody>
      </p:sp>
      <p:sp>
        <p:nvSpPr>
          <p:cNvPr id="21" name="Text 19"/>
          <p:cNvSpPr/>
          <p:nvPr/>
        </p:nvSpPr>
        <p:spPr>
          <a:xfrm>
            <a:off x="960120" y="4645152"/>
            <a:ext cx="10268712" cy="274320"/>
          </a:xfrm>
          <a:prstGeom prst="rect">
            <a:avLst/>
          </a:prstGeom>
          <a:noFill/>
          <a:ln/>
        </p:spPr>
        <p:txBody>
          <a:bodyPr wrap="square" lIns="0" tIns="0" rIns="0" bIns="0" rtlCol="0" anchor="ctr"/>
          <a:lstStyle/>
          <a:p>
            <a:pPr indent="0" marL="0">
              <a:buNone/>
            </a:pPr>
            <a:r>
              <a:rPr lang="en-US" sz="1000" dirty="0">
                <a:solidFill>
                  <a:srgbClr val="9FAE9C"/>
                </a:solidFill>
                <a:latin typeface="Noto Sans KR" pitchFamily="34" charset="0"/>
                <a:ea typeface="Noto Sans KR" pitchFamily="34" charset="-122"/>
                <a:cs typeface="Noto Sans KR" pitchFamily="34" charset="-120"/>
              </a:rPr>
              <a:t>현재값: 0 / — / — / — (프리론칭, 측정 시작 전) · 4개 중 3개 미달 시 두 번째 동 확장을 보류하고 포지셔닝을 재검토합니다.  ⚠️ 고지 — 모델 기본 가정(테이크 20%·리텐션 70%)의 안정상태 유료견은 27마리입니다. 50마리는 리텐션 80% 시나리오의 값이며, 게이트를 기본이 아니라 낙관에 건 것은 의도입니다.</a:t>
            </a:r>
            <a:endParaRPr lang="en-US" sz="1000" dirty="0"/>
          </a:p>
        </p:txBody>
      </p:sp>
      <p:sp>
        <p:nvSpPr>
          <p:cNvPr id="22" name="Text 20"/>
          <p:cNvSpPr/>
          <p:nvPr/>
        </p:nvSpPr>
        <p:spPr>
          <a:xfrm>
            <a:off x="685800" y="5120640"/>
            <a:ext cx="1371600" cy="274320"/>
          </a:xfrm>
          <a:prstGeom prst="rect">
            <a:avLst/>
          </a:prstGeom>
          <a:noFill/>
          <a:ln/>
        </p:spPr>
        <p:txBody>
          <a:bodyPr wrap="square" lIns="0" tIns="0" rIns="0" bIns="0" rtlCol="0" anchor="t"/>
          <a:lstStyle/>
          <a:p>
            <a:pPr indent="0" marL="0">
              <a:buNone/>
            </a:pPr>
            <a:r>
              <a:rPr lang="en-US" sz="1200" b="1" dirty="0">
                <a:solidFill>
                  <a:srgbClr val="3F5A16"/>
                </a:solidFill>
                <a:latin typeface="Noto Sans KR" pitchFamily="34" charset="0"/>
                <a:ea typeface="Noto Sans KR" pitchFamily="34" charset="-122"/>
                <a:cs typeface="Noto Sans KR" pitchFamily="34" charset="-120"/>
              </a:rPr>
              <a:t>2027.Q1</a:t>
            </a:r>
            <a:endParaRPr lang="en-US" sz="1200" dirty="0"/>
          </a:p>
        </p:txBody>
      </p:sp>
      <p:sp>
        <p:nvSpPr>
          <p:cNvPr id="23" name="Text 21"/>
          <p:cNvSpPr/>
          <p:nvPr/>
        </p:nvSpPr>
        <p:spPr>
          <a:xfrm>
            <a:off x="2194560" y="5120640"/>
            <a:ext cx="9308592" cy="502920"/>
          </a:xfrm>
          <a:prstGeom prst="rect">
            <a:avLst/>
          </a:prstGeom>
          <a:noFill/>
          <a:ln/>
        </p:spPr>
        <p:txBody>
          <a:bodyPr wrap="square" lIns="0" tIns="0" rIns="0" bIns="0" rtlCol="0" anchor="t"/>
          <a:lstStyle/>
          <a:p>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정부지원 윈도우 — 예비창업패키지(~3월, 사업자등록 없어야 함) 또는 초기창업패키지·청년창업사관학교(~1–2월). 비희석 자금 4,000만–1억원 시도 · Primer/SparkLabs 배치 접촉</a:t>
            </a:r>
            <a:endParaRPr lang="en-US" sz="1050" dirty="0"/>
          </a:p>
        </p:txBody>
      </p:sp>
      <p:sp>
        <p:nvSpPr>
          <p:cNvPr id="24" name="Text 22"/>
          <p:cNvSpPr/>
          <p:nvPr/>
        </p:nvSpPr>
        <p:spPr>
          <a:xfrm>
            <a:off x="685800" y="5669280"/>
            <a:ext cx="1371600" cy="274320"/>
          </a:xfrm>
          <a:prstGeom prst="rect">
            <a:avLst/>
          </a:prstGeom>
          <a:noFill/>
          <a:ln/>
        </p:spPr>
        <p:txBody>
          <a:bodyPr wrap="square" lIns="0" tIns="0" rIns="0" bIns="0" rtlCol="0" anchor="t"/>
          <a:lstStyle/>
          <a:p>
            <a:pPr indent="0" marL="0">
              <a:buNone/>
            </a:pPr>
            <a:r>
              <a:rPr lang="en-US" sz="1200" b="1" dirty="0">
                <a:solidFill>
                  <a:srgbClr val="3F5A16"/>
                </a:solidFill>
                <a:latin typeface="Noto Sans KR" pitchFamily="34" charset="0"/>
                <a:ea typeface="Noto Sans KR" pitchFamily="34" charset="-122"/>
                <a:cs typeface="Noto Sans KR" pitchFamily="34" charset="-120"/>
              </a:rPr>
              <a:t>2027.Q2–H2</a:t>
            </a:r>
            <a:endParaRPr lang="en-US" sz="1200" dirty="0"/>
          </a:p>
        </p:txBody>
      </p:sp>
      <p:sp>
        <p:nvSpPr>
          <p:cNvPr id="25" name="Text 23"/>
          <p:cNvSpPr/>
          <p:nvPr/>
        </p:nvSpPr>
        <p:spPr>
          <a:xfrm>
            <a:off x="2194560" y="5669280"/>
            <a:ext cx="9308592" cy="502920"/>
          </a:xfrm>
          <a:prstGeom prst="rect">
            <a:avLst/>
          </a:prstGeom>
          <a:noFill/>
          <a:ln/>
        </p:spPr>
        <p:txBody>
          <a:bodyPr wrap="square" lIns="0" tIns="0" rIns="0" bIns="0" rtlCol="0" anchor="t"/>
          <a:lstStyle/>
          <a:p>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두 번째 동 오픈 또는 아파트 단지 계약 1호 · 바디캠 + 러닝 특화 매칭 엔진 v2 · 시드 라운드(5–10억원 목표, 가설) · TIPS는 운영사 투자 선행 필요</a:t>
            </a:r>
            <a:endParaRPr lang="en-US" sz="1050" dirty="0"/>
          </a:p>
        </p:txBody>
      </p:sp>
      <p:sp>
        <p:nvSpPr>
          <p:cNvPr id="26" name="Text 24"/>
          <p:cNvSpPr/>
          <p:nvPr/>
        </p:nvSpPr>
        <p:spPr>
          <a:xfrm>
            <a:off x="685800" y="6336792"/>
            <a:ext cx="10820095" cy="384048"/>
          </a:xfrm>
          <a:prstGeom prst="rect">
            <a:avLst/>
          </a:prstGeom>
          <a:noFill/>
          <a:ln/>
        </p:spPr>
        <p:txBody>
          <a:bodyPr wrap="square" lIns="0" tIns="0" rIns="0" bIns="0" rtlCol="0" anchor="t"/>
          <a:lstStyle/>
          <a:p>
            <a:pPr indent="0" marL="0">
              <a:lnSpc>
                <a:spcPct val="120000"/>
              </a:lnSpc>
              <a:buNone/>
            </a:pPr>
            <a:r>
              <a:rPr lang="en-US" sz="850" dirty="0">
                <a:solidFill>
                  <a:srgbClr val="6E6B5E"/>
                </a:solidFill>
                <a:latin typeface="Noto Sans KR" pitchFamily="34" charset="0"/>
                <a:ea typeface="Noto Sans KR" pitchFamily="34" charset="-122"/>
                <a:cs typeface="Noto Sans KR" pitchFamily="34" charset="-120"/>
              </a:rPr>
              <a:t>출처 · K-스타트업 2026 공고(접수 2026.3.27~8.31 18:00, 결선 총 상금 8.9억·최고 5억, 창업 3년 이내·누적 투자 30억 이하) — bizinfo·벤처스퀘어 공고 기준. 2027년 정부지원 일정은 예년 기준 예상.</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0"/>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팀</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DCD6C4"/>
                </a:solidFill>
                <a:latin typeface="Noto Sans KR" pitchFamily="34" charset="0"/>
                <a:ea typeface="Noto Sans KR" pitchFamily="34" charset="-122"/>
                <a:cs typeface="Noto Sans KR" pitchFamily="34" charset="-120"/>
              </a:rPr>
              <a:t>15</a:t>
            </a:r>
            <a:endParaRPr lang="en-US" sz="1000" dirty="0"/>
          </a:p>
        </p:txBody>
      </p:sp>
      <p:sp>
        <p:nvSpPr>
          <p:cNvPr id="4" name="Text 2"/>
          <p:cNvSpPr/>
          <p:nvPr/>
        </p:nvSpPr>
        <p:spPr>
          <a:xfrm>
            <a:off x="685800" y="658368"/>
            <a:ext cx="10820095" cy="566928"/>
          </a:xfrm>
          <a:prstGeom prst="rect">
            <a:avLst/>
          </a:prstGeom>
          <a:noFill/>
          <a:ln/>
        </p:spPr>
        <p:txBody>
          <a:bodyPr wrap="square" lIns="0" tIns="0" rIns="0" bIns="0" rtlCol="0" anchor="t"/>
          <a:lstStyle/>
          <a:p>
            <a:pPr indent="0" marL="0">
              <a:lnSpc>
                <a:spcPct val="118000"/>
              </a:lnSpc>
              <a:buNone/>
            </a:pPr>
            <a:r>
              <a:rPr lang="en-US" sz="2600" b="1" dirty="0">
                <a:solidFill>
                  <a:srgbClr val="16211A"/>
                </a:solidFill>
                <a:latin typeface="Noto Sans KR" pitchFamily="34" charset="0"/>
                <a:ea typeface="Noto Sans KR" pitchFamily="34" charset="-122"/>
                <a:cs typeface="Noto Sans KR" pitchFamily="34" charset="-120"/>
              </a:rPr>
              <a:t>단독 창업자. 제품은 이미 나왔고, 리스크는 숨기지 않는다.</a:t>
            </a:r>
            <a:endParaRPr lang="en-US" sz="2600" dirty="0"/>
          </a:p>
        </p:txBody>
      </p:sp>
      <p:sp>
        <p:nvSpPr>
          <p:cNvPr id="5" name="Shape 3"/>
          <p:cNvSpPr/>
          <p:nvPr/>
        </p:nvSpPr>
        <p:spPr>
          <a:xfrm>
            <a:off x="685800" y="1554480"/>
            <a:ext cx="4206240" cy="3703320"/>
          </a:xfrm>
          <a:prstGeom prst="rect">
            <a:avLst/>
          </a:prstGeom>
          <a:solidFill>
            <a:srgbClr val="0F1D13"/>
          </a:solidFill>
          <a:ln/>
        </p:spPr>
        <p:txBody>
          <a:bodyPr/>
          <a:p/>
        </p:txBody>
      </p:sp>
      <p:sp>
        <p:nvSpPr>
          <p:cNvPr id="6" name="Text 4"/>
          <p:cNvSpPr/>
          <p:nvPr/>
        </p:nvSpPr>
        <p:spPr>
          <a:xfrm>
            <a:off x="960120" y="1783080"/>
            <a:ext cx="3657600" cy="457200"/>
          </a:xfrm>
          <a:prstGeom prst="rect">
            <a:avLst/>
          </a:prstGeom>
          <a:noFill/>
          <a:ln/>
        </p:spPr>
        <p:txBody>
          <a:bodyPr wrap="square" lIns="0" tIns="0" rIns="0" bIns="0" rtlCol="0" anchor="ctr"/>
          <a:lstStyle/>
          <a:p>
            <a:pPr indent="0" marL="0">
              <a:buNone/>
            </a:pPr>
            <a:r>
              <a:rPr lang="en-US" sz="2600" b="1" dirty="0">
                <a:solidFill>
                  <a:srgbClr val="C6F542"/>
                </a:solidFill>
                <a:latin typeface="Noto Sans KR" pitchFamily="34" charset="0"/>
                <a:ea typeface="Noto Sans KR" pitchFamily="34" charset="-122"/>
                <a:cs typeface="Noto Sans KR" pitchFamily="34" charset="-120"/>
              </a:rPr>
              <a:t>Sean Kim</a:t>
            </a:r>
            <a:endParaRPr lang="en-US" sz="2600" dirty="0"/>
          </a:p>
        </p:txBody>
      </p:sp>
      <p:sp>
        <p:nvSpPr>
          <p:cNvPr id="7" name="Text 5"/>
          <p:cNvSpPr/>
          <p:nvPr/>
        </p:nvSpPr>
        <p:spPr>
          <a:xfrm>
            <a:off x="960120" y="2286000"/>
            <a:ext cx="3657600" cy="640080"/>
          </a:xfrm>
          <a:prstGeom prst="rect">
            <a:avLst/>
          </a:prstGeom>
          <a:noFill/>
          <a:ln/>
        </p:spPr>
        <p:txBody>
          <a:bodyPr wrap="square" lIns="0" tIns="0" rIns="0" bIns="0" rtlCol="0" anchor="t"/>
          <a:lstStyle/>
          <a:p>
            <a:pPr indent="0" marL="0">
              <a:lnSpc>
                <a:spcPct val="130000"/>
              </a:lnSpc>
              <a:buNone/>
            </a:pPr>
            <a:r>
              <a:rPr lang="en-US" sz="1100" dirty="0">
                <a:solidFill>
                  <a:srgbClr val="F8F6F0"/>
                </a:solidFill>
                <a:latin typeface="Noto Sans KR" pitchFamily="34" charset="0"/>
                <a:ea typeface="Noto Sans KR" pitchFamily="34" charset="-122"/>
                <a:cs typeface="Noto Sans KR" pitchFamily="34" charset="-120"/>
              </a:rPr>
              <a:t>창업자 · 개발 · 제품 · 브랜드 전부</a:t>
            </a:r>
            <a:endParaRPr lang="en-US" sz="1100" dirty="0"/>
          </a:p>
          <a:p>
            <a:pPr indent="0" marL="0">
              <a:lnSpc>
                <a:spcPct val="130000"/>
              </a:lnSpc>
              <a:buNone/>
            </a:pPr>
            <a:r>
              <a:rPr lang="en-US" sz="1100" dirty="0">
                <a:solidFill>
                  <a:srgbClr val="F8F6F0"/>
                </a:solidFill>
                <a:latin typeface="Noto Sans KR" pitchFamily="34" charset="0"/>
                <a:ea typeface="Noto Sans KR" pitchFamily="34" charset="-122"/>
                <a:cs typeface="Noto Sans KR" pitchFamily="34" charset="-120"/>
              </a:rPr>
              <a:t>시카고대학교 재학 · 서울 거주 · 반포 파일럿 현장 실행</a:t>
            </a:r>
            <a:endParaRPr lang="en-US" sz="1100" dirty="0"/>
          </a:p>
        </p:txBody>
      </p:sp>
      <p:sp>
        <p:nvSpPr>
          <p:cNvPr id="8" name="Text 6"/>
          <p:cNvSpPr/>
          <p:nvPr/>
        </p:nvSpPr>
        <p:spPr>
          <a:xfrm>
            <a:off x="960120" y="3017520"/>
            <a:ext cx="3657600" cy="274320"/>
          </a:xfrm>
          <a:prstGeom prst="rect">
            <a:avLst/>
          </a:prstGeom>
          <a:noFill/>
          <a:ln/>
        </p:spPr>
        <p:txBody>
          <a:bodyPr wrap="square" lIns="0" tIns="0" rIns="0" bIns="0" rtlCol="0" anchor="ctr"/>
          <a:lstStyle/>
          <a:p>
            <a:pPr indent="0" marL="0">
              <a:buNone/>
            </a:pPr>
            <a:r>
              <a:rPr lang="en-US" sz="950" b="1" dirty="0">
                <a:solidFill>
                  <a:srgbClr val="8FA091"/>
                </a:solidFill>
                <a:latin typeface="Noto Sans KR" pitchFamily="34" charset="0"/>
                <a:ea typeface="Noto Sans KR" pitchFamily="34" charset="-122"/>
                <a:cs typeface="Noto Sans KR" pitchFamily="34" charset="-120"/>
              </a:rPr>
              <a:t>아래 항목은 확인 전이므로 비워둡니다 — 지어내지 않습니다.</a:t>
            </a:r>
            <a:endParaRPr lang="en-US" sz="950" dirty="0"/>
          </a:p>
        </p:txBody>
      </p:sp>
      <p:sp>
        <p:nvSpPr>
          <p:cNvPr id="9" name="Text 7"/>
          <p:cNvSpPr/>
          <p:nvPr/>
        </p:nvSpPr>
        <p:spPr>
          <a:xfrm>
            <a:off x="960120" y="3310128"/>
            <a:ext cx="3657600" cy="1783080"/>
          </a:xfrm>
          <a:prstGeom prst="rect">
            <a:avLst/>
          </a:prstGeom>
          <a:noFill/>
          <a:ln/>
        </p:spPr>
        <p:txBody>
          <a:bodyPr wrap="square" lIns="0" tIns="0" rIns="0" bIns="0" rtlCol="0" anchor="t"/>
          <a:lstStyle/>
          <a:p>
            <a:pPr marL="342900" indent="-342900">
              <a:lnSpc>
                <a:spcPct val="130000"/>
              </a:lnSpc>
              <a:spcAft>
                <a:spcPts val="600"/>
              </a:spcAft>
              <a:buSzPct val="100000"/>
              <a:buChar char="▪"/>
            </a:pPr>
            <a:r>
              <a:rPr lang="en-US" sz="950" dirty="0">
                <a:solidFill>
                  <a:srgbClr val="9FAE9C"/>
                </a:solidFill>
                <a:latin typeface="Noto Sans KR" pitchFamily="34" charset="0"/>
                <a:ea typeface="Noto Sans KR" pitchFamily="34" charset="-122"/>
                <a:cs typeface="Noto Sans KR" pitchFamily="34" charset="-120"/>
              </a:rPr>
              <a:t>[Sean 확인 필요] 전공 · 학년 · 졸업 예정 시기</a:t>
            </a:r>
            <a:endParaRPr lang="en-US" sz="950" dirty="0"/>
          </a:p>
          <a:p>
            <a:pPr marL="342900" indent="-342900">
              <a:lnSpc>
                <a:spcPct val="130000"/>
              </a:lnSpc>
              <a:spcAft>
                <a:spcPts val="600"/>
              </a:spcAft>
              <a:buSzPct val="100000"/>
              <a:buChar char="▪"/>
            </a:pPr>
            <a:r>
              <a:rPr lang="en-US" sz="950" dirty="0">
                <a:solidFill>
                  <a:srgbClr val="9FAE9C"/>
                </a:solidFill>
                <a:latin typeface="Noto Sans KR" pitchFamily="34" charset="0"/>
                <a:ea typeface="Noto Sans KR" pitchFamily="34" charset="-122"/>
                <a:cs typeface="Noto Sans KR" pitchFamily="34" charset="-120"/>
              </a:rPr>
              <a:t>[Sean 확인 필요] 이전 창업 / 직무 / 인턴 경력</a:t>
            </a:r>
            <a:endParaRPr lang="en-US" sz="950" dirty="0"/>
          </a:p>
          <a:p>
            <a:pPr marL="342900" indent="-342900">
              <a:lnSpc>
                <a:spcPct val="130000"/>
              </a:lnSpc>
              <a:spcAft>
                <a:spcPts val="600"/>
              </a:spcAft>
              <a:buSzPct val="100000"/>
              <a:buChar char="▪"/>
            </a:pPr>
            <a:r>
              <a:rPr lang="en-US" sz="950" dirty="0">
                <a:solidFill>
                  <a:srgbClr val="9FAE9C"/>
                </a:solidFill>
                <a:latin typeface="Noto Sans KR" pitchFamily="34" charset="0"/>
                <a:ea typeface="Noto Sans KR" pitchFamily="34" charset="-122"/>
                <a:cs typeface="Noto Sans KR" pitchFamily="34" charset="-120"/>
              </a:rPr>
              <a:t>[Sean 확인 필요] 러닝 경력 · 반려견 양육 경력 (카테고리 진정성의 근거 — 사실이면 반드시 넣을 것)</a:t>
            </a:r>
            <a:endParaRPr lang="en-US" sz="950" dirty="0"/>
          </a:p>
          <a:p>
            <a:pPr marL="342900" indent="-342900">
              <a:lnSpc>
                <a:spcPct val="130000"/>
              </a:lnSpc>
              <a:spcAft>
                <a:spcPts val="600"/>
              </a:spcAft>
              <a:buSzPct val="100000"/>
              <a:buChar char="▪"/>
            </a:pPr>
            <a:r>
              <a:rPr lang="en-US" sz="950" dirty="0">
                <a:solidFill>
                  <a:srgbClr val="9FAE9C"/>
                </a:solidFill>
                <a:latin typeface="Noto Sans KR" pitchFamily="34" charset="0"/>
                <a:ea typeface="Noto Sans KR" pitchFamily="34" charset="-122"/>
                <a:cs typeface="Noto Sans KR" pitchFamily="34" charset="-120"/>
              </a:rPr>
              <a:t>[Sean 확인 필요] 국내 체류 형태 및 창업 가능 여부</a:t>
            </a:r>
            <a:endParaRPr lang="en-US" sz="950" dirty="0"/>
          </a:p>
          <a:p>
            <a:pPr marL="342900" indent="-342900">
              <a:lnSpc>
                <a:spcPct val="130000"/>
              </a:lnSpc>
              <a:spcAft>
                <a:spcPts val="600"/>
              </a:spcAft>
              <a:buSzPct val="100000"/>
              <a:buChar char="▪"/>
            </a:pPr>
            <a:r>
              <a:rPr lang="en-US" sz="950" dirty="0">
                <a:solidFill>
                  <a:srgbClr val="9FAE9C"/>
                </a:solidFill>
                <a:latin typeface="Noto Sans KR" pitchFamily="34" charset="0"/>
                <a:ea typeface="Noto Sans KR" pitchFamily="34" charset="-122"/>
                <a:cs typeface="Noto Sans KR" pitchFamily="34" charset="-120"/>
              </a:rPr>
              <a:t>[Sean 확인 필요] 현재 확보된 자문 / 멘토</a:t>
            </a:r>
            <a:endParaRPr lang="en-US" sz="950" dirty="0"/>
          </a:p>
        </p:txBody>
      </p:sp>
      <p:sp>
        <p:nvSpPr>
          <p:cNvPr id="10" name="Text 8"/>
          <p:cNvSpPr/>
          <p:nvPr/>
        </p:nvSpPr>
        <p:spPr>
          <a:xfrm>
            <a:off x="5257800" y="1554480"/>
            <a:ext cx="6245352" cy="256032"/>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혼자, 외주 0으로 만든 것</a:t>
            </a:r>
            <a:endParaRPr lang="en-US" sz="1000" dirty="0"/>
          </a:p>
        </p:txBody>
      </p:sp>
      <p:sp>
        <p:nvSpPr>
          <p:cNvPr id="11" name="Text 9"/>
          <p:cNvSpPr/>
          <p:nvPr/>
        </p:nvSpPr>
        <p:spPr>
          <a:xfrm>
            <a:off x="5257800" y="1847088"/>
            <a:ext cx="6245352" cy="1691640"/>
          </a:xfrm>
          <a:prstGeom prst="rect">
            <a:avLst/>
          </a:prstGeom>
          <a:noFill/>
          <a:ln/>
        </p:spPr>
        <p:txBody>
          <a:bodyPr wrap="square" lIns="0" tIns="0" rIns="0" bIns="0" rtlCol="0" anchor="t"/>
          <a:lstStyle/>
          <a:p>
            <a:pPr marL="342900" indent="-342900">
              <a:lnSpc>
                <a:spcPct val="130000"/>
              </a:lnSpc>
              <a:spcAft>
                <a:spcPts val="700"/>
              </a:spcAft>
              <a:buSzPct val="100000"/>
              <a:buChar char="•"/>
            </a:pPr>
            <a:r>
              <a:rPr lang="en-US" sz="1100" dirty="0">
                <a:solidFill>
                  <a:srgbClr val="16211A"/>
                </a:solidFill>
                <a:latin typeface="Noto Sans KR" pitchFamily="34" charset="0"/>
                <a:ea typeface="Noto Sans KR" pitchFamily="34" charset="-122"/>
                <a:cs typeface="Noto Sans KR" pitchFamily="34" charset="-120"/>
              </a:rPr>
              <a:t>iOS 앱 풀스택 — React Native/Expo + Supabase, 보호자·러너 양방향</a:t>
            </a:r>
            <a:endParaRPr lang="en-US" sz="1100" dirty="0"/>
          </a:p>
          <a:p>
            <a:pPr marL="342900" indent="-342900">
              <a:lnSpc>
                <a:spcPct val="130000"/>
              </a:lnSpc>
              <a:spcAft>
                <a:spcPts val="700"/>
              </a:spcAft>
              <a:buSzPct val="100000"/>
              <a:buChar char="•"/>
            </a:pPr>
            <a:r>
              <a:rPr lang="en-US" sz="1100" dirty="0">
                <a:solidFill>
                  <a:srgbClr val="16211A"/>
                </a:solidFill>
                <a:latin typeface="Noto Sans KR" pitchFamily="34" charset="0"/>
                <a:ea typeface="Noto Sans KR" pitchFamily="34" charset="-122"/>
                <a:cs typeface="Noto Sans KR" pitchFamily="34" charset="-120"/>
              </a:rPr>
              <a:t>실시간 GPS 러닝 추적 · 러닝 리포트 · 반복 예약</a:t>
            </a:r>
            <a:endParaRPr lang="en-US" sz="1100" dirty="0"/>
          </a:p>
          <a:p>
            <a:pPr marL="342900" indent="-342900">
              <a:lnSpc>
                <a:spcPct val="130000"/>
              </a:lnSpc>
              <a:spcAft>
                <a:spcPts val="700"/>
              </a:spcAft>
              <a:buSzPct val="100000"/>
              <a:buChar char="•"/>
            </a:pPr>
            <a:r>
              <a:rPr lang="en-US" sz="1100" dirty="0">
                <a:solidFill>
                  <a:srgbClr val="16211A"/>
                </a:solidFill>
                <a:latin typeface="Noto Sans KR" pitchFamily="34" charset="0"/>
                <a:ea typeface="Noto Sans KR" pitchFamily="34" charset="-122"/>
                <a:cs typeface="Noto Sans KR" pitchFamily="34" charset="-120"/>
              </a:rPr>
              <a:t>정산 원장 · 포인트 · 인증샷 공유 스튜디오 · 푸시 + 딥링크</a:t>
            </a:r>
            <a:endParaRPr lang="en-US" sz="1100" dirty="0"/>
          </a:p>
          <a:p>
            <a:pPr marL="342900" indent="-342900">
              <a:lnSpc>
                <a:spcPct val="130000"/>
              </a:lnSpc>
              <a:spcAft>
                <a:spcPts val="700"/>
              </a:spcAft>
              <a:buSzPct val="100000"/>
              <a:buChar char="•"/>
            </a:pPr>
            <a:r>
              <a:rPr lang="en-US" sz="1100" dirty="0">
                <a:solidFill>
                  <a:srgbClr val="16211A"/>
                </a:solidFill>
                <a:latin typeface="Noto Sans KR" pitchFamily="34" charset="0"/>
                <a:ea typeface="Noto Sans KR" pitchFamily="34" charset="-122"/>
                <a:cs typeface="Noto Sans KR" pitchFamily="34" charset="-120"/>
              </a:rPr>
              <a:t>하이클럽 그룹 러닝 스키마(클럽/시리즈/세션/RSVP/위탁런)</a:t>
            </a:r>
            <a:endParaRPr lang="en-US" sz="1100" dirty="0"/>
          </a:p>
          <a:p>
            <a:pPr marL="342900" indent="-342900">
              <a:lnSpc>
                <a:spcPct val="130000"/>
              </a:lnSpc>
              <a:spcAft>
                <a:spcPts val="700"/>
              </a:spcAft>
              <a:buSzPct val="100000"/>
              <a:buChar char="•"/>
            </a:pPr>
            <a:r>
              <a:rPr lang="en-US" sz="1100" dirty="0">
                <a:solidFill>
                  <a:srgbClr val="16211A"/>
                </a:solidFill>
                <a:latin typeface="Noto Sans KR" pitchFamily="34" charset="0"/>
                <a:ea typeface="Noto Sans KR" pitchFamily="34" charset="-122"/>
                <a:cs typeface="Noto Sans KR" pitchFamily="34" charset="-120"/>
              </a:rPr>
              <a:t>테스트 하네스 (SQL 46건 + 지오 23건)</a:t>
            </a:r>
            <a:endParaRPr lang="en-US" sz="1100" dirty="0"/>
          </a:p>
        </p:txBody>
      </p:sp>
      <p:sp>
        <p:nvSpPr>
          <p:cNvPr id="12" name="Text 10"/>
          <p:cNvSpPr/>
          <p:nvPr/>
        </p:nvSpPr>
        <p:spPr>
          <a:xfrm>
            <a:off x="5257800" y="3611880"/>
            <a:ext cx="6245352" cy="256032"/>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채용 계획 (이 라운드 자금으로)</a:t>
            </a:r>
            <a:endParaRPr lang="en-US" sz="1000" dirty="0"/>
          </a:p>
        </p:txBody>
      </p:sp>
      <p:sp>
        <p:nvSpPr>
          <p:cNvPr id="13" name="Text 11"/>
          <p:cNvSpPr/>
          <p:nvPr/>
        </p:nvSpPr>
        <p:spPr>
          <a:xfrm>
            <a:off x="5257800" y="3886200"/>
            <a:ext cx="6245352" cy="320040"/>
          </a:xfrm>
          <a:prstGeom prst="rect">
            <a:avLst/>
          </a:prstGeom>
          <a:noFill/>
          <a:ln/>
        </p:spPr>
        <p:txBody>
          <a:bodyPr wrap="square" lIns="0" tIns="0" rIns="0" bIns="0" rtlCol="0" anchor="t"/>
          <a:lstStyle/>
          <a:p>
            <a:pPr indent="0" marL="0">
              <a:buNone/>
            </a:pPr>
            <a:r>
              <a:rPr lang="en-US" sz="1100" dirty="0">
                <a:solidFill>
                  <a:srgbClr val="16211A"/>
                </a:solidFill>
                <a:latin typeface="Noto Sans KR" pitchFamily="34" charset="0"/>
                <a:ea typeface="Noto Sans KR" pitchFamily="34" charset="-122"/>
                <a:cs typeface="Noto Sans KR" pitchFamily="34" charset="-120"/>
              </a:rPr>
              <a:t>운영/커뮤니티 매니저 1명 (토요 이벤트 운영 + 러너 관리) · 파트타임 디자이너</a:t>
            </a:r>
            <a:endParaRPr lang="en-US" sz="1100" dirty="0"/>
          </a:p>
        </p:txBody>
      </p:sp>
      <p:sp>
        <p:nvSpPr>
          <p:cNvPr id="14" name="Text 12"/>
          <p:cNvSpPr/>
          <p:nvPr/>
        </p:nvSpPr>
        <p:spPr>
          <a:xfrm>
            <a:off x="5257800" y="4315968"/>
            <a:ext cx="6245352" cy="256032"/>
          </a:xfrm>
          <a:prstGeom prst="rect">
            <a:avLst/>
          </a:prstGeom>
          <a:noFill/>
          <a:ln/>
        </p:spPr>
        <p:txBody>
          <a:bodyPr wrap="square" lIns="0" tIns="0" rIns="0" bIns="0" rtlCol="0" anchor="ctr"/>
          <a:lstStyle/>
          <a:p>
            <a:pPr indent="0" marL="0">
              <a:buNone/>
            </a:pPr>
            <a:r>
              <a:rPr lang="en-US" sz="1000" b="1" spc="150" kern="0" dirty="0">
                <a:solidFill>
                  <a:srgbClr val="6E6B5E"/>
                </a:solidFill>
                <a:latin typeface="Noto Sans KR" pitchFamily="34" charset="0"/>
                <a:ea typeface="Noto Sans KR" pitchFamily="34" charset="-122"/>
                <a:cs typeface="Noto Sans KR" pitchFamily="34" charset="-120"/>
              </a:rPr>
              <a:t>자문이 필요한 영역 (정직)</a:t>
            </a:r>
            <a:endParaRPr lang="en-US" sz="1000" dirty="0"/>
          </a:p>
        </p:txBody>
      </p:sp>
      <p:sp>
        <p:nvSpPr>
          <p:cNvPr id="15" name="Text 13"/>
          <p:cNvSpPr/>
          <p:nvPr/>
        </p:nvSpPr>
        <p:spPr>
          <a:xfrm>
            <a:off x="5257800" y="4590288"/>
            <a:ext cx="6245352" cy="777240"/>
          </a:xfrm>
          <a:prstGeom prst="rect">
            <a:avLst/>
          </a:prstGeom>
          <a:noFill/>
          <a:ln/>
        </p:spPr>
        <p:txBody>
          <a:bodyPr wrap="square" lIns="0" tIns="0" rIns="0" bIns="0" rtlCol="0" anchor="t"/>
          <a:lstStyle/>
          <a:p>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수의 자문(운동 프로토콜 공동 서명) · 보험/규제 자문 · PG·법인 세팅. 시설 보관을 수반하지 않는 러닝 대행이 동물위탁관리업 등록 대상인지는 2025년 하반기 시행규칙 개정이 이어지고 있어 법률 검토 중입니다 — “규제 대상 아님”이라고 단정하지 않습니다.</a:t>
            </a:r>
            <a:endParaRPr lang="en-US" sz="1050" dirty="0"/>
          </a:p>
        </p:txBody>
      </p:sp>
      <p:sp>
        <p:nvSpPr>
          <p:cNvPr id="16" name="Shape 14"/>
          <p:cNvSpPr/>
          <p:nvPr/>
        </p:nvSpPr>
        <p:spPr>
          <a:xfrm>
            <a:off x="685800" y="5532120"/>
            <a:ext cx="10817352" cy="749808"/>
          </a:xfrm>
          <a:prstGeom prst="rect">
            <a:avLst/>
          </a:prstGeom>
          <a:solidFill>
            <a:srgbClr val="EDE8DA"/>
          </a:solidFill>
          <a:ln/>
        </p:spPr>
        <p:txBody>
          <a:bodyPr/>
          <a:p/>
        </p:txBody>
      </p:sp>
      <p:sp>
        <p:nvSpPr>
          <p:cNvPr id="17" name="Text 15"/>
          <p:cNvSpPr/>
          <p:nvPr/>
        </p:nvSpPr>
        <p:spPr>
          <a:xfrm>
            <a:off x="960120" y="5669280"/>
            <a:ext cx="10268712" cy="502920"/>
          </a:xfrm>
          <a:prstGeom prst="rect">
            <a:avLst/>
          </a:prstGeom>
          <a:noFill/>
          <a:ln/>
        </p:spPr>
        <p:txBody>
          <a:bodyPr wrap="square" lIns="0" tIns="0" rIns="0" bIns="0" rtlCol="0" anchor="ctr"/>
          <a:lstStyle/>
          <a:p>
            <a:pPr indent="0" marL="0">
              <a:lnSpc>
                <a:spcPct val="125000"/>
              </a:lnSpc>
              <a:buNone/>
            </a:pPr>
            <a:r>
              <a:rPr lang="en-US" sz="1050" b="1" dirty="0">
                <a:solidFill>
                  <a:srgbClr val="FF5C3D"/>
                </a:solidFill>
                <a:latin typeface="Noto Sans KR" pitchFamily="34" charset="0"/>
                <a:ea typeface="Noto Sans KR" pitchFamily="34" charset="-122"/>
                <a:cs typeface="Noto Sans KR" pitchFamily="34" charset="-120"/>
              </a:rPr>
              <a:t>단독 창업 리스크는 실재합니다. 대응 3가지 — </a:t>
            </a:r>
            <a:pPr indent="0" marL="0">
              <a:lnSpc>
                <a:spcPct val="125000"/>
              </a:lnSpc>
              <a:buNone/>
            </a:pPr>
            <a:r>
              <a:rPr lang="en-US" sz="1050" dirty="0">
                <a:solidFill>
                  <a:srgbClr val="16211A"/>
                </a:solidFill>
                <a:latin typeface="Noto Sans KR" pitchFamily="34" charset="0"/>
                <a:ea typeface="Noto Sans KR" pitchFamily="34" charset="-122"/>
                <a:cs typeface="Noto Sans KR" pitchFamily="34" charset="-120"/>
              </a:rPr>
              <a:t>① 코드·인프라 문서화로 인수인계 가능 상태 유지  ② 첫 채용을 운영 담당으로 해 현장 의존도 축소  ③ 공동창업자급 인재는 이 라운드 이후 지분으로 영입</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D13"/>
        </a:solidFill>
      </p:bgPr>
    </p:bg>
    <p:spTree>
      <p:nvGrpSpPr>
        <p:cNvPr id="1" name=""/>
        <p:cNvGrpSpPr/>
        <p:nvPr/>
      </p:nvGrpSpPr>
      <p:grpSpPr>
        <a:xfrm>
          <a:off x="0" y="0"/>
          <a:ext cx="0" cy="0"/>
          <a:chOff x="0" y="0"/>
          <a:chExt cx="0" cy="0"/>
        </a:xfrm>
      </p:grpSpPr>
      <p:sp>
        <p:nvSpPr>
          <p:cNvPr id="2" name="Text 0"/>
          <p:cNvSpPr/>
          <p:nvPr/>
        </p:nvSpPr>
        <p:spPr>
          <a:xfrm>
            <a:off x="685800" y="347472"/>
            <a:ext cx="10088575" cy="237744"/>
          </a:xfrm>
          <a:prstGeom prst="rect">
            <a:avLst/>
          </a:prstGeom>
          <a:noFill/>
          <a:ln/>
        </p:spPr>
        <p:txBody>
          <a:bodyPr wrap="square" lIns="0" tIns="0" rIns="0" bIns="0" rtlCol="0" anchor="ctr"/>
          <a:lstStyle/>
          <a:p>
            <a:pPr indent="0" marL="0">
              <a:buNone/>
            </a:pPr>
            <a:r>
              <a:rPr lang="en-US" sz="1000" b="1" spc="150" kern="0" dirty="0">
                <a:solidFill>
                  <a:srgbClr val="C6F542"/>
                </a:solidFill>
                <a:latin typeface="Noto Sans KR" pitchFamily="34" charset="0"/>
                <a:ea typeface="Noto Sans KR" pitchFamily="34" charset="-122"/>
                <a:cs typeface="Noto Sans KR" pitchFamily="34" charset="-120"/>
              </a:rPr>
              <a:t>THE ASK</a:t>
            </a:r>
            <a:endParaRPr lang="en-US" sz="1000" dirty="0"/>
          </a:p>
        </p:txBody>
      </p:sp>
      <p:sp>
        <p:nvSpPr>
          <p:cNvPr id="3" name="Text 1"/>
          <p:cNvSpPr/>
          <p:nvPr/>
        </p:nvSpPr>
        <p:spPr>
          <a:xfrm>
            <a:off x="10865815" y="347472"/>
            <a:ext cx="640080" cy="237744"/>
          </a:xfrm>
          <a:prstGeom prst="rect">
            <a:avLst/>
          </a:prstGeom>
          <a:noFill/>
          <a:ln/>
        </p:spPr>
        <p:txBody>
          <a:bodyPr wrap="square" lIns="0" tIns="0" rIns="0" bIns="0" rtlCol="0" anchor="ctr"/>
          <a:lstStyle/>
          <a:p>
            <a:pPr algn="r" indent="0" marL="0">
              <a:buNone/>
            </a:pPr>
            <a:r>
              <a:rPr lang="en-US" sz="1000" b="1" dirty="0">
                <a:solidFill>
                  <a:srgbClr val="3E5142"/>
                </a:solidFill>
                <a:latin typeface="Noto Sans KR" pitchFamily="34" charset="0"/>
                <a:ea typeface="Noto Sans KR" pitchFamily="34" charset="-122"/>
                <a:cs typeface="Noto Sans KR" pitchFamily="34" charset="-120"/>
              </a:rPr>
              <a:t>16</a:t>
            </a:r>
            <a:endParaRPr lang="en-US" sz="1000" dirty="0"/>
          </a:p>
        </p:txBody>
      </p:sp>
      <p:sp>
        <p:nvSpPr>
          <p:cNvPr id="4" name="Text 2"/>
          <p:cNvSpPr/>
          <p:nvPr/>
        </p:nvSpPr>
        <p:spPr>
          <a:xfrm>
            <a:off x="685800" y="658368"/>
            <a:ext cx="10820095" cy="1188720"/>
          </a:xfrm>
          <a:prstGeom prst="rect">
            <a:avLst/>
          </a:prstGeom>
          <a:noFill/>
          <a:ln/>
        </p:spPr>
        <p:txBody>
          <a:bodyPr wrap="square" lIns="0" tIns="0" rIns="0" bIns="0" rtlCol="0" anchor="t"/>
          <a:lstStyle/>
          <a:p>
            <a:pPr indent="0" marL="0">
              <a:lnSpc>
                <a:spcPct val="118000"/>
              </a:lnSpc>
              <a:buNone/>
            </a:pPr>
            <a:r>
              <a:rPr lang="en-US" sz="2800" b="1" dirty="0">
                <a:solidFill>
                  <a:srgbClr val="F8F6F0"/>
                </a:solidFill>
                <a:latin typeface="Noto Sans KR" pitchFamily="34" charset="0"/>
                <a:ea typeface="Noto Sans KR" pitchFamily="34" charset="-122"/>
                <a:cs typeface="Noto Sans KR" pitchFamily="34" charset="-120"/>
              </a:rPr>
              <a:t>1–2억 SAFE.</a:t>
            </a:r>
            <a:endParaRPr lang="en-US" sz="2800" dirty="0"/>
          </a:p>
          <a:p>
            <a:pPr indent="0" marL="0">
              <a:lnSpc>
                <a:spcPct val="118000"/>
              </a:lnSpc>
              <a:buNone/>
            </a:pPr>
            <a:r>
              <a:rPr lang="en-US" sz="2800" b="1" dirty="0">
                <a:solidFill>
                  <a:srgbClr val="F8F6F0"/>
                </a:solidFill>
                <a:latin typeface="Noto Sans KR" pitchFamily="34" charset="0"/>
                <a:ea typeface="Noto Sans KR" pitchFamily="34" charset="-122"/>
                <a:cs typeface="Noto Sans KR" pitchFamily="34" charset="-120"/>
              </a:rPr>
              <a:t>목적은 단 하나 — 한 동네에서 밀도를 증명한다.</a:t>
            </a:r>
            <a:endParaRPr lang="en-US" sz="2800" dirty="0"/>
          </a:p>
        </p:txBody>
      </p:sp>
      <p:sp>
        <p:nvSpPr>
          <p:cNvPr id="5" name="Text 3"/>
          <p:cNvSpPr/>
          <p:nvPr/>
        </p:nvSpPr>
        <p:spPr>
          <a:xfrm>
            <a:off x="685800" y="2148840"/>
            <a:ext cx="3931920" cy="914400"/>
          </a:xfrm>
          <a:prstGeom prst="rect">
            <a:avLst/>
          </a:prstGeom>
          <a:noFill/>
          <a:ln/>
        </p:spPr>
        <p:txBody>
          <a:bodyPr wrap="square" lIns="0" tIns="0" rIns="0" bIns="0" rtlCol="0" anchor="ctr"/>
          <a:lstStyle/>
          <a:p>
            <a:pPr indent="0" marL="0">
              <a:buNone/>
            </a:pPr>
            <a:r>
              <a:rPr lang="en-US" sz="5400" b="1" dirty="0">
                <a:solidFill>
                  <a:srgbClr val="C6F542"/>
                </a:solidFill>
                <a:latin typeface="Noto Sans KR" pitchFamily="34" charset="0"/>
                <a:ea typeface="Noto Sans KR" pitchFamily="34" charset="-122"/>
                <a:cs typeface="Noto Sans KR" pitchFamily="34" charset="-120"/>
              </a:rPr>
              <a:t>1–2억</a:t>
            </a:r>
            <a:endParaRPr lang="en-US" sz="5400" dirty="0"/>
          </a:p>
        </p:txBody>
      </p:sp>
      <p:sp>
        <p:nvSpPr>
          <p:cNvPr id="6" name="Text 4"/>
          <p:cNvSpPr/>
          <p:nvPr/>
        </p:nvSpPr>
        <p:spPr>
          <a:xfrm>
            <a:off x="685800" y="3108960"/>
            <a:ext cx="4572000" cy="914400"/>
          </a:xfrm>
          <a:prstGeom prst="rect">
            <a:avLst/>
          </a:prstGeom>
          <a:noFill/>
          <a:ln/>
        </p:spPr>
        <p:txBody>
          <a:bodyPr wrap="square" lIns="0" tIns="0" rIns="0" bIns="0" rtlCol="0" anchor="t"/>
          <a:lstStyle/>
          <a:p>
            <a:pPr indent="0" marL="0">
              <a:lnSpc>
                <a:spcPct val="135000"/>
              </a:lnSpc>
              <a:buNone/>
            </a:pPr>
            <a:r>
              <a:rPr lang="en-US" sz="1100" dirty="0">
                <a:solidFill>
                  <a:srgbClr val="9FAE9C"/>
                </a:solidFill>
                <a:latin typeface="Noto Sans KR" pitchFamily="34" charset="0"/>
                <a:ea typeface="Noto Sans KR" pitchFamily="34" charset="-122"/>
                <a:cs typeface="Noto Sans KR" pitchFamily="34" charset="-120"/>
              </a:rPr>
              <a:t>₩100,000,000 – ₩200,000,000 · SAFE</a:t>
            </a:r>
            <a:endParaRPr lang="en-US" sz="1100" dirty="0"/>
          </a:p>
          <a:p>
            <a:pPr indent="0" marL="0">
              <a:lnSpc>
                <a:spcPct val="135000"/>
              </a:lnSpc>
              <a:buNone/>
            </a:pPr>
            <a:r>
              <a:rPr lang="en-US" sz="1100" dirty="0">
                <a:solidFill>
                  <a:srgbClr val="9FAE9C"/>
                </a:solidFill>
                <a:latin typeface="Noto Sans KR" pitchFamily="34" charset="0"/>
                <a:ea typeface="Noto Sans KR" pitchFamily="34" charset="-122"/>
                <a:cs typeface="Noto Sans KR" pitchFamily="34" charset="-120"/>
              </a:rPr>
              <a:t>밸류에이션 캡 조건 협의 · 국내 개인 엔젤 + 초기 액셀러레이터 대상</a:t>
            </a:r>
            <a:endParaRPr lang="en-US" sz="1100" dirty="0"/>
          </a:p>
          <a:p>
            <a:pPr indent="0" marL="0">
              <a:lnSpc>
                <a:spcPct val="135000"/>
              </a:lnSpc>
              <a:buNone/>
            </a:pPr>
            <a:r>
              <a:rPr lang="en-US" sz="1100" dirty="0">
                <a:solidFill>
                  <a:srgbClr val="9FAE9C"/>
                </a:solidFill>
                <a:latin typeface="Noto Sans KR" pitchFamily="34" charset="0"/>
                <a:ea typeface="Noto Sans KR" pitchFamily="34" charset="-122"/>
                <a:cs typeface="Noto Sans KR" pitchFamily="34" charset="-120"/>
              </a:rPr>
              <a:t>중간값 1.5억 기준 실질 약 16개월 런웨이</a:t>
            </a:r>
            <a:endParaRPr lang="en-US" sz="1100" dirty="0"/>
          </a:p>
        </p:txBody>
      </p:sp>
      <p:sp>
        <p:nvSpPr>
          <p:cNvPr id="7" name="Text 5"/>
          <p:cNvSpPr/>
          <p:nvPr/>
        </p:nvSpPr>
        <p:spPr>
          <a:xfrm>
            <a:off x="685800" y="4133088"/>
            <a:ext cx="3931920" cy="256032"/>
          </a:xfrm>
          <a:prstGeom prst="rect">
            <a:avLst/>
          </a:prstGeom>
          <a:noFill/>
          <a:ln/>
        </p:spPr>
        <p:txBody>
          <a:bodyPr wrap="square" lIns="0" tIns="0" rIns="0" bIns="0" rtlCol="0" anchor="ctr"/>
          <a:lstStyle/>
          <a:p>
            <a:pPr indent="0" marL="0">
              <a:buNone/>
            </a:pPr>
            <a:r>
              <a:rPr lang="en-US" sz="1000" b="1" spc="150" kern="0" dirty="0">
                <a:solidFill>
                  <a:srgbClr val="C6F542"/>
                </a:solidFill>
                <a:latin typeface="Noto Sans KR" pitchFamily="34" charset="0"/>
                <a:ea typeface="Noto Sans KR" pitchFamily="34" charset="-122"/>
                <a:cs typeface="Noto Sans KR" pitchFamily="34" charset="-120"/>
              </a:rPr>
              <a:t>자금 사용처</a:t>
            </a:r>
            <a:endParaRPr lang="en-US" sz="1000" dirty="0"/>
          </a:p>
        </p:txBody>
      </p:sp>
      <p:sp>
        <p:nvSpPr>
          <p:cNvPr id="8" name="Text 6"/>
          <p:cNvSpPr/>
          <p:nvPr/>
        </p:nvSpPr>
        <p:spPr>
          <a:xfrm>
            <a:off x="685800" y="4443984"/>
            <a:ext cx="4572000" cy="1280160"/>
          </a:xfrm>
          <a:prstGeom prst="rect">
            <a:avLst/>
          </a:prstGeom>
          <a:noFill/>
          <a:ln/>
        </p:spPr>
        <p:txBody>
          <a:bodyPr wrap="square" lIns="0" tIns="0" rIns="0" bIns="0" rtlCol="0" anchor="t"/>
          <a:lstStyle/>
          <a:p>
            <a:pPr indent="0" marL="0">
              <a:lnSpc>
                <a:spcPct val="135000"/>
              </a:lnSpc>
              <a:buNone/>
            </a:pPr>
            <a:r>
              <a:rPr lang="en-US" sz="1050" dirty="0">
                <a:solidFill>
                  <a:srgbClr val="F8F6F0"/>
                </a:solidFill>
                <a:latin typeface="Noto Sans KR" pitchFamily="34" charset="0"/>
                <a:ea typeface="Noto Sans KR" pitchFamily="34" charset="-122"/>
                <a:cs typeface="Noto Sans KR" pitchFamily="34" charset="-120"/>
              </a:rPr>
              <a:t>① 파일럿 동네 밀도 (무료 러닝 보조금 · 토요 이벤트 · 시딩)</a:t>
            </a:r>
            <a:endParaRPr lang="en-US" sz="1050" dirty="0"/>
          </a:p>
          <a:p>
            <a:pPr indent="0" marL="0">
              <a:lnSpc>
                <a:spcPct val="135000"/>
              </a:lnSpc>
              <a:buNone/>
            </a:pPr>
            <a:r>
              <a:rPr lang="en-US" sz="1050" dirty="0">
                <a:solidFill>
                  <a:srgbClr val="F8F6F0"/>
                </a:solidFill>
                <a:latin typeface="Noto Sans KR" pitchFamily="34" charset="0"/>
                <a:ea typeface="Noto Sans KR" pitchFamily="34" charset="-122"/>
                <a:cs typeface="Noto Sans KR" pitchFamily="34" charset="-120"/>
              </a:rPr>
              <a:t>② 첫 채용 1명 (운영/커뮤니티)</a:t>
            </a:r>
            <a:endParaRPr lang="en-US" sz="1050" dirty="0"/>
          </a:p>
          <a:p>
            <a:pPr indent="0" marL="0">
              <a:lnSpc>
                <a:spcPct val="135000"/>
              </a:lnSpc>
              <a:buNone/>
            </a:pPr>
            <a:r>
              <a:rPr lang="en-US" sz="1050" dirty="0">
                <a:solidFill>
                  <a:srgbClr val="F8F6F0"/>
                </a:solidFill>
                <a:latin typeface="Noto Sans KR" pitchFamily="34" charset="0"/>
                <a:ea typeface="Noto Sans KR" pitchFamily="34" charset="-122"/>
                <a:cs typeface="Noto Sans KR" pitchFamily="34" charset="-120"/>
              </a:rPr>
              <a:t>③ 제품 (PG 실연동 · 러너 심사 · 바디캠 · 매칭 엔진 v2)</a:t>
            </a:r>
            <a:endParaRPr lang="en-US" sz="1050" dirty="0"/>
          </a:p>
          <a:p>
            <a:pPr indent="0" marL="0">
              <a:lnSpc>
                <a:spcPct val="135000"/>
              </a:lnSpc>
              <a:buNone/>
            </a:pPr>
            <a:r>
              <a:rPr lang="en-US" sz="1050" dirty="0">
                <a:solidFill>
                  <a:srgbClr val="F8F6F0"/>
                </a:solidFill>
                <a:latin typeface="Noto Sans KR" pitchFamily="34" charset="0"/>
                <a:ea typeface="Noto Sans KR" pitchFamily="34" charset="-122"/>
                <a:cs typeface="Noto Sans KR" pitchFamily="34" charset="-120"/>
              </a:rPr>
              <a:t>④ 신뢰 인프라 (보험 계약 · 수의 자문 · 법무·상표)</a:t>
            </a:r>
            <a:endParaRPr lang="en-US" sz="1050" dirty="0"/>
          </a:p>
          <a:p>
            <a:pPr indent="0" marL="0">
              <a:lnSpc>
                <a:spcPct val="135000"/>
              </a:lnSpc>
              <a:buNone/>
            </a:pPr>
            <a:r>
              <a:rPr lang="en-US" sz="1050" dirty="0">
                <a:solidFill>
                  <a:srgbClr val="F8F6F0"/>
                </a:solidFill>
                <a:latin typeface="Noto Sans KR" pitchFamily="34" charset="0"/>
                <a:ea typeface="Noto Sans KR" pitchFamily="34" charset="-122"/>
                <a:cs typeface="Noto Sans KR" pitchFamily="34" charset="-120"/>
              </a:rPr>
              <a:t>⑤ 예비비</a:t>
            </a:r>
            <a:endParaRPr lang="en-US" sz="1050" dirty="0"/>
          </a:p>
        </p:txBody>
      </p:sp>
      <p:sp>
        <p:nvSpPr>
          <p:cNvPr id="9" name="Shape 7"/>
          <p:cNvSpPr/>
          <p:nvPr/>
        </p:nvSpPr>
        <p:spPr>
          <a:xfrm>
            <a:off x="5029200" y="2148840"/>
            <a:ext cx="3154680" cy="1783080"/>
          </a:xfrm>
          <a:prstGeom prst="rect">
            <a:avLst/>
          </a:prstGeom>
          <a:solidFill>
            <a:srgbClr val="23372A"/>
          </a:solidFill>
          <a:ln/>
        </p:spPr>
        <p:txBody>
          <a:bodyPr/>
          <a:p/>
        </p:txBody>
      </p:sp>
      <p:sp>
        <p:nvSpPr>
          <p:cNvPr id="10" name="Text 8"/>
          <p:cNvSpPr/>
          <p:nvPr/>
        </p:nvSpPr>
        <p:spPr>
          <a:xfrm>
            <a:off x="5285232" y="2304288"/>
            <a:ext cx="2651760" cy="256032"/>
          </a:xfrm>
          <a:prstGeom prst="rect">
            <a:avLst/>
          </a:prstGeom>
          <a:noFill/>
          <a:ln/>
        </p:spPr>
        <p:txBody>
          <a:bodyPr wrap="square" lIns="0" tIns="0" rIns="0" bIns="0" rtlCol="0" anchor="ctr"/>
          <a:lstStyle/>
          <a:p>
            <a:pPr indent="0" marL="0">
              <a:buNone/>
            </a:pPr>
            <a:r>
              <a:rPr lang="en-US" sz="1000" b="1" spc="150" kern="0" dirty="0">
                <a:solidFill>
                  <a:srgbClr val="C6F542"/>
                </a:solidFill>
                <a:latin typeface="Noto Sans KR" pitchFamily="34" charset="0"/>
                <a:ea typeface="Noto Sans KR" pitchFamily="34" charset="-122"/>
                <a:cs typeface="Noto Sans KR" pitchFamily="34" charset="-120"/>
              </a:rPr>
              <a:t>이 돈으로 사는 것</a:t>
            </a:r>
            <a:endParaRPr lang="en-US" sz="1000" dirty="0"/>
          </a:p>
        </p:txBody>
      </p:sp>
      <p:sp>
        <p:nvSpPr>
          <p:cNvPr id="11" name="Text 9"/>
          <p:cNvSpPr/>
          <p:nvPr/>
        </p:nvSpPr>
        <p:spPr>
          <a:xfrm>
            <a:off x="5285232" y="2606040"/>
            <a:ext cx="2651760" cy="1188720"/>
          </a:xfrm>
          <a:prstGeom prst="rect">
            <a:avLst/>
          </a:prstGeom>
          <a:noFill/>
          <a:ln/>
        </p:spPr>
        <p:txBody>
          <a:bodyPr wrap="square" lIns="0" tIns="0" rIns="0" bIns="0" rtlCol="0" anchor="t"/>
          <a:lstStyle/>
          <a:p>
            <a:pPr indent="0" marL="0">
              <a:lnSpc>
                <a:spcPct val="130000"/>
              </a:lnSpc>
              <a:buNone/>
            </a:pPr>
            <a:r>
              <a:rPr lang="en-US" sz="1050" dirty="0">
                <a:solidFill>
                  <a:srgbClr val="F8F6F0"/>
                </a:solidFill>
                <a:latin typeface="Noto Sans KR" pitchFamily="34" charset="0"/>
                <a:ea typeface="Noto Sans KR" pitchFamily="34" charset="-122"/>
                <a:cs typeface="Noto Sans KR" pitchFamily="34" charset="-120"/>
              </a:rPr>
              <a:t>Phase-3 게이트 세 숫자의 답 — 유료견 50 / M1 리부킹 60% / 멤버십 비중 40%.</a:t>
            </a:r>
            <a:endParaRPr lang="en-US" sz="1050" dirty="0"/>
          </a:p>
          <a:p>
            <a:pPr indent="0" marL="0">
              <a:lnSpc>
                <a:spcPct val="130000"/>
              </a:lnSpc>
              <a:buNone/>
            </a:pPr>
            <a:endParaRPr lang="en-US" sz="1050" dirty="0"/>
          </a:p>
          <a:p>
            <a:pPr indent="0" marL="0">
              <a:lnSpc>
                <a:spcPct val="130000"/>
              </a:lnSpc>
              <a:buNone/>
            </a:pPr>
            <a:r>
              <a:rPr lang="en-US" sz="1050" dirty="0">
                <a:solidFill>
                  <a:srgbClr val="F8F6F0"/>
                </a:solidFill>
                <a:latin typeface="Noto Sans KR" pitchFamily="34" charset="0"/>
                <a:ea typeface="Noto Sans KR" pitchFamily="34" charset="-122"/>
                <a:cs typeface="Noto Sans KR" pitchFamily="34" charset="-120"/>
              </a:rPr>
              <a:t>성공이면 액셀러레이터·TIPS 트랙, 실패면 그 사실을 3개월 안에 압니다.</a:t>
            </a:r>
            <a:endParaRPr lang="en-US" sz="1050" dirty="0"/>
          </a:p>
        </p:txBody>
      </p:sp>
      <p:sp>
        <p:nvSpPr>
          <p:cNvPr id="12" name="Shape 10"/>
          <p:cNvSpPr/>
          <p:nvPr/>
        </p:nvSpPr>
        <p:spPr>
          <a:xfrm>
            <a:off x="8348472" y="2148840"/>
            <a:ext cx="3154680" cy="1783080"/>
          </a:xfrm>
          <a:prstGeom prst="rect">
            <a:avLst/>
          </a:prstGeom>
          <a:solidFill>
            <a:srgbClr val="23372A"/>
          </a:solidFill>
          <a:ln/>
        </p:spPr>
        <p:txBody>
          <a:bodyPr/>
          <a:p/>
        </p:txBody>
      </p:sp>
      <p:sp>
        <p:nvSpPr>
          <p:cNvPr id="13" name="Text 11"/>
          <p:cNvSpPr/>
          <p:nvPr/>
        </p:nvSpPr>
        <p:spPr>
          <a:xfrm>
            <a:off x="8604504" y="2304288"/>
            <a:ext cx="2651760" cy="256032"/>
          </a:xfrm>
          <a:prstGeom prst="rect">
            <a:avLst/>
          </a:prstGeom>
          <a:noFill/>
          <a:ln/>
        </p:spPr>
        <p:txBody>
          <a:bodyPr wrap="square" lIns="0" tIns="0" rIns="0" bIns="0" rtlCol="0" anchor="ctr"/>
          <a:lstStyle/>
          <a:p>
            <a:pPr indent="0" marL="0">
              <a:buNone/>
            </a:pPr>
            <a:r>
              <a:rPr lang="en-US" sz="1000" b="1" spc="150" kern="0" dirty="0">
                <a:solidFill>
                  <a:srgbClr val="FF5C3D"/>
                </a:solidFill>
                <a:latin typeface="Noto Sans KR" pitchFamily="34" charset="0"/>
                <a:ea typeface="Noto Sans KR" pitchFamily="34" charset="-122"/>
                <a:cs typeface="Noto Sans KR" pitchFamily="34" charset="-120"/>
              </a:rPr>
              <a:t>먼저 말씀드리는 두 가지</a:t>
            </a:r>
            <a:endParaRPr lang="en-US" sz="1000" dirty="0"/>
          </a:p>
        </p:txBody>
      </p:sp>
      <p:sp>
        <p:nvSpPr>
          <p:cNvPr id="14" name="Text 12"/>
          <p:cNvSpPr/>
          <p:nvPr/>
        </p:nvSpPr>
        <p:spPr>
          <a:xfrm>
            <a:off x="8604504" y="2606040"/>
            <a:ext cx="2651760" cy="1188720"/>
          </a:xfrm>
          <a:prstGeom prst="rect">
            <a:avLst/>
          </a:prstGeom>
          <a:noFill/>
          <a:ln/>
        </p:spPr>
        <p:txBody>
          <a:bodyPr wrap="square" lIns="0" tIns="0" rIns="0" bIns="0" rtlCol="0" anchor="t"/>
          <a:lstStyle/>
          <a:p>
            <a:pPr indent="0" marL="0">
              <a:lnSpc>
                <a:spcPct val="128000"/>
              </a:lnSpc>
              <a:buNone/>
            </a:pPr>
            <a:r>
              <a:rPr lang="en-US" sz="950" dirty="0">
                <a:solidFill>
                  <a:srgbClr val="F8F6F0"/>
                </a:solidFill>
                <a:latin typeface="Noto Sans KR" pitchFamily="34" charset="0"/>
                <a:ea typeface="Noto Sans KR" pitchFamily="34" charset="-122"/>
                <a:cs typeface="Noto Sans KR" pitchFamily="34" charset="-120"/>
              </a:rPr>
              <a:t>① 법인 미설립. SAFE 발행에는 법인이 필요하고, 법인을 세우면 2027 예비창업패키지(사업자등록 없을 것이 요건) 자격이 사라집니다.</a:t>
            </a:r>
            <a:endParaRPr lang="en-US" sz="950" dirty="0"/>
          </a:p>
          <a:p>
            <a:pPr indent="0" marL="0">
              <a:lnSpc>
                <a:spcPct val="128000"/>
              </a:lnSpc>
              <a:buNone/>
            </a:pPr>
            <a:r>
              <a:rPr lang="en-US" sz="950" dirty="0">
                <a:solidFill>
                  <a:srgbClr val="F8F6F0"/>
                </a:solidFill>
                <a:latin typeface="Noto Sans KR" pitchFamily="34" charset="0"/>
                <a:ea typeface="Noto Sans KR" pitchFamily="34" charset="-122"/>
                <a:cs typeface="Noto Sans KR" pitchFamily="34" charset="-120"/>
              </a:rPr>
              <a:t>② 상표 ‘도그스하이’ KIPRIS 최종 확인 중 — 유사 상표(하이독) 존재.</a:t>
            </a:r>
            <a:endParaRPr lang="en-US" sz="950" dirty="0"/>
          </a:p>
        </p:txBody>
      </p:sp>
      <p:sp>
        <p:nvSpPr>
          <p:cNvPr id="15" name="Text 13"/>
          <p:cNvSpPr/>
          <p:nvPr/>
        </p:nvSpPr>
        <p:spPr>
          <a:xfrm>
            <a:off x="5029200" y="4069080"/>
            <a:ext cx="6473952" cy="640080"/>
          </a:xfrm>
          <a:prstGeom prst="rect">
            <a:avLst/>
          </a:prstGeom>
          <a:noFill/>
          <a:ln/>
        </p:spPr>
        <p:txBody>
          <a:bodyPr wrap="square" lIns="0" tIns="0" rIns="0" bIns="0" rtlCol="0" anchor="t"/>
          <a:lstStyle/>
          <a:p>
            <a:pPr indent="0" marL="0">
              <a:lnSpc>
                <a:spcPct val="130000"/>
              </a:lnSpc>
              <a:buNone/>
            </a:pPr>
            <a:r>
              <a:rPr lang="en-US" sz="1050" dirty="0">
                <a:solidFill>
                  <a:srgbClr val="9FAE9C"/>
                </a:solidFill>
                <a:latin typeface="Noto Sans KR" pitchFamily="34" charset="0"/>
                <a:ea typeface="Noto Sans KR" pitchFamily="34" charset="-122"/>
                <a:cs typeface="Noto Sans KR" pitchFamily="34" charset="-120"/>
              </a:rPr>
              <a:t>판단: 엔젤 라운드가 성사되면 예창패 약 4천만원보다 12개월 런웨이와 투자자 네트워크가 훨씬 큽니다. 다만 이 트레이드오프는 투자자님께 먼저 말씀드리고 함께 결정합니다.</a:t>
            </a:r>
            <a:endParaRPr lang="en-US" sz="1050" dirty="0"/>
          </a:p>
        </p:txBody>
      </p:sp>
      <p:sp>
        <p:nvSpPr>
          <p:cNvPr id="16" name="Shape 14"/>
          <p:cNvSpPr/>
          <p:nvPr/>
        </p:nvSpPr>
        <p:spPr>
          <a:xfrm>
            <a:off x="5029200" y="4846320"/>
            <a:ext cx="2667671" cy="219456"/>
          </a:xfrm>
          <a:prstGeom prst="roundRect">
            <a:avLst>
              <a:gd name="adj" fmla="val 50000"/>
            </a:avLst>
          </a:prstGeom>
          <a:ln w="12700">
            <a:solidFill>
              <a:srgbClr val="C6F542"/>
            </a:solidFill>
            <a:prstDash val="solid"/>
          </a:ln>
        </p:spPr>
        <p:txBody>
          <a:bodyPr/>
          <a:p/>
        </p:txBody>
      </p:sp>
      <p:sp>
        <p:nvSpPr>
          <p:cNvPr id="17" name="Text 15"/>
          <p:cNvSpPr/>
          <p:nvPr/>
        </p:nvSpPr>
        <p:spPr>
          <a:xfrm>
            <a:off x="5029200" y="4846320"/>
            <a:ext cx="2667671" cy="219456"/>
          </a:xfrm>
          <a:prstGeom prst="rect">
            <a:avLst/>
          </a:prstGeom>
          <a:noFill/>
          <a:ln/>
        </p:spPr>
        <p:txBody>
          <a:bodyPr wrap="square" lIns="0" tIns="0" rIns="0" bIns="0" rtlCol="0" anchor="ctr"/>
          <a:lstStyle/>
          <a:p>
            <a:pPr algn="ctr" indent="0" marL="0">
              <a:buNone/>
            </a:pPr>
            <a:r>
              <a:rPr lang="en-US" sz="850" b="1" dirty="0">
                <a:solidFill>
                  <a:srgbClr val="C6F542"/>
                </a:solidFill>
                <a:latin typeface="Noto Sans KR" pitchFamily="34" charset="0"/>
                <a:ea typeface="Noto Sans KR" pitchFamily="34" charset="-122"/>
                <a:cs typeface="Noto Sans KR" pitchFamily="34" charset="-120"/>
              </a:rPr>
              <a:t>PRE-LAUNCH · 유료 고객 0 · 트랙션 주장 없음</a:t>
            </a:r>
            <a:endParaRPr lang="en-US" sz="850" dirty="0"/>
          </a:p>
        </p:txBody>
      </p:sp>
      <p:sp>
        <p:nvSpPr>
          <p:cNvPr id="18" name="Shape 16"/>
          <p:cNvSpPr/>
          <p:nvPr/>
        </p:nvSpPr>
        <p:spPr>
          <a:xfrm>
            <a:off x="0" y="5806440"/>
            <a:ext cx="12191695" cy="1051560"/>
          </a:xfrm>
          <a:prstGeom prst="rect">
            <a:avLst/>
          </a:prstGeom>
          <a:solidFill>
            <a:srgbClr val="C6F542"/>
          </a:solidFill>
          <a:ln/>
        </p:spPr>
        <p:txBody>
          <a:bodyPr/>
          <a:p/>
        </p:txBody>
      </p:sp>
      <p:sp>
        <p:nvSpPr>
          <p:cNvPr id="19" name="Text 17"/>
          <p:cNvSpPr/>
          <p:nvPr/>
        </p:nvSpPr>
        <p:spPr>
          <a:xfrm>
            <a:off x="685800" y="5806440"/>
            <a:ext cx="6400800" cy="1051560"/>
          </a:xfrm>
          <a:prstGeom prst="rect">
            <a:avLst/>
          </a:prstGeom>
          <a:noFill/>
          <a:ln/>
        </p:spPr>
        <p:txBody>
          <a:bodyPr wrap="square" lIns="0" tIns="0" rIns="0" bIns="0" rtlCol="0" anchor="ctr"/>
          <a:lstStyle/>
          <a:p>
            <a:pPr indent="0" marL="0">
              <a:buNone/>
            </a:pPr>
            <a:r>
              <a:rPr lang="en-US" sz="2600" b="1" dirty="0">
                <a:solidFill>
                  <a:srgbClr val="0F1D13"/>
                </a:solidFill>
                <a:latin typeface="Noto Sans KR" pitchFamily="34" charset="0"/>
                <a:ea typeface="Noto Sans KR" pitchFamily="34" charset="-122"/>
                <a:cs typeface="Noto Sans KR" pitchFamily="34" charset="-120"/>
              </a:rPr>
              <a:t>러너스 하이를, 우리 아이에게.</a:t>
            </a:r>
            <a:endParaRPr lang="en-US" sz="2600" dirty="0"/>
          </a:p>
        </p:txBody>
      </p:sp>
      <p:sp>
        <p:nvSpPr>
          <p:cNvPr id="20" name="Text 18"/>
          <p:cNvSpPr/>
          <p:nvPr/>
        </p:nvSpPr>
        <p:spPr>
          <a:xfrm>
            <a:off x="7315200" y="5806440"/>
            <a:ext cx="4187952" cy="1051560"/>
          </a:xfrm>
          <a:prstGeom prst="rect">
            <a:avLst/>
          </a:prstGeom>
          <a:noFill/>
          <a:ln/>
        </p:spPr>
        <p:txBody>
          <a:bodyPr wrap="square" lIns="0" tIns="0" rIns="0" bIns="0" rtlCol="0" anchor="ctr"/>
          <a:lstStyle/>
          <a:p>
            <a:pPr algn="r" indent="0" marL="0">
              <a:lnSpc>
                <a:spcPct val="130000"/>
              </a:lnSpc>
              <a:buNone/>
            </a:pPr>
            <a:r>
              <a:rPr lang="en-US" sz="1100" b="1" dirty="0">
                <a:solidFill>
                  <a:srgbClr val="24380B"/>
                </a:solidFill>
                <a:latin typeface="Noto Sans KR" pitchFamily="34" charset="0"/>
                <a:ea typeface="Noto Sans KR" pitchFamily="34" charset="-122"/>
                <a:cs typeface="Noto Sans KR" pitchFamily="34" charset="-120"/>
              </a:rPr>
              <a:t>Sean Kim · 도그스하이 (DOGS HIGH)</a:t>
            </a:r>
            <a:endParaRPr lang="en-US" sz="1100" dirty="0"/>
          </a:p>
          <a:p>
            <a:pPr algn="r" indent="0" marL="0">
              <a:lnSpc>
                <a:spcPct val="130000"/>
              </a:lnSpc>
              <a:buNone/>
            </a:pPr>
            <a:r>
              <a:rPr lang="en-US" sz="1100" b="1" dirty="0">
                <a:solidFill>
                  <a:srgbClr val="24380B"/>
                </a:solidFill>
                <a:latin typeface="Noto Sans KR" pitchFamily="34" charset="0"/>
                <a:ea typeface="Noto Sans KR" pitchFamily="34" charset="-122"/>
                <a:cs typeface="Noto Sans KR" pitchFamily="34" charset="-120"/>
              </a:rPr>
              <a:t>seankookim@uchicago.edu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도그스하이</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도그스하이 (DOGS HIGH) — 엔젤 투자 덱</dc:title>
  <dc:subject>PptxGenJS Presentation</dc:subject>
  <dc:creator>DOGS HIGH</dc:creator>
  <cp:lastModifiedBy>DOGS HIGH</cp:lastModifiedBy>
  <cp:revision>1</cp:revision>
  <dcterms:created xsi:type="dcterms:W3CDTF">2026-08-03T02:03:45Z</dcterms:created>
  <dcterms:modified xsi:type="dcterms:W3CDTF">2026-08-03T02:03:45Z</dcterms:modified>
</cp:coreProperties>
</file>